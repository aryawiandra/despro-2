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Bobot</c:v>
                </c:pt>
              </c:strCache>
            </c:strRef>
          </c:tx>
          <c:spPr>
            <a:solidFill>
              <a:srgbClr val="D9D9D9"/>
            </a:solidFill>
          </c:spPr>
          <c:cat>
            <c:strRef>
              <c:f>Sheet1!$A$2:$A$7</c:f>
              <c:strCache>
                <c:ptCount val="6"/>
                <c:pt idx="0">
                  <c:v>Dokumentasi</c:v>
                </c:pt>
                <c:pt idx="1">
                  <c:v>Pengujian</c:v>
                </c:pt>
                <c:pt idx="2">
                  <c:v>Integrasi</c:v>
                </c:pt>
                <c:pt idx="3">
                  <c:v>Software</c:v>
                </c:pt>
                <c:pt idx="4">
                  <c:v>Hardware</c:v>
                </c:pt>
                <c:pt idx="5">
                  <c:v>Perancangan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25</c:v>
                </c:pt>
                <c:pt idx="4">
                  <c:v>25</c:v>
                </c:pt>
                <c:pt idx="5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Progres</c:v>
                </c:pt>
              </c:strCache>
            </c:strRef>
          </c:tx>
          <c:spPr>
            <a:solidFill>
              <a:srgbClr val="0B2545"/>
            </a:solidFill>
          </c:spPr>
          <c:cat>
            <c:strRef>
              <c:f>Sheet1!$A$2:$A$7</c:f>
              <c:strCache>
                <c:ptCount val="6"/>
                <c:pt idx="0">
                  <c:v>Dokumentasi</c:v>
                </c:pt>
                <c:pt idx="1">
                  <c:v>Pengujian</c:v>
                </c:pt>
                <c:pt idx="2">
                  <c:v>Integrasi</c:v>
                </c:pt>
                <c:pt idx="3">
                  <c:v>Software</c:v>
                </c:pt>
                <c:pt idx="4">
                  <c:v>Hardware</c:v>
                </c:pt>
                <c:pt idx="5">
                  <c:v>Perancangan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7</c:v>
                </c:pt>
                <c:pt idx="3">
                  <c:v>22</c:v>
                </c:pt>
                <c:pt idx="4">
                  <c:v>15</c:v>
                </c:pt>
                <c:pt idx="5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595959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595959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Pembuka: progres Pekan 7 SAFE-EXIT. LED selesai disolder, kode prototipe penuh selesai, uji terbatas 5 jalur karena kabel PSU.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solder LED (tercapai), kode prototipe + scaling (tercapai), uji penuh dengan PSU (belum).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Persentase progres adalah estimasi tim: bobot 20/25/25/15/10/5.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0B2545"/>
                </a:solidFill>
                <a:latin typeface="Georgia"/>
              </a:rPr>
              <a:t>SAFE-EXIT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40280"/>
            <a:ext cx="1097280" cy="3175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95959"/>
                </a:solidFill>
                <a:latin typeface="Arial"/>
              </a:rPr>
              <a:t>Adaptive Fire-Evacuation Path Lighting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Laporan Kemajuan Pekan 7  |  5 – 10 Oktober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9BB0"/>
                </a:solidFill>
                <a:latin typeface="Arial"/>
              </a:rPr>
              <a:t>Desain Proyek Grup Interdisiplin 21  |  Teknik Elektro, Universitas Indonesia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0B2545"/>
                </a:solidFill>
                <a:latin typeface="Georgia"/>
              </a:rPr>
              <a:t>Uji 3 jalur berhasil; LED dan sensor tinggal ditempel pada maket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8229600" cy="15875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681728"/>
            <a:ext cx="8229600" cy="63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A9BB0"/>
                </a:solidFill>
                <a:latin typeface="Arial"/>
              </a:rPr>
              <a:t>Catatan: uji 5 jalur terkendala arus catu dan konektor power supply (PSU), sehingga uji disederhanakan ke 3 jalur.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7548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BB0"/>
                </a:solidFill>
                <a:latin typeface="Arial"/>
              </a:rPr>
              <a:t>SAFE-EXIT  |  Pekan 7     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560320" cy="127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0B2545"/>
                </a:solidFill>
                <a:latin typeface="Georgia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jalur LED strip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595959"/>
                </a:solidFill>
                <a:latin typeface="Arial"/>
              </a:rPr>
              <a:t>selesai disolder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  <a:latin typeface="Arial"/>
              </a:rPr>
              <a:t>TERCAPAI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39" y="1371600"/>
            <a:ext cx="2560320" cy="127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39" y="150876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0B2545"/>
                </a:solidFill>
                <a:latin typeface="Georgia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39" y="23317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kode prototipe penuh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595959"/>
                </a:solidFill>
                <a:latin typeface="Arial"/>
              </a:rPr>
              <a:t>dan scaling 20 jalur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39" y="297180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  <a:latin typeface="Arial"/>
              </a:rPr>
              <a:t>TERCAPAI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79" y="1371600"/>
            <a:ext cx="2560320" cy="127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79" y="150876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0B2545"/>
                </a:solidFill>
                <a:latin typeface="Georgia"/>
              </a:rPr>
              <a:t>3 /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23317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jalur uji berhasil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595959"/>
                </a:solidFill>
                <a:latin typeface="Arial"/>
              </a:rPr>
              <a:t>(18 LED, 3 sensor api)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9" y="297180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  <a:latin typeface="Arial"/>
              </a:rPr>
              <a:t>BERHASIL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20440"/>
            <a:ext cx="8229600" cy="7315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520440"/>
            <a:ext cx="54864" cy="7315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52044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B2545"/>
                </a:solidFill>
                <a:latin typeface="Arial"/>
              </a:rPr>
              <a:t>Berikutnya: tempel di maket Gedung K; uji 20 jalur setelah konektor PSU diperbaiki.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0B2545"/>
                </a:solidFill>
                <a:latin typeface="Georgia"/>
              </a:rPr>
              <a:t>Dijkstra dihitung di sender; receiver hanya menampilkan rute ke 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8229600" cy="15875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681728"/>
            <a:ext cx="8229600" cy="63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A9BB0"/>
                </a:solidFill>
                <a:latin typeface="Arial"/>
              </a:rPr>
              <a:t>Catatan: pengukuran paket ESP-NOW dilakukan pada uji PC, belum pada hardware penuh.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7548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BB0"/>
                </a:solidFill>
                <a:latin typeface="Arial"/>
              </a:rPr>
              <a:t>SAFE-EXIT  |  Pekan 7     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100" b="1">
                <a:solidFill>
                  <a:srgbClr val="0B2545"/>
                </a:solidFill>
                <a:latin typeface="Arial"/>
              </a:rPr>
              <a:t>Sensor api</a:t>
            </a:r>
          </a:p>
          <a:p>
            <a:pPr algn="ctr"/>
            <a:r>
              <a:rPr sz="950" b="0">
                <a:solidFill>
                  <a:srgbClr val="0B2545"/>
                </a:solidFill>
                <a:latin typeface="Arial"/>
              </a:rPr>
              <a:t>(AO, ADC1)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49424" y="1664208"/>
            <a:ext cx="316992" cy="237744"/>
          </a:xfrm>
          <a:prstGeom prst="rightArrow">
            <a:avLst/>
          </a:prstGeom>
          <a:solidFill>
            <a:srgbClr val="8A9B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21280" y="1371600"/>
            <a:ext cx="173736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ESP32 Sender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Dijkstra 20 jalur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413504" y="1664208"/>
            <a:ext cx="316992" cy="237744"/>
          </a:xfrm>
          <a:prstGeom prst="rightArrow">
            <a:avLst/>
          </a:prstGeom>
          <a:solidFill>
            <a:srgbClr val="8A9B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85360" y="137160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54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100" b="1">
                <a:solidFill>
                  <a:srgbClr val="0B2545"/>
                </a:solidFill>
                <a:latin typeface="Arial"/>
              </a:rPr>
              <a:t>ESP-NOW</a:t>
            </a:r>
          </a:p>
          <a:p>
            <a:pPr algn="ctr"/>
            <a:r>
              <a:rPr sz="950" b="0">
                <a:solidFill>
                  <a:srgbClr val="0B2545"/>
                </a:solidFill>
                <a:latin typeface="Arial"/>
              </a:rPr>
              <a:t>kirim saat berubah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577583" y="1664208"/>
            <a:ext cx="316992" cy="237744"/>
          </a:xfrm>
          <a:prstGeom prst="rightArrow">
            <a:avLst/>
          </a:prstGeom>
          <a:solidFill>
            <a:srgbClr val="8A9B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49440" y="1371600"/>
            <a:ext cx="173736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ESP32 Receiver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WS2812B per jalur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2545"/>
                </a:solidFill>
                <a:latin typeface="Arial"/>
              </a:rPr>
              <a:t>Prinsip kerja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88920"/>
            <a:ext cx="8229600" cy="63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2545"/>
                </a:solidFill>
                <a:latin typeface="Arial"/>
              </a:rPr>
              <a:t>Graf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92608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15 simpul / 20 jalur; jalur kena api dibuang, rute dihitung ulang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19272"/>
            <a:ext cx="8229600" cy="63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4290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2545"/>
                </a:solidFill>
                <a:latin typeface="Arial"/>
              </a:rPr>
              <a:t>Sensor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42900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Api bila ADC &lt; 1500, aman lagi bila &gt; 1800 (histeresis anti-kedip)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22191"/>
            <a:ext cx="8229600" cy="63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31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2545"/>
                </a:solidFill>
                <a:latin typeface="Arial"/>
              </a:rPr>
              <a:t>Komunikasi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93192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ESP-NOW hemat: kirim 3x hanya saat ada perubahan; idle 2 menit = 0 paket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25112"/>
            <a:ext cx="8229600" cy="63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0B2545"/>
                </a:solidFill>
                <a:latin typeface="Georgia"/>
              </a:rPr>
              <a:t>Receiver menyajikan tiga status jalur lewat warna dan pola LED yang berbeda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8229600" cy="15875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681728"/>
            <a:ext cx="8229600" cy="63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A9BB0"/>
                </a:solidFill>
                <a:latin typeface="Arial"/>
              </a:rPr>
              <a:t>Catatan: kecerahan 60/255 agar beban tetap di bawah batas USB saat uji.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7548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BB0"/>
                </a:solidFill>
                <a:latin typeface="Arial"/>
              </a:rPr>
              <a:t>SAFE-EXIT  |  Pekan 7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9BB0"/>
                </a:solidFill>
                <a:latin typeface="Arial"/>
              </a:rPr>
              <a:t>Tampilan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280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9BB0"/>
                </a:solidFill>
                <a:latin typeface="Arial"/>
              </a:rPr>
              <a:t>Pola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280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9BB0"/>
                </a:solidFill>
                <a:latin typeface="Arial"/>
              </a:rPr>
              <a:t>Arti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8229600" cy="9525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184708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4672" y="184708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2144" y="184708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99616" y="184708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847088" y="184708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18288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2545"/>
                </a:solidFill>
                <a:latin typeface="Arial"/>
              </a:rPr>
              <a:t>Hijau + kepala terang bergerak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828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Jalur rute tercepat menuju exit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377439"/>
            <a:ext cx="8229600" cy="63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7200" y="2715768"/>
            <a:ext cx="237744" cy="237744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4672" y="2715768"/>
            <a:ext cx="237744" cy="237744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2144" y="2715768"/>
            <a:ext cx="237744" cy="237744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99616" y="2715768"/>
            <a:ext cx="237744" cy="237744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847088" y="2715768"/>
            <a:ext cx="237744" cy="237744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2697479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2545"/>
                </a:solidFill>
                <a:latin typeface="Arial"/>
              </a:rPr>
              <a:t>Merah berkedip 400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69747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Jalur terkena api (dari sensor AO)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246120"/>
            <a:ext cx="8229600" cy="63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7200" y="3584448"/>
            <a:ext cx="237744" cy="237744"/>
          </a:xfrm>
          <a:prstGeom prst="ellipse">
            <a:avLst/>
          </a:prstGeom>
          <a:solidFill>
            <a:srgbClr val="D9D9D9"/>
          </a:solidFill>
          <a:ln w="9525">
            <a:solidFill>
              <a:srgbClr val="8A9B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4672" y="3584448"/>
            <a:ext cx="237744" cy="237744"/>
          </a:xfrm>
          <a:prstGeom prst="ellipse">
            <a:avLst/>
          </a:prstGeom>
          <a:solidFill>
            <a:srgbClr val="D9D9D9"/>
          </a:solidFill>
          <a:ln w="9525">
            <a:solidFill>
              <a:srgbClr val="8A9B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52144" y="3584448"/>
            <a:ext cx="237744" cy="237744"/>
          </a:xfrm>
          <a:prstGeom prst="ellipse">
            <a:avLst/>
          </a:prstGeom>
          <a:solidFill>
            <a:srgbClr val="D9D9D9"/>
          </a:solidFill>
          <a:ln w="9525">
            <a:solidFill>
              <a:srgbClr val="8A9B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99616" y="3584448"/>
            <a:ext cx="237744" cy="237744"/>
          </a:xfrm>
          <a:prstGeom prst="ellipse">
            <a:avLst/>
          </a:prstGeom>
          <a:solidFill>
            <a:srgbClr val="D9D9D9"/>
          </a:solidFill>
          <a:ln w="9525">
            <a:solidFill>
              <a:srgbClr val="8A9B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847088" y="3584448"/>
            <a:ext cx="237744" cy="237744"/>
          </a:xfrm>
          <a:prstGeom prst="ellipse">
            <a:avLst/>
          </a:prstGeom>
          <a:solidFill>
            <a:srgbClr val="D9D9D9"/>
          </a:solidFill>
          <a:ln w="9525">
            <a:solidFill>
              <a:srgbClr val="8A9B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0" y="35661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2545"/>
                </a:solidFill>
                <a:latin typeface="Arial"/>
              </a:rPr>
              <a:t>Mati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566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Jalur aman tetapi bukan rute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114800"/>
            <a:ext cx="8229600" cy="63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0B2545"/>
                </a:solidFill>
                <a:latin typeface="Georgia"/>
              </a:rPr>
              <a:t>Uji 3 jalur berhasil: 18 LED dan 3 sensor api; peta Dijkstra tetap 20 jalur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8229600" cy="15875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681728"/>
            <a:ext cx="8229600" cy="63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A9BB0"/>
                </a:solidFill>
                <a:latin typeface="Arial"/>
              </a:rPr>
              <a:t>Catatan: 18 LED ≈ 0,24 A (perkiraan dari 0,45 A untuk 34 LED). Input api hanya dari sensor AO.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7548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BB0"/>
                </a:solidFill>
                <a:latin typeface="Arial"/>
              </a:rPr>
              <a:t>SAFE-EXIT  |  Pekan 7    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53949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05840"/>
                <a:gridCol w="640080"/>
                <a:gridCol w="1463040"/>
                <a:gridCol w="155448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Jalur</a:t>
                      </a:r>
                    </a:p>
                  </a:txBody>
                  <a:tcPr anchor="ctr" marL="109728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Nama</a:t>
                      </a:r>
                    </a:p>
                  </a:txBody>
                  <a:tcPr anchor="ctr" marL="109728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LED</a:t>
                      </a:r>
                    </a:p>
                  </a:txBody>
                  <a:tcPr anchor="ctr" marL="109728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Pin strip</a:t>
                      </a:r>
                    </a:p>
                  </a:txBody>
                  <a:tcPr anchor="ctr" marL="109728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Pin sensor (AO)</a:t>
                      </a:r>
                    </a:p>
                  </a:txBody>
                  <a:tcPr anchor="ctr" marL="109728"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#3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j2-j3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GPIO 5 (D5)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GPIO 32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#18</a:t>
                      </a:r>
                    </a:p>
                  </a:txBody>
                  <a:tcPr anchor="ctr" marL="10972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j4-e2</a:t>
                      </a:r>
                    </a:p>
                  </a:txBody>
                  <a:tcPr anchor="ctr" marL="10972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 marL="10972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GPIO 13 (D13)</a:t>
                      </a:r>
                    </a:p>
                  </a:txBody>
                  <a:tcPr anchor="ctr" marL="10972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GPIO 33</a:t>
                      </a:r>
                    </a:p>
                  </a:txBody>
                  <a:tcPr anchor="ctr" marL="109728">
                    <a:solidFill>
                      <a:srgbClr val="F2F4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#19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j6-e2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GPIO 14 (D14)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GPIO 34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217920" y="1325880"/>
            <a:ext cx="45720" cy="2011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258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2545"/>
                </a:solidFill>
                <a:latin typeface="Arial"/>
              </a:rPr>
              <a:t>Kenapa 3 jalur?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21945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Uji 5 jalur terkendala: arus catu kurang kuat dan konektor power supply bermasalah.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595959"/>
                </a:solidFill>
                <a:latin typeface="Arial"/>
              </a:rPr>
              <a:t>3 jalur (18 LED) berhasil dari sensor hingga LED; tinggal ditempel di maket.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0B2545"/>
                </a:solidFill>
                <a:latin typeface="Georgia"/>
              </a:rPr>
              <a:t>Sensor api memindai 760–1100 nm pada ±60°, dibaca ADC 12 bit dengan ambang 1500 / 1800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8229600" cy="15875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681728"/>
            <a:ext cx="8229600" cy="63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A9BB0"/>
                </a:solidFill>
                <a:latin typeface="Arial"/>
              </a:rPr>
              <a:t>Catatan: spesifikasi modul adalah tipikal datasheet (flame sensor LM393), bukan hasil ukur. Jarak deteksi aktual diukur di maket.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7548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BB0"/>
                </a:solidFill>
                <a:latin typeface="Arial"/>
              </a:rPr>
              <a:t>SAFE-EXIT  |  Pekan 7    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8229600" cy="314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852160"/>
              </a:tblGrid>
              <a:tr h="3931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 anchor="ctr" marL="109728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Spesifikasi</a:t>
                      </a:r>
                    </a:p>
                  </a:txBody>
                  <a:tcPr anchor="ctr" marL="109728">
                    <a:solidFill>
                      <a:srgbClr val="0B254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2545"/>
                          </a:solidFill>
                          <a:latin typeface="Arial"/>
                        </a:rPr>
                        <a:t>Spektrum / sudut deteksi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±760–1100 nm (IR dekat) / ±60°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2545"/>
                          </a:solidFill>
                          <a:latin typeface="Arial"/>
                        </a:rPr>
                        <a:t>Jarak deteksi (tipikal)</a:t>
                      </a:r>
                    </a:p>
                  </a:txBody>
                  <a:tcPr anchor="ctr" marL="10972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±20 cm (api korek) hingga ±80 cm (api besar); diatur potensiometer</a:t>
                      </a:r>
                    </a:p>
                  </a:txBody>
                  <a:tcPr anchor="ctr" marL="109728">
                    <a:solidFill>
                      <a:srgbClr val="F2F4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2545"/>
                          </a:solidFill>
                          <a:latin typeface="Arial"/>
                        </a:rPr>
                        <a:t>Rentang scan ADC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0–4095 (12 bit), atenuasi 11 dB ≈ 0–3,3 V; nilai turun saat ada api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2545"/>
                          </a:solidFill>
                          <a:latin typeface="Arial"/>
                        </a:rPr>
                        <a:t>Ambang deteksi</a:t>
                      </a:r>
                    </a:p>
                  </a:txBody>
                  <a:tcPr anchor="ctr" marL="10972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Api bila &lt; 1500 (≈1,21 V); aman lagi bila &gt; 1800 (≈1,45 V)</a:t>
                      </a:r>
                    </a:p>
                  </a:txBody>
                  <a:tcPr anchor="ctr" marL="109728">
                    <a:solidFill>
                      <a:srgbClr val="F2F4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2545"/>
                          </a:solidFill>
                          <a:latin typeface="Arial"/>
                        </a:rPr>
                        <a:t>Periode scan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50 ms (20 Hz), rata-rata 8 sampel, konfirmasi 3 scan: deteksi ±150 ms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2545"/>
                          </a:solidFill>
                          <a:latin typeface="Arial"/>
                        </a:rPr>
                        <a:t>Pin AO (ADC1)</a:t>
                      </a:r>
                    </a:p>
                  </a:txBody>
                  <a:tcPr anchor="ctr" marL="10972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GPIO 32, 33, 34 untuk jalur #3, #18, #19; VCC 3,3 V</a:t>
                      </a:r>
                    </a:p>
                  </a:txBody>
                  <a:tcPr anchor="ctr" marL="109728">
                    <a:solidFill>
                      <a:srgbClr val="F2F4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2545"/>
                          </a:solidFill>
                          <a:latin typeface="Arial"/>
                        </a:rPr>
                        <a:t>Jarak deteksi terukur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Arial"/>
                        </a:rPr>
                        <a:t>[isi hasil ukur di maket: … cm]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0B2545"/>
                </a:solidFill>
                <a:latin typeface="Georgia"/>
              </a:rPr>
              <a:t>Kendala catu daya diatasi dengan uji 3 jalur; uji 20 jalur menunggu konektor PSU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8229600" cy="15875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681728"/>
            <a:ext cx="8229600" cy="63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A9BB0"/>
                </a:solidFill>
                <a:latin typeface="Arial"/>
              </a:rPr>
              <a:t>Catatan: deviasi = penyolderan terlambat ±1 pekan; kode sesuai jadwal; uji 20 jalur digeser ke Pekan 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7548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BB0"/>
                </a:solidFill>
                <a:latin typeface="Arial"/>
              </a:rPr>
              <a:t>SAFE-EXIT  |  Pekan 7 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9BB0"/>
                </a:solidFill>
                <a:latin typeface="Arial"/>
              </a:rPr>
              <a:t>Kendala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2801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A9BB0"/>
                </a:solidFill>
                <a:latin typeface="Arial"/>
              </a:rPr>
              <a:t>Solusi / mitigasi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8229600" cy="9525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B2545"/>
                </a:solidFill>
                <a:latin typeface="Arial"/>
              </a:rPr>
              <a:t>Arus catu 5 jalur kurang kuat; konektor PSU bermasalah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69164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Uji disederhanakan ke 3 jalur (18 LED) dan berhasil; perbaiki / ganti konektor PSU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8229600" cy="63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2316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B2545"/>
                </a:solidFill>
                <a:latin typeface="Arial"/>
              </a:rPr>
              <a:t>Sensor api fisik hanya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42316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Input api hanya dari sensor; jalur tanpa sensor dianggap aman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8229600" cy="63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1546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B2545"/>
                </a:solidFill>
                <a:latin typeface="Arial"/>
              </a:rPr>
              <a:t>Kode 20 jalur belum teruji beban penuh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15468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Uji bertahap 5 &gt; 10 &gt; 20; level shifter / 330 Ω bila LED berkedip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94760"/>
            <a:ext cx="8229600" cy="63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977639"/>
            <a:ext cx="8229600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77639"/>
            <a:ext cx="54864" cy="502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977639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B2545"/>
                </a:solidFill>
                <a:latin typeface="Arial"/>
              </a:rPr>
              <a:t>Deviasi: penyolderan terlambat ±1 pekan; kode sesuai jadwal; uji 20 jalur digeser ke Pekan 8.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0B2545"/>
                </a:solidFill>
                <a:latin typeface="Georgia"/>
              </a:rPr>
              <a:t>Progres total 72% (naik dari 54% di Pekan 5); Pekan 8 fokus maket dan uji end-to-end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8229600" cy="15875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681728"/>
            <a:ext cx="8229600" cy="63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A9BB0"/>
                </a:solidFill>
                <a:latin typeface="Arial"/>
              </a:rPr>
              <a:t>Sumber: estimasi tim; bobot 20/25/25/15/10/5 (dalam % dari total proyek).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7548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BB0"/>
                </a:solidFill>
                <a:latin typeface="Arial"/>
              </a:rPr>
              <a:t>SAFE-EXIT  |  Pekan 7      8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280160"/>
          <a:ext cx="484632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0" y="128016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0B2545"/>
                </a:solidFill>
                <a:latin typeface="Georgia"/>
              </a:rPr>
              <a:t>72%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0116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9BB0"/>
                </a:solidFill>
                <a:latin typeface="Arial"/>
              </a:rPr>
              <a:t>progres total (Pekan 5: 54%)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2423160"/>
            <a:ext cx="3017520" cy="9525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25146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2545"/>
                </a:solidFill>
                <a:latin typeface="Arial"/>
              </a:rPr>
              <a:t>Rencana Pekan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83464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000">
                <a:solidFill>
                  <a:srgbClr val="595959"/>
                </a:solidFill>
                <a:latin typeface="Arial"/>
              </a:rPr>
              <a:t>–  Tempel strip + sensor 3 jalur di maket Gedung K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595959"/>
                </a:solidFill>
                <a:latin typeface="Arial"/>
              </a:rPr>
              <a:t>–  Perbaiki konektor PSU, uji 20 jalur 5 V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595959"/>
                </a:solidFill>
                <a:latin typeface="Arial"/>
              </a:rPr>
              <a:t>–  Ukur jarak deteksi, kalibrasi sensor, ukur daya</a:t>
            </a:r>
          </a:p>
          <a:p>
            <a:pPr>
              <a:spcBef>
                <a:spcPts val="700"/>
              </a:spcBef>
            </a:pPr>
            <a:r>
              <a:rPr sz="1000">
                <a:solidFill>
                  <a:srgbClr val="595959"/>
                </a:solidFill>
                <a:latin typeface="Arial"/>
              </a:rPr>
              <a:t>–  Uji end-to-end, relay, DFPlayer, presentasi progres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
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Bobot</c:v>
                </c:pt>
              </c:strCache>
            </c:strRef>
          </c:tx>
          <c:spPr>
            <a:solidFill>
              <a:srgbClr val="D9D9D9"/>
            </a:solidFill>
          </c:spPr>
          <c:cat>
            <c:strRef>
              <c:f>Sheet1!$A$2:$A$7</c:f>
              <c:strCache>
                <c:ptCount val="6"/>
                <c:pt idx="0">
                  <c:v>Dokumentasi</c:v>
                </c:pt>
                <c:pt idx="1">
                  <c:v>Pengujian</c:v>
                </c:pt>
                <c:pt idx="2">
                  <c:v>Integrasi</c:v>
                </c:pt>
                <c:pt idx="3">
                  <c:v>Software</c:v>
                </c:pt>
                <c:pt idx="4">
                  <c:v>Hardware</c:v>
                </c:pt>
                <c:pt idx="5">
                  <c:v>Perancangan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10</c:v>
                </c:pt>
                <c:pt idx="2">
                  <c:v>15</c:v>
                </c:pt>
                <c:pt idx="3">
                  <c:v>25</c:v>
                </c:pt>
                <c:pt idx="4">
                  <c:v>25</c:v>
                </c:pt>
                <c:pt idx="5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Progres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Sheet1!$A$2:$A$7</c:f>
              <c:strCache>
                <c:ptCount val="6"/>
                <c:pt idx="0">
                  <c:v>Dokumentasi</c:v>
                </c:pt>
                <c:pt idx="1">
                  <c:v>Pengujian</c:v>
                </c:pt>
                <c:pt idx="2">
                  <c:v>Integrasi</c:v>
                </c:pt>
                <c:pt idx="3">
                  <c:v>Software</c:v>
                </c:pt>
                <c:pt idx="4">
                  <c:v>Hardware</c:v>
                </c:pt>
                <c:pt idx="5">
                  <c:v>Perancangan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</c:v>
                </c:pt>
                <c:pt idx="1">
                  <c:v>4</c:v>
                </c:pt>
                <c:pt idx="2">
                  <c:v>7</c:v>
                </c:pt>
                <c:pt idx="3">
                  <c:v>22</c:v>
                </c:pt>
                <c:pt idx="4">
                  <c:v>15</c:v>
                </c:pt>
                <c:pt idx="5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595959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txPr>
          <a:bodyPr/>
          <a:lstStyle/>
          <a:p>
            <a:pPr>
              <a:defRPr sz="1000">
                <a:solidFill>
                  <a:srgbClr val="59595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solidFill>
                <a:srgbClr val="595959"/>
              </a:solidFill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Pembuka: progres Pekan 7 SAFE-EXIT. LED selesai disolder, kode prototipe penuh selesai, uji terbatas 5 jalur karena kabel PSU.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Target: solder LED (tercapai), kode prototipe + scaling (tercapai), uji penuh dengan PSU (belum).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Persentase progres adalah estimasi tim: bobot 20/25/25/15/10/5.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SAFE-EXIT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40280"/>
            <a:ext cx="1097280" cy="3175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95959"/>
                </a:solidFill>
                <a:latin typeface="Arial"/>
              </a:rPr>
              <a:t>Adaptive Fire-Evacuation Path Lighting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Laporan Kemajuan Pekan 7  |  5 – 10 Oktober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BB0"/>
                </a:solidFill>
                <a:latin typeface="Arial"/>
              </a:rPr>
              <a:t>Desain Proyek Grup Interdisiplin 21  |  Teknik Elektro, Universitas Indonesia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Dua dari tiga target Pekan 7 tercapai; uji penuh 20 jalur bergeser ke Pekan 8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PSU = power supply 5 V. Jalur teruji dibatasi oleh kabel PSU yang bermasalah.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560320" cy="127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jalur LED strip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595959"/>
                </a:solidFill>
                <a:latin typeface="Arial"/>
              </a:rPr>
              <a:t>selesai disolder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7180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Arial"/>
              </a:rPr>
              <a:t>TERCAPAI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39" y="1371600"/>
            <a:ext cx="2560320" cy="127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39" y="15087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kode prototipe penuh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595959"/>
                </a:solidFill>
                <a:latin typeface="Arial"/>
              </a:rPr>
              <a:t>dan scaling 20 jalur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39" y="297180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Arial"/>
              </a:rPr>
              <a:t>TERCAPAI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371600"/>
            <a:ext cx="2560320" cy="127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150876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5 /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3317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</a:rPr>
              <a:t>jalur teruji</a:t>
            </a:r>
          </a:p>
          <a:p>
            <a:pPr algn="l">
              <a:spcBef>
                <a:spcPts val="500"/>
              </a:spcBef>
            </a:pPr>
            <a:r>
              <a:rPr sz="1200" b="0">
                <a:solidFill>
                  <a:srgbClr val="595959"/>
                </a:solidFill>
                <a:latin typeface="Arial"/>
              </a:rPr>
              <a:t>(kabel PSU bermasalah)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79" y="2971800"/>
            <a:ext cx="2560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1C1C"/>
                </a:solidFill>
                <a:latin typeface="Arial"/>
              </a:rPr>
              <a:t>BELUM TERCAPAI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54864" cy="7315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2044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B2545"/>
                </a:solidFill>
                <a:latin typeface="Arial"/>
              </a:rPr>
              <a:t>Integrasi 20 jalur dengan power supply 5 V tertunda; dikejar awal Pekan 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Dijkstra dihitung di sender; receiver hanya menampilkan rute ke 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pengukuran paket ESP-NOW dilakukan pada uji PC, belum pada hardware penuh.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0B2545"/>
                </a:solidFill>
                <a:latin typeface="Arial"/>
              </a:rPr>
              <a:t>Sensor api</a:t>
            </a:r>
          </a:p>
          <a:p>
            <a:pPr algn="ctr"/>
            <a:r>
              <a:rPr sz="950" b="0">
                <a:solidFill>
                  <a:srgbClr val="0B2545"/>
                </a:solidFill>
                <a:latin typeface="Arial"/>
              </a:rPr>
              <a:t>(AO, ADC1)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249424" y="1664208"/>
            <a:ext cx="316992" cy="237744"/>
          </a:xfrm>
          <a:prstGeom prst="rightArrow">
            <a:avLst/>
          </a:prstGeom>
          <a:solidFill>
            <a:srgbClr val="8A9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21280" y="1371600"/>
            <a:ext cx="1737360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ESP32 Sender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Dijkstra 20 jalur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413504" y="1664208"/>
            <a:ext cx="316992" cy="237744"/>
          </a:xfrm>
          <a:prstGeom prst="rightArrow">
            <a:avLst/>
          </a:prstGeom>
          <a:solidFill>
            <a:srgbClr val="8A9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85360" y="1371600"/>
            <a:ext cx="17373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0B2545"/>
                </a:solidFill>
                <a:latin typeface="Arial"/>
              </a:rPr>
              <a:t>ESP-NOW</a:t>
            </a:r>
          </a:p>
          <a:p>
            <a:pPr algn="ctr"/>
            <a:r>
              <a:rPr sz="950" b="0">
                <a:solidFill>
                  <a:srgbClr val="0B2545"/>
                </a:solidFill>
                <a:latin typeface="Arial"/>
              </a:rPr>
              <a:t>kirim saat berubah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577583" y="1664208"/>
            <a:ext cx="316992" cy="237744"/>
          </a:xfrm>
          <a:prstGeom prst="rightArrow">
            <a:avLst/>
          </a:prstGeom>
          <a:solidFill>
            <a:srgbClr val="8A9B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1371600"/>
            <a:ext cx="1737360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ESP32 Receiver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WS2812B per jalur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Prinsip kerja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78892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Graf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92608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15 simpul / 20 jalur; jalur kena api dibuang, rute dihitung ulang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19272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4290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Sensor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4290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Api bila ADC &lt; 1500, aman lagi bila &gt; 1800 (histeresis anti-kedip)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22191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Komunikasi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93192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ESP-NOW hemat: kirim 3x hanya saat ada perubahan; idle 2 menit = 0 paket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25112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Receiver menyajikan tiga status jalur lewat warna dan pola LED yang berbeda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kecerahan 60/255 agar beban tetap di bawah batas USB saat uji.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Tampilan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280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Pola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280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Arti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8229600" cy="952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7200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04672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52144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99616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47088" y="1847088"/>
            <a:ext cx="237744" cy="23774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0" y="18288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Hijau + kepala terang bergerak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18288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rute tercepat menuju exit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77439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7200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52144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99616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847088" y="2715768"/>
            <a:ext cx="237744" cy="237744"/>
          </a:xfrm>
          <a:prstGeom prst="ellipse">
            <a:avLst/>
          </a:prstGeom>
          <a:solidFill>
            <a:srgbClr val="B71C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269747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Merah berkedip 400 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2697479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terkena api (sensor atau simulasi)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4612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7200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4672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52144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99616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847088" y="3584448"/>
            <a:ext cx="237744" cy="237744"/>
          </a:xfrm>
          <a:prstGeom prst="ellipse">
            <a:avLst/>
          </a:prstGeom>
          <a:solidFill>
            <a:srgbClr val="D9D9D9"/>
          </a:solidFill>
          <a:ln w="9525">
            <a:solidFill>
              <a:srgbClr val="8A9B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566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Mati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0" y="35661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aman tetapi bukan rute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1480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Uji dibatasi 5 jalur fisik; peta Dijkstra tetap 20 jalur dan sisanya disimulasikan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34 LED ≈ 0,45 A (perkiraan). Jalur lain disimulasikan lewat Serial: block j6-j7, clear, reset.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25880"/>
          <a:ext cx="539496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097280"/>
                <a:gridCol w="731520"/>
                <a:gridCol w="1280160"/>
                <a:gridCol w="1554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Jalur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Nama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LED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 strip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 sensor (AO)</a:t>
                      </a:r>
                    </a:p>
                  </a:txBody>
                  <a:tcPr anchor="ctr" marL="109728"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#3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j2-j3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4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32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#11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j7-j9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5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33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#15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j10-j12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13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34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#18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j4-e2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14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35</a:t>
                      </a:r>
                    </a:p>
                  </a:txBody>
                  <a:tcPr anchor="ctr" marL="109728">
                    <a:solidFill>
                      <a:srgbClr val="F2F4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#19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j6-e2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18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595959"/>
                          </a:solidFill>
                          <a:latin typeface="Arial"/>
                        </a:rPr>
                        <a:t>GPIO 36</a:t>
                      </a:r>
                    </a:p>
                  </a:txBody>
                  <a:tcPr anchor="ctr" marL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217920" y="1325880"/>
            <a:ext cx="45720" cy="265176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Kenapa 5 jalur?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Kabel PSU belum bisa dipakai, sehingga power supply 5 V tidak bisa dipakai.</a:t>
            </a:r>
          </a:p>
          <a:p>
            <a:pPr algn="l">
              <a:spcBef>
                <a:spcPts val="500"/>
              </a:spcBef>
            </a:pPr>
            <a:r>
              <a:rPr sz="1100" b="0">
                <a:solidFill>
                  <a:srgbClr val="595959"/>
                </a:solidFill>
                <a:latin typeface="Arial"/>
              </a:rPr>
              <a:t>34 LED cukup dari USB laptop (perkiraan ±0,45 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Tiga kendala sudah punya mitigasi; uji penuh 20 jalur digeser ke Pekan 8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Catatan: deviasi = penyolderan terlambat ±1 pekan; kode sesuai jadwal; uji penuh digeser ke Pekan 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Kendala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2801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8A9BB0"/>
                </a:solidFill>
                <a:latin typeface="Arial"/>
              </a:rPr>
              <a:t>Solusi / mitigasi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554480"/>
            <a:ext cx="8229600" cy="952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Kabel PSU tidak bisa dipakai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691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Uji dialihkan ke 5 jalur via USB; perbaiki / ganti kabel PSU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23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Sensor api fisik hanya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42316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Jalur lain disimulasikan lewat Serial pada peta penuh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1546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B2545"/>
                </a:solidFill>
                <a:latin typeface="Arial"/>
              </a:rPr>
              <a:t>Kode 20 jalur belum teruji beban penuh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15468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</a:rPr>
              <a:t>Uji bertahap 5 &gt; 10 &gt; 20; level shifter / 330 Ω bila LED berkedip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77639"/>
            <a:ext cx="8229600" cy="5029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977639"/>
            <a:ext cx="54864" cy="50292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77639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Deviasi: penyolderan terlambat ±1 pekan; kode sesuai jadwal; uji penuh digeser ke Pekan 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0B2545"/>
                </a:solidFill>
                <a:latin typeface="Georgia"/>
              </a:rPr>
              <a:t>Progres total 72% (naik dari 54% di Pekan 5); Pekan 8 fokus integrasi dan pengujian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24128"/>
            <a:ext cx="8229600" cy="1587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4681728"/>
            <a:ext cx="8229600" cy="63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6583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8A9BB0"/>
                </a:solidFill>
                <a:latin typeface="Arial"/>
              </a:rPr>
              <a:t>Sumber: estimasi tim; bobot 20/25/25/15/10/5 (dalam % dari total proyek).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754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8A9BB0"/>
                </a:solidFill>
                <a:latin typeface="Arial"/>
              </a:rPr>
              <a:t>SAFE-EXIT  |  Pekan 7      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280160"/>
          <a:ext cx="484632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0" y="1280160"/>
            <a:ext cx="3017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0">
                <a:solidFill>
                  <a:srgbClr val="0B2545"/>
                </a:solidFill>
                <a:latin typeface="Georgia"/>
              </a:rPr>
              <a:t>72%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BB0"/>
                </a:solidFill>
                <a:latin typeface="Arial"/>
              </a:rPr>
              <a:t>progres total (Pekan 5: 54%)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2423160"/>
            <a:ext cx="3017520" cy="9525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25146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0B2545"/>
                </a:solidFill>
                <a:latin typeface="Arial"/>
              </a:rPr>
              <a:t>Rencana Pekan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834640"/>
            <a:ext cx="30175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Ganti / perbaiki kabel PSU, uji 20 jalur 5 V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Pasang strip + sensor di maket Gedung K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Kalibrasi sensor, ukur daya, uji end-to-end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595959"/>
                </a:solidFill>
                <a:latin typeface="Arial"/>
              </a:rPr>
              <a:t>–  Relay, DFPlayer, presentasi progres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
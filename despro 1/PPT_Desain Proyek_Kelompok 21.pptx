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Inter"/>
      <p:regular r:id="rId25"/>
      <p:bold r:id="rId26"/>
      <p:italic r:id="rId27"/>
      <p:boldItalic r:id="rId28"/>
    </p:embeddedFont>
    <p:embeddedFont>
      <p:font typeface="Google Sans"/>
      <p:regular r:id="rId29"/>
      <p:bold r:id="rId30"/>
      <p:italic r:id="rId31"/>
      <p:boldItalic r:id="rId32"/>
    </p:embeddedFont>
    <p:embeddedFont>
      <p:font typeface="Helvetica Neue"/>
      <p:regular r:id="rId33"/>
      <p:bold r:id="rId34"/>
      <p:italic r:id="rId35"/>
      <p:boldItalic r:id="rId36"/>
    </p:embeddedFont>
    <p:embeddedFont>
      <p:font typeface="Inter Black"/>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CED307-4028-4AF0-AD7A-AA683F458566}">
  <a:tblStyle styleId="{4CCED307-4028-4AF0-AD7A-AA683F45856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Google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oogleSans-italic.fntdata"/><Relationship Id="rId30" Type="http://schemas.openxmlformats.org/officeDocument/2006/relationships/font" Target="fonts/GoogleSans-bold.fntdata"/><Relationship Id="rId11" Type="http://schemas.openxmlformats.org/officeDocument/2006/relationships/slide" Target="slides/slide5.xml"/><Relationship Id="rId33" Type="http://schemas.openxmlformats.org/officeDocument/2006/relationships/font" Target="fonts/HelveticaNeue-regular.fntdata"/><Relationship Id="rId10" Type="http://schemas.openxmlformats.org/officeDocument/2006/relationships/slide" Target="slides/slide4.xml"/><Relationship Id="rId32" Type="http://schemas.openxmlformats.org/officeDocument/2006/relationships/font" Target="fonts/GoogleSans-boldItalic.fntdata"/><Relationship Id="rId13" Type="http://schemas.openxmlformats.org/officeDocument/2006/relationships/slide" Target="slides/slide7.xml"/><Relationship Id="rId35" Type="http://schemas.openxmlformats.org/officeDocument/2006/relationships/font" Target="fonts/HelveticaNeue-italic.fntdata"/><Relationship Id="rId12" Type="http://schemas.openxmlformats.org/officeDocument/2006/relationships/slide" Target="slides/slide6.xml"/><Relationship Id="rId34" Type="http://schemas.openxmlformats.org/officeDocument/2006/relationships/font" Target="fonts/HelveticaNeue-bold.fntdata"/><Relationship Id="rId15" Type="http://schemas.openxmlformats.org/officeDocument/2006/relationships/slide" Target="slides/slide9.xml"/><Relationship Id="rId37" Type="http://schemas.openxmlformats.org/officeDocument/2006/relationships/font" Target="fonts/InterBlack-bold.fntdata"/><Relationship Id="rId14" Type="http://schemas.openxmlformats.org/officeDocument/2006/relationships/slide" Target="slides/slide8.xml"/><Relationship Id="rId36" Type="http://schemas.openxmlformats.org/officeDocument/2006/relationships/font" Target="fonts/HelveticaNeue-bold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InterBlack-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97099d7c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97099d7c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99139aef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e99139aef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99139aef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99139aef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99139aef8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99139aef8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99139aef8_1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e99139aef8_1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99139aef8_1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99139aef8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99139aef8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99139aef8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3d2b14c6d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e3d2b14c6d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99139aef8_1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e99139aef8_1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97c9fc7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97c9fc7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e9aa9169a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e9aa9169a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e97c9fc77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e97c9fc77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9aa9169a8_3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e9aa9169a8_3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9aa9169a8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e9aa9169a8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e97c9fc77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e97c9fc77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97c9fc77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97c9fc7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e97c9fc77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e97c9fc77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99139ae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e99139ae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9.png"/><Relationship Id="rId10" Type="http://schemas.openxmlformats.org/officeDocument/2006/relationships/image" Target="../media/image17.jpg"/><Relationship Id="rId9" Type="http://schemas.openxmlformats.org/officeDocument/2006/relationships/image" Target="../media/image10.png"/><Relationship Id="rId5" Type="http://schemas.openxmlformats.org/officeDocument/2006/relationships/image" Target="../media/image5.jpg"/><Relationship Id="rId6" Type="http://schemas.openxmlformats.org/officeDocument/2006/relationships/image" Target="../media/image6.png"/><Relationship Id="rId7" Type="http://schemas.openxmlformats.org/officeDocument/2006/relationships/image" Target="../media/image2.jpg"/><Relationship Id="rId8" Type="http://schemas.openxmlformats.org/officeDocument/2006/relationships/image" Target="../media/image2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7.jp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2.png"/><Relationship Id="rId7" Type="http://schemas.openxmlformats.org/officeDocument/2006/relationships/image" Target="../media/image15.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23.png"/><Relationship Id="rId8"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 Id="rId11" Type="http://schemas.openxmlformats.org/officeDocument/2006/relationships/image" Target="../media/image32.png"/><Relationship Id="rId10" Type="http://schemas.openxmlformats.org/officeDocument/2006/relationships/image" Target="../media/image24.png"/><Relationship Id="rId12" Type="http://schemas.openxmlformats.org/officeDocument/2006/relationships/image" Target="../media/image21.png"/><Relationship Id="rId9"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22.png"/><Relationship Id="rId7" Type="http://schemas.openxmlformats.org/officeDocument/2006/relationships/image" Target="../media/image16.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3.png"/><Relationship Id="rId6" Type="http://schemas.openxmlformats.org/officeDocument/2006/relationships/image" Target="../media/image29.png"/><Relationship Id="rId7"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34.png"/><Relationship Id="rId5" Type="http://schemas.openxmlformats.org/officeDocument/2006/relationships/image" Target="../media/image8.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9.png"/><Relationship Id="rId10" Type="http://schemas.openxmlformats.org/officeDocument/2006/relationships/image" Target="../media/image39.png"/><Relationship Id="rId9"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37.png"/><Relationship Id="rId7" Type="http://schemas.openxmlformats.org/officeDocument/2006/relationships/image" Target="../media/image42.png"/><Relationship Id="rId8"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40.png"/><Relationship Id="rId6"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742200"/>
            <a:ext cx="9144000" cy="4401300"/>
          </a:xfrm>
          <a:prstGeom prst="rect">
            <a:avLst/>
          </a:prstGeom>
          <a:gradFill>
            <a:gsLst>
              <a:gs pos="0">
                <a:srgbClr val="04153C"/>
              </a:gs>
              <a:gs pos="50000">
                <a:srgbClr val="3A6D8C"/>
              </a:gs>
              <a:gs pos="100000">
                <a:srgbClr val="AAC3FB"/>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ikin gambar floor proximity emergency escape path marking di gedung perusahaan, gambarnya landscape" id="55" name="Google Shape;55;p13"/>
          <p:cNvPicPr preferRelativeResize="0"/>
          <p:nvPr/>
        </p:nvPicPr>
        <p:blipFill rotWithShape="1">
          <a:blip r:embed="rId3">
            <a:alphaModFix amt="26000"/>
          </a:blip>
          <a:srcRect b="12204" l="0" r="0" t="0"/>
          <a:stretch/>
        </p:blipFill>
        <p:spPr>
          <a:xfrm>
            <a:off x="0" y="740425"/>
            <a:ext cx="9144000" cy="4401520"/>
          </a:xfrm>
          <a:prstGeom prst="rect">
            <a:avLst/>
          </a:prstGeom>
          <a:noFill/>
          <a:ln>
            <a:noFill/>
          </a:ln>
        </p:spPr>
      </p:pic>
      <p:sp>
        <p:nvSpPr>
          <p:cNvPr id="56" name="Google Shape;56;p13"/>
          <p:cNvSpPr txBox="1"/>
          <p:nvPr/>
        </p:nvSpPr>
        <p:spPr>
          <a:xfrm>
            <a:off x="5521573" y="13325"/>
            <a:ext cx="1771800" cy="631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id" sz="1800">
                <a:solidFill>
                  <a:srgbClr val="3A6D8C"/>
                </a:solidFill>
                <a:latin typeface="Google Sans"/>
                <a:ea typeface="Google Sans"/>
                <a:cs typeface="Google Sans"/>
                <a:sym typeface="Google Sans"/>
              </a:rPr>
              <a:t>Desain Proyek </a:t>
            </a:r>
            <a:endParaRPr b="1" sz="1800">
              <a:solidFill>
                <a:srgbClr val="3A6D8C"/>
              </a:solidFill>
              <a:latin typeface="Google Sans"/>
              <a:ea typeface="Google Sans"/>
              <a:cs typeface="Google Sans"/>
              <a:sym typeface="Google Sans"/>
            </a:endParaRPr>
          </a:p>
          <a:p>
            <a:pPr indent="0" lvl="0" marL="0" rtl="0" algn="r">
              <a:spcBef>
                <a:spcPts val="0"/>
              </a:spcBef>
              <a:spcAft>
                <a:spcPts val="0"/>
              </a:spcAft>
              <a:buNone/>
            </a:pPr>
            <a:r>
              <a:rPr i="1" lang="id" sz="1100">
                <a:solidFill>
                  <a:srgbClr val="3A6D8C"/>
                </a:solidFill>
                <a:latin typeface="Google Sans"/>
                <a:ea typeface="Google Sans"/>
                <a:cs typeface="Google Sans"/>
                <a:sym typeface="Google Sans"/>
              </a:rPr>
              <a:t>Grup Interdisiplin 21</a:t>
            </a:r>
            <a:endParaRPr i="1" sz="1100">
              <a:solidFill>
                <a:srgbClr val="3A6D8C"/>
              </a:solidFill>
              <a:latin typeface="Google Sans"/>
              <a:ea typeface="Google Sans"/>
              <a:cs typeface="Google Sans"/>
              <a:sym typeface="Google Sans"/>
            </a:endParaRPr>
          </a:p>
        </p:txBody>
      </p:sp>
      <p:sp>
        <p:nvSpPr>
          <p:cNvPr id="57" name="Google Shape;57;p13"/>
          <p:cNvSpPr txBox="1"/>
          <p:nvPr/>
        </p:nvSpPr>
        <p:spPr>
          <a:xfrm>
            <a:off x="138150" y="1587975"/>
            <a:ext cx="8867700" cy="877200"/>
          </a:xfrm>
          <a:prstGeom prst="rect">
            <a:avLst/>
          </a:prstGeom>
          <a:no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i="1" lang="id" sz="4200">
                <a:solidFill>
                  <a:srgbClr val="FFFFFF"/>
                </a:solidFill>
                <a:latin typeface="Inter Black"/>
                <a:ea typeface="Inter Black"/>
                <a:cs typeface="Inter Black"/>
                <a:sym typeface="Inter Black"/>
              </a:rPr>
              <a:t>SAFE-EXIT</a:t>
            </a:r>
            <a:endParaRPr i="1" sz="4600" u="sng">
              <a:solidFill>
                <a:srgbClr val="FFFFFF"/>
              </a:solidFill>
              <a:latin typeface="Inter Black"/>
              <a:ea typeface="Inter Black"/>
              <a:cs typeface="Inter Black"/>
              <a:sym typeface="Inter Black"/>
            </a:endParaRPr>
          </a:p>
        </p:txBody>
      </p:sp>
      <p:sp>
        <p:nvSpPr>
          <p:cNvPr id="58" name="Google Shape;58;p13"/>
          <p:cNvSpPr/>
          <p:nvPr/>
        </p:nvSpPr>
        <p:spPr>
          <a:xfrm>
            <a:off x="685350" y="2465175"/>
            <a:ext cx="7773300" cy="818400"/>
          </a:xfrm>
          <a:prstGeom prst="roundRect">
            <a:avLst>
              <a:gd fmla="val 12038" name="adj"/>
            </a:avLst>
          </a:prstGeom>
          <a:solidFill>
            <a:srgbClr val="F4FFF4"/>
          </a:solidFill>
          <a:ln>
            <a:noFill/>
          </a:ln>
          <a:effectLst>
            <a:outerShdw blurRad="57150" rotWithShape="0" algn="bl" dir="5400000" dist="19050">
              <a:srgbClr val="1F3567">
                <a:alpha val="50000"/>
              </a:srgbClr>
            </a:outerShdw>
          </a:effectLst>
        </p:spPr>
        <p:txBody>
          <a:bodyPr anchorCtr="0" anchor="ctr" bIns="91425" lIns="91425" spcFirstLastPara="1" rIns="7625" wrap="square" tIns="91425">
            <a:noAutofit/>
          </a:bodyPr>
          <a:lstStyle/>
          <a:p>
            <a:pPr indent="0" lvl="0" marL="0" rtl="0" algn="ctr">
              <a:lnSpc>
                <a:spcPct val="115000"/>
              </a:lnSpc>
              <a:spcBef>
                <a:spcPts val="0"/>
              </a:spcBef>
              <a:spcAft>
                <a:spcPts val="0"/>
              </a:spcAft>
              <a:buNone/>
            </a:pPr>
            <a:r>
              <a:t/>
            </a:r>
            <a:endParaRPr b="1" sz="400">
              <a:solidFill>
                <a:srgbClr val="000000"/>
              </a:solidFill>
              <a:latin typeface="Google Sans"/>
              <a:ea typeface="Google Sans"/>
              <a:cs typeface="Google Sans"/>
              <a:sym typeface="Google Sans"/>
            </a:endParaRPr>
          </a:p>
          <a:p>
            <a:pPr indent="0" lvl="0" marL="0" rtl="0" algn="ctr">
              <a:lnSpc>
                <a:spcPct val="115000"/>
              </a:lnSpc>
              <a:spcBef>
                <a:spcPts val="0"/>
              </a:spcBef>
              <a:spcAft>
                <a:spcPts val="0"/>
              </a:spcAft>
              <a:buNone/>
            </a:pPr>
            <a:r>
              <a:t/>
            </a:r>
            <a:endParaRPr sz="1100">
              <a:solidFill>
                <a:srgbClr val="000000"/>
              </a:solidFill>
              <a:latin typeface="Google Sans"/>
              <a:ea typeface="Google Sans"/>
              <a:cs typeface="Google Sans"/>
              <a:sym typeface="Google Sans"/>
            </a:endParaRPr>
          </a:p>
        </p:txBody>
      </p:sp>
      <p:sp>
        <p:nvSpPr>
          <p:cNvPr id="59" name="Google Shape;59;p13"/>
          <p:cNvSpPr/>
          <p:nvPr/>
        </p:nvSpPr>
        <p:spPr>
          <a:xfrm>
            <a:off x="863775" y="2526774"/>
            <a:ext cx="219600" cy="702300"/>
          </a:xfrm>
          <a:prstGeom prst="rect">
            <a:avLst/>
          </a:prstGeom>
          <a:gradFill>
            <a:gsLst>
              <a:gs pos="0">
                <a:srgbClr val="04153C"/>
              </a:gs>
              <a:gs pos="50000">
                <a:srgbClr val="3A6D8C"/>
              </a:gs>
              <a:gs pos="100000">
                <a:srgbClr val="AAC3FB"/>
              </a:gs>
            </a:gsLst>
            <a:lin ang="5400012" scaled="0"/>
          </a:gradFill>
          <a:ln>
            <a:noFill/>
          </a:ln>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60" name="Google Shape;60;p13"/>
          <p:cNvSpPr/>
          <p:nvPr/>
        </p:nvSpPr>
        <p:spPr>
          <a:xfrm>
            <a:off x="1402888" y="3659788"/>
            <a:ext cx="744000" cy="670200"/>
          </a:xfrm>
          <a:prstGeom prst="ellipse">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txBox="1"/>
          <p:nvPr/>
        </p:nvSpPr>
        <p:spPr>
          <a:xfrm>
            <a:off x="3932100" y="4445575"/>
            <a:ext cx="1279800" cy="3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Kemas Rasyad S </a:t>
            </a:r>
            <a:endParaRPr b="1" sz="1000">
              <a:solidFill>
                <a:schemeClr val="lt1"/>
              </a:solidFill>
              <a:latin typeface="Google Sans"/>
              <a:ea typeface="Google Sans"/>
              <a:cs typeface="Google Sans"/>
              <a:sym typeface="Google Sans"/>
            </a:endParaRPr>
          </a:p>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2306223686 </a:t>
            </a:r>
            <a:endParaRPr b="1" sz="1000">
              <a:solidFill>
                <a:schemeClr val="lt1"/>
              </a:solidFill>
              <a:latin typeface="Google Sans"/>
              <a:ea typeface="Google Sans"/>
              <a:cs typeface="Google Sans"/>
              <a:sym typeface="Google Sans"/>
            </a:endParaRPr>
          </a:p>
        </p:txBody>
      </p:sp>
      <p:sp>
        <p:nvSpPr>
          <p:cNvPr id="62" name="Google Shape;62;p13"/>
          <p:cNvSpPr/>
          <p:nvPr/>
        </p:nvSpPr>
        <p:spPr>
          <a:xfrm>
            <a:off x="1088200" y="2419687"/>
            <a:ext cx="7167000" cy="916500"/>
          </a:xfrm>
          <a:prstGeom prst="roundRect">
            <a:avLst>
              <a:gd fmla="val 12038" name="adj"/>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id" sz="1500">
                <a:solidFill>
                  <a:srgbClr val="1F3567"/>
                </a:solidFill>
                <a:latin typeface="Google Sans"/>
                <a:ea typeface="Google Sans"/>
                <a:cs typeface="Google Sans"/>
                <a:sym typeface="Google Sans"/>
              </a:rPr>
              <a:t>From Idea to Impact: Developing an Adaptive Fire-Evacuation Path Lighting System </a:t>
            </a:r>
            <a:endParaRPr b="1" sz="1500">
              <a:solidFill>
                <a:srgbClr val="1F3567"/>
              </a:solidFill>
              <a:highlight>
                <a:srgbClr val="E7E7FF"/>
              </a:highlight>
              <a:latin typeface="Google Sans"/>
              <a:ea typeface="Google Sans"/>
              <a:cs typeface="Google Sans"/>
              <a:sym typeface="Google Sans"/>
            </a:endParaRPr>
          </a:p>
        </p:txBody>
      </p:sp>
      <p:pic>
        <p:nvPicPr>
          <p:cNvPr id="63" name="Google Shape;63;p13"/>
          <p:cNvPicPr preferRelativeResize="0"/>
          <p:nvPr/>
        </p:nvPicPr>
        <p:blipFill>
          <a:blip r:embed="rId4">
            <a:alphaModFix/>
          </a:blip>
          <a:stretch>
            <a:fillRect/>
          </a:stretch>
        </p:blipFill>
        <p:spPr>
          <a:xfrm>
            <a:off x="-1396350" y="2289475"/>
            <a:ext cx="1317900" cy="2854025"/>
          </a:xfrm>
          <a:prstGeom prst="rect">
            <a:avLst/>
          </a:prstGeom>
          <a:noFill/>
          <a:ln>
            <a:noFill/>
          </a:ln>
        </p:spPr>
      </p:pic>
      <p:sp>
        <p:nvSpPr>
          <p:cNvPr id="64" name="Google Shape;64;p13"/>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3"/>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3"/>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 name="Google Shape;69;p13" title="foto gua duduk di studi.jpeg"/>
          <p:cNvPicPr preferRelativeResize="0"/>
          <p:nvPr/>
        </p:nvPicPr>
        <p:blipFill rotWithShape="1">
          <a:blip r:embed="rId5">
            <a:alphaModFix/>
          </a:blip>
          <a:srcRect b="34608" l="5133" r="5133" t="7255"/>
          <a:stretch/>
        </p:blipFill>
        <p:spPr>
          <a:xfrm>
            <a:off x="6997100" y="3627288"/>
            <a:ext cx="744000" cy="670200"/>
          </a:xfrm>
          <a:prstGeom prst="ellipse">
            <a:avLst/>
          </a:prstGeom>
          <a:noFill/>
          <a:ln>
            <a:noFill/>
          </a:ln>
          <a:effectLst>
            <a:outerShdw blurRad="57150" rotWithShape="0" algn="bl" dir="5400000" dist="19050">
              <a:srgbClr val="000000">
                <a:alpha val="50000"/>
              </a:srgbClr>
            </a:outerShdw>
          </a:effectLst>
        </p:spPr>
      </p:pic>
      <p:sp>
        <p:nvSpPr>
          <p:cNvPr id="70" name="Google Shape;70;p13"/>
          <p:cNvSpPr/>
          <p:nvPr/>
        </p:nvSpPr>
        <p:spPr>
          <a:xfrm>
            <a:off x="2801450" y="3627288"/>
            <a:ext cx="744000" cy="670200"/>
          </a:xfrm>
          <a:prstGeom prst="ellipse">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3"/>
          <p:cNvSpPr/>
          <p:nvPr/>
        </p:nvSpPr>
        <p:spPr>
          <a:xfrm>
            <a:off x="5598550" y="3627288"/>
            <a:ext cx="744000" cy="670200"/>
          </a:xfrm>
          <a:prstGeom prst="ellipse">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3"/>
          <p:cNvSpPr/>
          <p:nvPr/>
        </p:nvSpPr>
        <p:spPr>
          <a:xfrm>
            <a:off x="4146575" y="3627288"/>
            <a:ext cx="744000" cy="670200"/>
          </a:xfrm>
          <a:prstGeom prst="ellipse">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3"/>
          <p:cNvSpPr txBox="1"/>
          <p:nvPr/>
        </p:nvSpPr>
        <p:spPr>
          <a:xfrm>
            <a:off x="1135000" y="4445575"/>
            <a:ext cx="1279800" cy="3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id" sz="1000">
                <a:solidFill>
                  <a:schemeClr val="lt1"/>
                </a:solidFill>
                <a:latin typeface="Google Sans"/>
                <a:ea typeface="Google Sans"/>
                <a:cs typeface="Google Sans"/>
                <a:sym typeface="Google Sans"/>
              </a:rPr>
              <a:t>Fido Wahyu C</a:t>
            </a:r>
            <a:endParaRPr b="1" sz="1000">
              <a:solidFill>
                <a:schemeClr val="lt1"/>
              </a:solidFill>
              <a:latin typeface="Google Sans"/>
              <a:ea typeface="Google Sans"/>
              <a:cs typeface="Google Sans"/>
              <a:sym typeface="Google Sans"/>
            </a:endParaRPr>
          </a:p>
          <a:p>
            <a:pPr indent="0" lvl="0" marL="0" rtl="0" algn="ctr">
              <a:spcBef>
                <a:spcPts val="0"/>
              </a:spcBef>
              <a:spcAft>
                <a:spcPts val="0"/>
              </a:spcAft>
              <a:buClr>
                <a:schemeClr val="dk1"/>
              </a:buClr>
              <a:buSzPts val="1100"/>
              <a:buFont typeface="Arial"/>
              <a:buNone/>
            </a:pPr>
            <a:r>
              <a:rPr b="1" lang="id" sz="1000">
                <a:solidFill>
                  <a:schemeClr val="lt1"/>
                </a:solidFill>
                <a:latin typeface="Google Sans"/>
                <a:ea typeface="Google Sans"/>
                <a:cs typeface="Google Sans"/>
                <a:sym typeface="Google Sans"/>
              </a:rPr>
              <a:t>2306250674 </a:t>
            </a:r>
            <a:endParaRPr b="1" sz="1000">
              <a:solidFill>
                <a:schemeClr val="lt1"/>
              </a:solidFill>
              <a:latin typeface="Google Sans"/>
              <a:ea typeface="Google Sans"/>
              <a:cs typeface="Google Sans"/>
              <a:sym typeface="Google Sans"/>
            </a:endParaRPr>
          </a:p>
        </p:txBody>
      </p:sp>
      <p:sp>
        <p:nvSpPr>
          <p:cNvPr id="74" name="Google Shape;74;p13"/>
          <p:cNvSpPr txBox="1"/>
          <p:nvPr/>
        </p:nvSpPr>
        <p:spPr>
          <a:xfrm>
            <a:off x="2367350" y="4445575"/>
            <a:ext cx="1612200" cy="3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M Arya Wiandra Utomo</a:t>
            </a:r>
            <a:endParaRPr b="1" sz="1000">
              <a:solidFill>
                <a:schemeClr val="lt1"/>
              </a:solidFill>
              <a:latin typeface="Google Sans"/>
              <a:ea typeface="Google Sans"/>
              <a:cs typeface="Google Sans"/>
              <a:sym typeface="Google Sans"/>
            </a:endParaRPr>
          </a:p>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2306250674 </a:t>
            </a:r>
            <a:endParaRPr b="1" sz="1000">
              <a:solidFill>
                <a:schemeClr val="lt1"/>
              </a:solidFill>
              <a:latin typeface="Google Sans"/>
              <a:ea typeface="Google Sans"/>
              <a:cs typeface="Google Sans"/>
              <a:sym typeface="Google Sans"/>
            </a:endParaRPr>
          </a:p>
        </p:txBody>
      </p:sp>
      <p:sp>
        <p:nvSpPr>
          <p:cNvPr id="75" name="Google Shape;75;p13"/>
          <p:cNvSpPr txBox="1"/>
          <p:nvPr/>
        </p:nvSpPr>
        <p:spPr>
          <a:xfrm>
            <a:off x="5271250" y="4445575"/>
            <a:ext cx="1398600" cy="3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Rasendriya Arsanta</a:t>
            </a:r>
            <a:endParaRPr b="1" sz="1000">
              <a:solidFill>
                <a:schemeClr val="lt1"/>
              </a:solidFill>
              <a:latin typeface="Google Sans"/>
              <a:ea typeface="Google Sans"/>
              <a:cs typeface="Google Sans"/>
              <a:sym typeface="Google Sans"/>
            </a:endParaRPr>
          </a:p>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2306211345</a:t>
            </a:r>
            <a:r>
              <a:rPr lang="id" sz="1100">
                <a:solidFill>
                  <a:schemeClr val="lt1"/>
                </a:solidFill>
              </a:rPr>
              <a:t> </a:t>
            </a:r>
            <a:endParaRPr b="1" sz="1000">
              <a:solidFill>
                <a:schemeClr val="lt1"/>
              </a:solidFill>
              <a:latin typeface="Google Sans"/>
              <a:ea typeface="Google Sans"/>
              <a:cs typeface="Google Sans"/>
              <a:sym typeface="Google Sans"/>
            </a:endParaRPr>
          </a:p>
        </p:txBody>
      </p:sp>
      <p:sp>
        <p:nvSpPr>
          <p:cNvPr id="76" name="Google Shape;76;p13"/>
          <p:cNvSpPr txBox="1"/>
          <p:nvPr/>
        </p:nvSpPr>
        <p:spPr>
          <a:xfrm>
            <a:off x="6729200" y="4445575"/>
            <a:ext cx="1279800" cy="3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Satria Pakarti S </a:t>
            </a:r>
            <a:endParaRPr b="1" sz="1000">
              <a:solidFill>
                <a:schemeClr val="lt1"/>
              </a:solidFill>
              <a:latin typeface="Google Sans"/>
              <a:ea typeface="Google Sans"/>
              <a:cs typeface="Google Sans"/>
              <a:sym typeface="Google Sans"/>
            </a:endParaRPr>
          </a:p>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2306222304</a:t>
            </a:r>
            <a:endParaRPr b="1" sz="1000">
              <a:solidFill>
                <a:schemeClr val="lt1"/>
              </a:solidFill>
              <a:latin typeface="Google Sans"/>
              <a:ea typeface="Google Sans"/>
              <a:cs typeface="Google Sans"/>
              <a:sym typeface="Google Sans"/>
            </a:endParaRPr>
          </a:p>
        </p:txBody>
      </p:sp>
      <p:sp>
        <p:nvSpPr>
          <p:cNvPr id="77" name="Google Shape;77;p13"/>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3" title="logo elektro.png"/>
          <p:cNvPicPr preferRelativeResize="0"/>
          <p:nvPr/>
        </p:nvPicPr>
        <p:blipFill>
          <a:blip r:embed="rId6">
            <a:alphaModFix/>
          </a:blip>
          <a:stretch>
            <a:fillRect/>
          </a:stretch>
        </p:blipFill>
        <p:spPr>
          <a:xfrm>
            <a:off x="7293379" y="9898"/>
            <a:ext cx="1514048" cy="638064"/>
          </a:xfrm>
          <a:prstGeom prst="rect">
            <a:avLst/>
          </a:prstGeom>
          <a:noFill/>
          <a:ln>
            <a:noFill/>
          </a:ln>
        </p:spPr>
      </p:pic>
      <p:pic>
        <p:nvPicPr>
          <p:cNvPr id="79" name="Google Shape;79;p13" title="WhatsApp Image 2026-05-12 at 23.26.00.jpeg"/>
          <p:cNvPicPr preferRelativeResize="0"/>
          <p:nvPr/>
        </p:nvPicPr>
        <p:blipFill rotWithShape="1">
          <a:blip r:embed="rId7">
            <a:alphaModFix/>
          </a:blip>
          <a:srcRect b="0" l="6941" r="6941" t="0"/>
          <a:stretch/>
        </p:blipFill>
        <p:spPr>
          <a:xfrm>
            <a:off x="1381900" y="3635200"/>
            <a:ext cx="809100" cy="726900"/>
          </a:xfrm>
          <a:prstGeom prst="ellipse">
            <a:avLst/>
          </a:prstGeom>
          <a:noFill/>
          <a:ln>
            <a:noFill/>
          </a:ln>
          <a:effectLst>
            <a:outerShdw blurRad="57150" rotWithShape="0" algn="bl" dir="5400000" dist="19050">
              <a:srgbClr val="000000">
                <a:alpha val="50000"/>
              </a:srgbClr>
            </a:outerShdw>
          </a:effectLst>
        </p:spPr>
      </p:pic>
      <p:pic>
        <p:nvPicPr>
          <p:cNvPr id="80" name="Google Shape;80;p13" title="Foto(Compressed).jpg"/>
          <p:cNvPicPr preferRelativeResize="0"/>
          <p:nvPr/>
        </p:nvPicPr>
        <p:blipFill rotWithShape="1">
          <a:blip r:embed="rId8">
            <a:alphaModFix/>
          </a:blip>
          <a:srcRect b="42863" l="13309" r="27277" t="22767"/>
          <a:stretch/>
        </p:blipFill>
        <p:spPr>
          <a:xfrm>
            <a:off x="2768896" y="3611250"/>
            <a:ext cx="809100" cy="702300"/>
          </a:xfrm>
          <a:prstGeom prst="ellipse">
            <a:avLst/>
          </a:prstGeom>
          <a:noFill/>
          <a:ln>
            <a:noFill/>
          </a:ln>
          <a:effectLst>
            <a:outerShdw blurRad="57150" rotWithShape="0" algn="bl" dir="5400000" dist="19050">
              <a:srgbClr val="000000">
                <a:alpha val="50000"/>
              </a:srgbClr>
            </a:outerShdw>
          </a:effectLst>
        </p:spPr>
      </p:pic>
      <p:pic>
        <p:nvPicPr>
          <p:cNvPr id="81" name="Google Shape;81;p13"/>
          <p:cNvPicPr preferRelativeResize="0"/>
          <p:nvPr/>
        </p:nvPicPr>
        <p:blipFill rotWithShape="1">
          <a:blip r:embed="rId9">
            <a:alphaModFix/>
          </a:blip>
          <a:srcRect b="28846" l="27724" r="46932" t="49125"/>
          <a:stretch/>
        </p:blipFill>
        <p:spPr>
          <a:xfrm>
            <a:off x="4153018" y="3555600"/>
            <a:ext cx="809100" cy="813600"/>
          </a:xfrm>
          <a:prstGeom prst="ellipse">
            <a:avLst/>
          </a:prstGeom>
          <a:noFill/>
          <a:ln>
            <a:noFill/>
          </a:ln>
          <a:effectLst>
            <a:outerShdw blurRad="57150" rotWithShape="0" algn="bl" dir="5400000" dist="19050">
              <a:srgbClr val="000000">
                <a:alpha val="50000"/>
              </a:srgbClr>
            </a:outerShdw>
          </a:effectLst>
        </p:spPr>
      </p:pic>
      <p:pic>
        <p:nvPicPr>
          <p:cNvPr id="82" name="Google Shape;82;p13"/>
          <p:cNvPicPr preferRelativeResize="0"/>
          <p:nvPr/>
        </p:nvPicPr>
        <p:blipFill rotWithShape="1">
          <a:blip r:embed="rId10">
            <a:alphaModFix/>
          </a:blip>
          <a:srcRect b="0" l="0" r="0" t="0"/>
          <a:stretch/>
        </p:blipFill>
        <p:spPr>
          <a:xfrm>
            <a:off x="5575066" y="3561075"/>
            <a:ext cx="809100" cy="802800"/>
          </a:xfrm>
          <a:prstGeom prst="ellipse">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p:nvPr/>
        </p:nvSpPr>
        <p:spPr>
          <a:xfrm>
            <a:off x="5120700" y="791200"/>
            <a:ext cx="3768300" cy="502200"/>
          </a:xfrm>
          <a:prstGeom prst="roundRect">
            <a:avLst>
              <a:gd fmla="val 16667" name="adj"/>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F3567"/>
              </a:solidFill>
            </a:endParaRPr>
          </a:p>
        </p:txBody>
      </p:sp>
      <p:sp>
        <p:nvSpPr>
          <p:cNvPr id="88" name="Google Shape;88;p14"/>
          <p:cNvSpPr/>
          <p:nvPr/>
        </p:nvSpPr>
        <p:spPr>
          <a:xfrm>
            <a:off x="3543325" y="763700"/>
            <a:ext cx="3084858" cy="554094"/>
          </a:xfrm>
          <a:prstGeom prst="flowChartTerminator">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9" name="Google Shape;89;p14"/>
          <p:cNvSpPr/>
          <p:nvPr/>
        </p:nvSpPr>
        <p:spPr>
          <a:xfrm>
            <a:off x="250350" y="786525"/>
            <a:ext cx="1365984" cy="369306"/>
          </a:xfrm>
          <a:prstGeom prst="flowChartTerminator">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0" name="Google Shape;90;p14"/>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91" name="Google Shape;91;p14"/>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4"/>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4"/>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4"/>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4"/>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4"/>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ABSTRAK</a:t>
            </a:r>
            <a:endParaRPr b="1" i="1" sz="1500">
              <a:solidFill>
                <a:srgbClr val="20124D"/>
              </a:solidFill>
              <a:latin typeface="Inter"/>
              <a:ea typeface="Inter"/>
              <a:cs typeface="Inter"/>
              <a:sym typeface="Inter"/>
            </a:endParaRPr>
          </a:p>
        </p:txBody>
      </p:sp>
      <p:sp>
        <p:nvSpPr>
          <p:cNvPr id="97" name="Google Shape;97;p14"/>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 name="Google Shape;98;p14"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99" name="Google Shape;99;p14"/>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cxnSp>
        <p:nvCxnSpPr>
          <p:cNvPr id="100" name="Google Shape;100;p14"/>
          <p:cNvCxnSpPr/>
          <p:nvPr/>
        </p:nvCxnSpPr>
        <p:spPr>
          <a:xfrm>
            <a:off x="3369025" y="758250"/>
            <a:ext cx="4500" cy="2972400"/>
          </a:xfrm>
          <a:prstGeom prst="straightConnector1">
            <a:avLst/>
          </a:prstGeom>
          <a:noFill/>
          <a:ln cap="flat" cmpd="sng" w="19050">
            <a:solidFill>
              <a:schemeClr val="dk1"/>
            </a:solidFill>
            <a:prstDash val="lgDash"/>
            <a:round/>
            <a:headEnd len="med" w="med" type="none"/>
            <a:tailEnd len="med" w="med" type="none"/>
          </a:ln>
        </p:spPr>
      </p:cxnSp>
      <p:sp>
        <p:nvSpPr>
          <p:cNvPr id="101" name="Google Shape;101;p14"/>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highlight>
                  <a:schemeClr val="lt1"/>
                </a:highlight>
                <a:latin typeface="Inter"/>
                <a:ea typeface="Inter"/>
                <a:cs typeface="Inter"/>
                <a:sym typeface="Inter"/>
              </a:rPr>
              <a:t>Memahami masalah evakuasi dan sistem navigasi adaptif </a:t>
            </a:r>
            <a:endParaRPr b="1" sz="1200">
              <a:solidFill>
                <a:srgbClr val="3A6D8C"/>
              </a:solidFill>
              <a:highlight>
                <a:schemeClr val="lt1"/>
              </a:highlight>
              <a:latin typeface="Inter"/>
              <a:ea typeface="Inter"/>
              <a:cs typeface="Inter"/>
              <a:sym typeface="Inter"/>
            </a:endParaRPr>
          </a:p>
        </p:txBody>
      </p:sp>
      <p:sp>
        <p:nvSpPr>
          <p:cNvPr id="102" name="Google Shape;102;p14"/>
          <p:cNvSpPr/>
          <p:nvPr/>
        </p:nvSpPr>
        <p:spPr>
          <a:xfrm>
            <a:off x="304825" y="822950"/>
            <a:ext cx="364500" cy="295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4"/>
          <p:cNvSpPr/>
          <p:nvPr/>
        </p:nvSpPr>
        <p:spPr>
          <a:xfrm>
            <a:off x="854325" y="786525"/>
            <a:ext cx="2294244" cy="369306"/>
          </a:xfrm>
          <a:prstGeom prst="flowChartTerminator">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4"/>
          <p:cNvSpPr txBox="1"/>
          <p:nvPr/>
        </p:nvSpPr>
        <p:spPr>
          <a:xfrm>
            <a:off x="669325" y="763425"/>
            <a:ext cx="1955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AAC3FB"/>
                </a:solidFill>
                <a:latin typeface="Google Sans"/>
                <a:ea typeface="Google Sans"/>
                <a:cs typeface="Google Sans"/>
                <a:sym typeface="Google Sans"/>
              </a:rPr>
              <a:t>Problem Statement</a:t>
            </a:r>
            <a:endParaRPr b="1" i="1" sz="1500">
              <a:solidFill>
                <a:srgbClr val="AAC3FB"/>
              </a:solidFill>
              <a:latin typeface="Google Sans"/>
              <a:ea typeface="Google Sans"/>
              <a:cs typeface="Google Sans"/>
              <a:sym typeface="Google Sans"/>
            </a:endParaRPr>
          </a:p>
        </p:txBody>
      </p:sp>
      <p:pic>
        <p:nvPicPr>
          <p:cNvPr id="105" name="Google Shape;105;p14"/>
          <p:cNvPicPr preferRelativeResize="0"/>
          <p:nvPr/>
        </p:nvPicPr>
        <p:blipFill>
          <a:blip r:embed="rId5">
            <a:alphaModFix/>
          </a:blip>
          <a:stretch>
            <a:fillRect/>
          </a:stretch>
        </p:blipFill>
        <p:spPr>
          <a:xfrm>
            <a:off x="377274" y="861374"/>
            <a:ext cx="219600" cy="219600"/>
          </a:xfrm>
          <a:prstGeom prst="rect">
            <a:avLst/>
          </a:prstGeom>
          <a:noFill/>
          <a:ln>
            <a:noFill/>
          </a:ln>
        </p:spPr>
      </p:pic>
      <p:sp>
        <p:nvSpPr>
          <p:cNvPr id="106" name="Google Shape;106;p14"/>
          <p:cNvSpPr/>
          <p:nvPr/>
        </p:nvSpPr>
        <p:spPr>
          <a:xfrm>
            <a:off x="173188" y="1248613"/>
            <a:ext cx="3516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a:solidFill>
                  <a:srgbClr val="FFFFFF"/>
                </a:solidFill>
                <a:latin typeface="Inter"/>
                <a:ea typeface="Inter"/>
                <a:cs typeface="Inter"/>
                <a:sym typeface="Inter"/>
              </a:rPr>
              <a:t>1</a:t>
            </a:r>
            <a:endParaRPr b="1">
              <a:solidFill>
                <a:srgbClr val="FFFFFF"/>
              </a:solidFill>
              <a:latin typeface="Inter"/>
              <a:ea typeface="Inter"/>
              <a:cs typeface="Inter"/>
              <a:sym typeface="Inter"/>
            </a:endParaRPr>
          </a:p>
        </p:txBody>
      </p:sp>
      <p:pic>
        <p:nvPicPr>
          <p:cNvPr descr="gambar gedung bagian dalam yang lagi kebakaran penuh api dan penuh asap sampe orang gabisa liat, lalu orang orang dalam gedung lagi evakuasi, buat gambarnya dalam landscape" id="107" name="Google Shape;107;p14"/>
          <p:cNvPicPr preferRelativeResize="0"/>
          <p:nvPr/>
        </p:nvPicPr>
        <p:blipFill>
          <a:blip r:embed="rId6">
            <a:alphaModFix/>
          </a:blip>
          <a:stretch>
            <a:fillRect/>
          </a:stretch>
        </p:blipFill>
        <p:spPr>
          <a:xfrm>
            <a:off x="9337900" y="1027625"/>
            <a:ext cx="1955725" cy="1088644"/>
          </a:xfrm>
          <a:prstGeom prst="rect">
            <a:avLst/>
          </a:prstGeom>
          <a:noFill/>
          <a:ln>
            <a:noFill/>
          </a:ln>
        </p:spPr>
      </p:pic>
      <p:sp>
        <p:nvSpPr>
          <p:cNvPr id="108" name="Google Shape;108;p14"/>
          <p:cNvSpPr txBox="1"/>
          <p:nvPr/>
        </p:nvSpPr>
        <p:spPr>
          <a:xfrm>
            <a:off x="482795" y="1178925"/>
            <a:ext cx="28059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latin typeface="Google Sans"/>
                <a:ea typeface="Google Sans"/>
                <a:cs typeface="Google Sans"/>
                <a:sym typeface="Google Sans"/>
              </a:rPr>
              <a:t>Rambu evakuasi konvensional </a:t>
            </a:r>
            <a:r>
              <a:rPr b="1" lang="id" sz="1100">
                <a:solidFill>
                  <a:srgbClr val="1F3567"/>
                </a:solidFill>
                <a:latin typeface="Google Sans"/>
                <a:ea typeface="Google Sans"/>
                <a:cs typeface="Google Sans"/>
                <a:sym typeface="Google Sans"/>
              </a:rPr>
              <a:t>mudah tertutup asap saat kebakaran</a:t>
            </a:r>
            <a:r>
              <a:rPr lang="id" sz="1100">
                <a:latin typeface="Google Sans"/>
                <a:ea typeface="Google Sans"/>
                <a:cs typeface="Google Sans"/>
                <a:sym typeface="Google Sans"/>
              </a:rPr>
              <a:t>. </a:t>
            </a:r>
            <a:endParaRPr sz="1100">
              <a:latin typeface="Google Sans"/>
              <a:ea typeface="Google Sans"/>
              <a:cs typeface="Google Sans"/>
              <a:sym typeface="Google Sans"/>
            </a:endParaRPr>
          </a:p>
        </p:txBody>
      </p:sp>
      <p:sp>
        <p:nvSpPr>
          <p:cNvPr id="109" name="Google Shape;109;p14"/>
          <p:cNvSpPr txBox="1"/>
          <p:nvPr/>
        </p:nvSpPr>
        <p:spPr>
          <a:xfrm>
            <a:off x="492241" y="1810561"/>
            <a:ext cx="28059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latin typeface="Google Sans"/>
                <a:ea typeface="Google Sans"/>
                <a:cs typeface="Google Sans"/>
                <a:sym typeface="Google Sans"/>
              </a:rPr>
              <a:t>Sistem evakuasi </a:t>
            </a:r>
            <a:r>
              <a:rPr b="1" lang="id" sz="1100">
                <a:solidFill>
                  <a:srgbClr val="1F3567"/>
                </a:solidFill>
                <a:latin typeface="Google Sans"/>
                <a:ea typeface="Google Sans"/>
                <a:cs typeface="Google Sans"/>
                <a:sym typeface="Google Sans"/>
              </a:rPr>
              <a:t>tidak dapat mengubah jalur</a:t>
            </a:r>
            <a:r>
              <a:rPr lang="id" sz="1100">
                <a:latin typeface="Google Sans"/>
                <a:ea typeface="Google Sans"/>
                <a:cs typeface="Google Sans"/>
                <a:sym typeface="Google Sans"/>
              </a:rPr>
              <a:t> ketika rute terblokir. </a:t>
            </a:r>
            <a:endParaRPr sz="1100">
              <a:latin typeface="Google Sans"/>
              <a:ea typeface="Google Sans"/>
              <a:cs typeface="Google Sans"/>
              <a:sym typeface="Google Sans"/>
            </a:endParaRPr>
          </a:p>
        </p:txBody>
      </p:sp>
      <p:sp>
        <p:nvSpPr>
          <p:cNvPr id="110" name="Google Shape;110;p14"/>
          <p:cNvSpPr/>
          <p:nvPr/>
        </p:nvSpPr>
        <p:spPr>
          <a:xfrm>
            <a:off x="173188" y="1874213"/>
            <a:ext cx="3516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a:solidFill>
                  <a:srgbClr val="FFFFFF"/>
                </a:solidFill>
                <a:latin typeface="Inter"/>
                <a:ea typeface="Inter"/>
                <a:cs typeface="Inter"/>
                <a:sym typeface="Inter"/>
              </a:rPr>
              <a:t>2</a:t>
            </a:r>
            <a:endParaRPr b="1">
              <a:solidFill>
                <a:srgbClr val="FFFFFF"/>
              </a:solidFill>
              <a:latin typeface="Inter"/>
              <a:ea typeface="Inter"/>
              <a:cs typeface="Inter"/>
              <a:sym typeface="Inter"/>
            </a:endParaRPr>
          </a:p>
        </p:txBody>
      </p:sp>
      <p:sp>
        <p:nvSpPr>
          <p:cNvPr id="111" name="Google Shape;111;p14"/>
          <p:cNvSpPr/>
          <p:nvPr/>
        </p:nvSpPr>
        <p:spPr>
          <a:xfrm>
            <a:off x="166738" y="2500613"/>
            <a:ext cx="3516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a:solidFill>
                  <a:srgbClr val="FFFFFF"/>
                </a:solidFill>
                <a:latin typeface="Inter"/>
                <a:ea typeface="Inter"/>
                <a:cs typeface="Inter"/>
                <a:sym typeface="Inter"/>
              </a:rPr>
              <a:t>3</a:t>
            </a:r>
            <a:endParaRPr b="1">
              <a:solidFill>
                <a:srgbClr val="FFFFFF"/>
              </a:solidFill>
              <a:latin typeface="Inter"/>
              <a:ea typeface="Inter"/>
              <a:cs typeface="Inter"/>
              <a:sym typeface="Inter"/>
            </a:endParaRPr>
          </a:p>
        </p:txBody>
      </p:sp>
      <p:sp>
        <p:nvSpPr>
          <p:cNvPr id="112" name="Google Shape;112;p14"/>
          <p:cNvSpPr txBox="1"/>
          <p:nvPr/>
        </p:nvSpPr>
        <p:spPr>
          <a:xfrm>
            <a:off x="476763" y="2430925"/>
            <a:ext cx="2805900" cy="52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latin typeface="Google Sans"/>
                <a:ea typeface="Google Sans"/>
                <a:cs typeface="Google Sans"/>
                <a:sym typeface="Google Sans"/>
              </a:rPr>
              <a:t>Kepanikan massal dan visibilitas rendah </a:t>
            </a:r>
            <a:r>
              <a:rPr b="1" lang="id" sz="1100">
                <a:solidFill>
                  <a:srgbClr val="1F3567"/>
                </a:solidFill>
                <a:latin typeface="Google Sans"/>
                <a:ea typeface="Google Sans"/>
                <a:cs typeface="Google Sans"/>
                <a:sym typeface="Google Sans"/>
              </a:rPr>
              <a:t>memperlambat proses penyelamatan.</a:t>
            </a:r>
            <a:r>
              <a:rPr lang="id" sz="1100">
                <a:latin typeface="Google Sans"/>
                <a:ea typeface="Google Sans"/>
                <a:cs typeface="Google Sans"/>
                <a:sym typeface="Google Sans"/>
              </a:rPr>
              <a:t> </a:t>
            </a:r>
            <a:endParaRPr sz="1100">
              <a:latin typeface="Google Sans"/>
              <a:ea typeface="Google Sans"/>
              <a:cs typeface="Google Sans"/>
              <a:sym typeface="Google Sans"/>
            </a:endParaRPr>
          </a:p>
        </p:txBody>
      </p:sp>
      <p:sp>
        <p:nvSpPr>
          <p:cNvPr id="113" name="Google Shape;113;p14"/>
          <p:cNvSpPr txBox="1"/>
          <p:nvPr/>
        </p:nvSpPr>
        <p:spPr>
          <a:xfrm>
            <a:off x="476759" y="3015950"/>
            <a:ext cx="28059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latin typeface="Google Sans"/>
                <a:ea typeface="Google Sans"/>
                <a:cs typeface="Google Sans"/>
                <a:sym typeface="Google Sans"/>
              </a:rPr>
              <a:t>Korban </a:t>
            </a:r>
            <a:r>
              <a:rPr b="1" lang="id" sz="1100">
                <a:solidFill>
                  <a:srgbClr val="1F3567"/>
                </a:solidFill>
                <a:latin typeface="Google Sans"/>
                <a:ea typeface="Google Sans"/>
                <a:cs typeface="Google Sans"/>
                <a:sym typeface="Google Sans"/>
              </a:rPr>
              <a:t>tidak mengetahui</a:t>
            </a:r>
            <a:r>
              <a:rPr lang="id" sz="1100">
                <a:latin typeface="Google Sans"/>
                <a:ea typeface="Google Sans"/>
                <a:cs typeface="Google Sans"/>
                <a:sym typeface="Google Sans"/>
              </a:rPr>
              <a:t> adanya kebakaran dan </a:t>
            </a:r>
            <a:r>
              <a:rPr b="1" lang="id" sz="1100">
                <a:solidFill>
                  <a:srgbClr val="1F3567"/>
                </a:solidFill>
                <a:latin typeface="Google Sans"/>
                <a:ea typeface="Google Sans"/>
                <a:cs typeface="Google Sans"/>
                <a:sym typeface="Google Sans"/>
              </a:rPr>
              <a:t>memperlambat evakuasi.</a:t>
            </a:r>
            <a:endParaRPr sz="1100">
              <a:latin typeface="Google Sans"/>
              <a:ea typeface="Google Sans"/>
              <a:cs typeface="Google Sans"/>
              <a:sym typeface="Google Sans"/>
            </a:endParaRPr>
          </a:p>
        </p:txBody>
      </p:sp>
      <p:sp>
        <p:nvSpPr>
          <p:cNvPr id="114" name="Google Shape;114;p14"/>
          <p:cNvSpPr/>
          <p:nvPr/>
        </p:nvSpPr>
        <p:spPr>
          <a:xfrm>
            <a:off x="166738" y="3126213"/>
            <a:ext cx="3516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a:solidFill>
                  <a:srgbClr val="FFFFFF"/>
                </a:solidFill>
                <a:latin typeface="Inter"/>
                <a:ea typeface="Inter"/>
                <a:cs typeface="Inter"/>
                <a:sym typeface="Inter"/>
              </a:rPr>
              <a:t>4</a:t>
            </a:r>
            <a:endParaRPr b="1">
              <a:solidFill>
                <a:srgbClr val="FFFFFF"/>
              </a:solidFill>
              <a:latin typeface="Inter"/>
              <a:ea typeface="Inter"/>
              <a:cs typeface="Inter"/>
              <a:sym typeface="Inter"/>
            </a:endParaRPr>
          </a:p>
        </p:txBody>
      </p:sp>
      <p:sp>
        <p:nvSpPr>
          <p:cNvPr id="115" name="Google Shape;115;p14"/>
          <p:cNvSpPr/>
          <p:nvPr/>
        </p:nvSpPr>
        <p:spPr>
          <a:xfrm rot="5400000">
            <a:off x="3191663" y="2143050"/>
            <a:ext cx="295500" cy="295500"/>
          </a:xfrm>
          <a:prstGeom prst="ellipse">
            <a:avLst/>
          </a:prstGeom>
          <a:solidFill>
            <a:srgbClr val="04153C"/>
          </a:solidFill>
          <a:ln>
            <a:noFill/>
          </a:ln>
          <a:effectLst>
            <a:outerShdw blurRad="40645" rotWithShape="0" algn="bl" dir="5400000" dist="13548">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p>
        </p:txBody>
      </p:sp>
      <p:sp>
        <p:nvSpPr>
          <p:cNvPr id="116" name="Google Shape;116;p14"/>
          <p:cNvSpPr/>
          <p:nvPr/>
        </p:nvSpPr>
        <p:spPr>
          <a:xfrm rot="5400000">
            <a:off x="3269323" y="2198072"/>
            <a:ext cx="190200" cy="185400"/>
          </a:xfrm>
          <a:prstGeom prst="triangle">
            <a:avLst>
              <a:gd fmla="val 50000" name="adj"/>
            </a:avLst>
          </a:prstGeom>
          <a:solidFill>
            <a:schemeClr val="lt1"/>
          </a:solidFill>
          <a:ln>
            <a:noFill/>
          </a:ln>
          <a:effectLst>
            <a:outerShdw blurRad="13295" rotWithShape="0" algn="bl" dir="5400000" dist="6774">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solidFill>
                <a:schemeClr val="lt1"/>
              </a:solidFill>
            </a:endParaRPr>
          </a:p>
        </p:txBody>
      </p:sp>
      <p:sp>
        <p:nvSpPr>
          <p:cNvPr id="117" name="Google Shape;117;p14"/>
          <p:cNvSpPr txBox="1"/>
          <p:nvPr/>
        </p:nvSpPr>
        <p:spPr>
          <a:xfrm>
            <a:off x="3602323" y="758250"/>
            <a:ext cx="3084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200">
                <a:latin typeface="Google Sans"/>
                <a:ea typeface="Google Sans"/>
                <a:cs typeface="Google Sans"/>
                <a:sym typeface="Google Sans"/>
              </a:rPr>
              <a:t>PERLU SISTEM KEAMANAN</a:t>
            </a:r>
            <a:endParaRPr sz="1200">
              <a:latin typeface="Google Sans"/>
              <a:ea typeface="Google Sans"/>
              <a:cs typeface="Google Sans"/>
              <a:sym typeface="Google Sans"/>
            </a:endParaRPr>
          </a:p>
          <a:p>
            <a:pPr indent="0" lvl="0" marL="0" rtl="0" algn="l">
              <a:spcBef>
                <a:spcPts val="0"/>
              </a:spcBef>
              <a:spcAft>
                <a:spcPts val="0"/>
              </a:spcAft>
              <a:buNone/>
            </a:pPr>
            <a:r>
              <a:rPr b="1" lang="id" sz="1700">
                <a:solidFill>
                  <a:srgbClr val="4B6EBE"/>
                </a:solidFill>
                <a:latin typeface="Google Sans"/>
                <a:ea typeface="Google Sans"/>
                <a:cs typeface="Google Sans"/>
                <a:sym typeface="Google Sans"/>
              </a:rPr>
              <a:t>EFEKTIF, HANDAL, PINTAR</a:t>
            </a:r>
            <a:r>
              <a:rPr b="1" lang="id" sz="1300">
                <a:solidFill>
                  <a:srgbClr val="4B6EBE"/>
                </a:solidFill>
                <a:latin typeface="Google Sans"/>
                <a:ea typeface="Google Sans"/>
                <a:cs typeface="Google Sans"/>
                <a:sym typeface="Google Sans"/>
              </a:rPr>
              <a:t> </a:t>
            </a:r>
            <a:endParaRPr b="1" sz="1300">
              <a:solidFill>
                <a:srgbClr val="4B6EBE"/>
              </a:solidFill>
              <a:latin typeface="Google Sans"/>
              <a:ea typeface="Google Sans"/>
              <a:cs typeface="Google Sans"/>
              <a:sym typeface="Google Sans"/>
            </a:endParaRPr>
          </a:p>
        </p:txBody>
      </p:sp>
      <p:sp>
        <p:nvSpPr>
          <p:cNvPr id="118" name="Google Shape;118;p14"/>
          <p:cNvSpPr txBox="1"/>
          <p:nvPr/>
        </p:nvSpPr>
        <p:spPr>
          <a:xfrm>
            <a:off x="6539300" y="796575"/>
            <a:ext cx="1955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id" sz="2000">
                <a:solidFill>
                  <a:schemeClr val="lt1"/>
                </a:solidFill>
                <a:latin typeface="Inter"/>
                <a:ea typeface="Inter"/>
                <a:cs typeface="Inter"/>
                <a:sym typeface="Inter"/>
              </a:rPr>
              <a:t>SAFE-EXIT</a:t>
            </a:r>
            <a:endParaRPr b="1" i="1" sz="2000">
              <a:solidFill>
                <a:schemeClr val="lt1"/>
              </a:solidFill>
              <a:latin typeface="Inter"/>
              <a:ea typeface="Inter"/>
              <a:cs typeface="Inter"/>
              <a:sym typeface="Inter"/>
            </a:endParaRPr>
          </a:p>
        </p:txBody>
      </p:sp>
      <p:sp>
        <p:nvSpPr>
          <p:cNvPr id="119" name="Google Shape;119;p14"/>
          <p:cNvSpPr/>
          <p:nvPr/>
        </p:nvSpPr>
        <p:spPr>
          <a:xfrm>
            <a:off x="3608750" y="1422225"/>
            <a:ext cx="5286600" cy="7269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0" name="Google Shape;120;p14"/>
          <p:cNvSpPr/>
          <p:nvPr/>
        </p:nvSpPr>
        <p:spPr>
          <a:xfrm>
            <a:off x="3602313" y="1373850"/>
            <a:ext cx="5286600" cy="2526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Apa Itu</a:t>
            </a:r>
            <a:r>
              <a:rPr b="1" i="1" lang="id" sz="1200">
                <a:solidFill>
                  <a:schemeClr val="lt1"/>
                </a:solidFill>
                <a:latin typeface="Inter"/>
                <a:ea typeface="Inter"/>
                <a:cs typeface="Inter"/>
                <a:sym typeface="Inter"/>
              </a:rPr>
              <a:t> SAFE-EXIT??</a:t>
            </a:r>
            <a:endParaRPr sz="1300">
              <a:solidFill>
                <a:schemeClr val="lt1"/>
              </a:solidFill>
              <a:latin typeface="Inter"/>
              <a:ea typeface="Inter"/>
              <a:cs typeface="Inter"/>
              <a:sym typeface="Inter"/>
            </a:endParaRPr>
          </a:p>
        </p:txBody>
      </p:sp>
      <p:sp>
        <p:nvSpPr>
          <p:cNvPr id="121" name="Google Shape;121;p14"/>
          <p:cNvSpPr txBox="1"/>
          <p:nvPr/>
        </p:nvSpPr>
        <p:spPr>
          <a:xfrm>
            <a:off x="3613777" y="1544640"/>
            <a:ext cx="5286600" cy="6042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id" sz="1100">
                <a:solidFill>
                  <a:schemeClr val="dk1"/>
                </a:solidFill>
                <a:latin typeface="Google Sans"/>
                <a:ea typeface="Google Sans"/>
                <a:cs typeface="Google Sans"/>
                <a:sym typeface="Google Sans"/>
              </a:rPr>
              <a:t>SAFE-EXIT</a:t>
            </a:r>
            <a:r>
              <a:rPr lang="id" sz="1100">
                <a:solidFill>
                  <a:schemeClr val="dk1"/>
                </a:solidFill>
                <a:latin typeface="Google Sans"/>
                <a:ea typeface="Google Sans"/>
                <a:cs typeface="Google Sans"/>
                <a:sym typeface="Google Sans"/>
              </a:rPr>
              <a:t> adalah</a:t>
            </a:r>
            <a:r>
              <a:rPr b="1" lang="id" sz="1100">
                <a:solidFill>
                  <a:schemeClr val="dk1"/>
                </a:solidFill>
                <a:latin typeface="Google Sans"/>
                <a:ea typeface="Google Sans"/>
                <a:cs typeface="Google Sans"/>
                <a:sym typeface="Google Sans"/>
              </a:rPr>
              <a:t> sistem navigasi evakuasi lantai cerdas</a:t>
            </a:r>
            <a:r>
              <a:rPr lang="id" sz="1100">
                <a:solidFill>
                  <a:schemeClr val="dk1"/>
                </a:solidFill>
                <a:latin typeface="Google Sans"/>
                <a:ea typeface="Google Sans"/>
                <a:cs typeface="Google Sans"/>
                <a:sym typeface="Google Sans"/>
              </a:rPr>
              <a:t> yang memandu rute aman secara </a:t>
            </a:r>
            <a:r>
              <a:rPr i="1" lang="id" sz="1100">
                <a:solidFill>
                  <a:schemeClr val="dk1"/>
                </a:solidFill>
                <a:latin typeface="Google Sans"/>
                <a:ea typeface="Google Sans"/>
                <a:cs typeface="Google Sans"/>
                <a:sym typeface="Google Sans"/>
              </a:rPr>
              <a:t>real-time</a:t>
            </a:r>
            <a:r>
              <a:rPr lang="id" sz="1100">
                <a:solidFill>
                  <a:schemeClr val="dk1"/>
                </a:solidFill>
                <a:latin typeface="Google Sans"/>
                <a:ea typeface="Google Sans"/>
                <a:cs typeface="Google Sans"/>
                <a:sym typeface="Google Sans"/>
              </a:rPr>
              <a:t> menggunakan </a:t>
            </a:r>
            <a:r>
              <a:rPr b="1" lang="id" sz="1100">
                <a:solidFill>
                  <a:schemeClr val="dk1"/>
                </a:solidFill>
                <a:latin typeface="Google Sans"/>
                <a:ea typeface="Google Sans"/>
                <a:cs typeface="Google Sans"/>
                <a:sym typeface="Google Sans"/>
              </a:rPr>
              <a:t>LED dan instruksi suara. </a:t>
            </a:r>
            <a:endParaRPr b="1" sz="1100">
              <a:latin typeface="Google Sans"/>
              <a:ea typeface="Google Sans"/>
              <a:cs typeface="Google Sans"/>
              <a:sym typeface="Google Sans"/>
            </a:endParaRPr>
          </a:p>
        </p:txBody>
      </p:sp>
      <p:sp>
        <p:nvSpPr>
          <p:cNvPr id="122" name="Google Shape;122;p14"/>
          <p:cNvSpPr/>
          <p:nvPr/>
        </p:nvSpPr>
        <p:spPr>
          <a:xfrm>
            <a:off x="3602313" y="2228838"/>
            <a:ext cx="2579100" cy="219600"/>
          </a:xfrm>
          <a:prstGeom prst="roundRect">
            <a:avLst>
              <a:gd fmla="val 41291" name="adj"/>
            </a:avLst>
          </a:prstGeom>
          <a:gradFill>
            <a:gsLst>
              <a:gs pos="0">
                <a:srgbClr val="1F3567"/>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Tujuan</a:t>
            </a:r>
            <a:endParaRPr sz="1200">
              <a:solidFill>
                <a:schemeClr val="lt1"/>
              </a:solidFill>
              <a:latin typeface="Inter"/>
              <a:ea typeface="Inter"/>
              <a:cs typeface="Inter"/>
              <a:sym typeface="Inter"/>
            </a:endParaRPr>
          </a:p>
        </p:txBody>
      </p:sp>
      <p:sp>
        <p:nvSpPr>
          <p:cNvPr id="123" name="Google Shape;123;p14"/>
          <p:cNvSpPr/>
          <p:nvPr/>
        </p:nvSpPr>
        <p:spPr>
          <a:xfrm>
            <a:off x="6296938" y="2228838"/>
            <a:ext cx="2592000" cy="14772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lt1"/>
              </a:solidFill>
              <a:latin typeface="Google Sans"/>
              <a:ea typeface="Google Sans"/>
              <a:cs typeface="Google Sans"/>
              <a:sym typeface="Google Sans"/>
            </a:endParaRPr>
          </a:p>
        </p:txBody>
      </p:sp>
      <p:sp>
        <p:nvSpPr>
          <p:cNvPr id="124" name="Google Shape;124;p14"/>
          <p:cNvSpPr txBox="1"/>
          <p:nvPr/>
        </p:nvSpPr>
        <p:spPr>
          <a:xfrm>
            <a:off x="3717862" y="2451513"/>
            <a:ext cx="2463600" cy="1146600"/>
          </a:xfrm>
          <a:prstGeom prst="rect">
            <a:avLst/>
          </a:prstGeom>
          <a:noFill/>
          <a:ln>
            <a:noFill/>
          </a:ln>
        </p:spPr>
        <p:txBody>
          <a:bodyPr anchorCtr="0" anchor="t" bIns="91425" lIns="91425" spcFirstLastPara="1" rIns="91425" wrap="square" tIns="91425">
            <a:spAutoFit/>
          </a:bodyPr>
          <a:lstStyle/>
          <a:p>
            <a:pPr indent="-174625" lvl="0" marL="90000" rtl="0" algn="just">
              <a:spcBef>
                <a:spcPts val="0"/>
              </a:spcBef>
              <a:spcAft>
                <a:spcPts val="0"/>
              </a:spcAft>
              <a:buSzPts val="1250"/>
              <a:buFont typeface="Google Sans"/>
              <a:buAutoNum type="arabicPeriod"/>
            </a:pPr>
            <a:r>
              <a:rPr lang="id" sz="1250">
                <a:latin typeface="Google Sans"/>
                <a:ea typeface="Google Sans"/>
                <a:cs typeface="Google Sans"/>
                <a:sym typeface="Google Sans"/>
              </a:rPr>
              <a:t>Sistem evakuasi adaptif berbasis lantai.</a:t>
            </a:r>
            <a:endParaRPr sz="1250">
              <a:latin typeface="Google Sans"/>
              <a:ea typeface="Google Sans"/>
              <a:cs typeface="Google Sans"/>
              <a:sym typeface="Google Sans"/>
            </a:endParaRPr>
          </a:p>
          <a:p>
            <a:pPr indent="-174625" lvl="0" marL="90000" rtl="0" algn="just">
              <a:spcBef>
                <a:spcPts val="0"/>
              </a:spcBef>
              <a:spcAft>
                <a:spcPts val="0"/>
              </a:spcAft>
              <a:buSzPts val="1250"/>
              <a:buFont typeface="Google Sans"/>
              <a:buAutoNum type="arabicPeriod"/>
            </a:pPr>
            <a:r>
              <a:rPr lang="id" sz="1250">
                <a:latin typeface="Google Sans"/>
                <a:ea typeface="Google Sans"/>
                <a:cs typeface="Google Sans"/>
                <a:sym typeface="Google Sans"/>
              </a:rPr>
              <a:t>Mengurangi risiko korban darurat.</a:t>
            </a:r>
            <a:endParaRPr sz="1250">
              <a:latin typeface="Google Sans"/>
              <a:ea typeface="Google Sans"/>
              <a:cs typeface="Google Sans"/>
              <a:sym typeface="Google Sans"/>
            </a:endParaRPr>
          </a:p>
          <a:p>
            <a:pPr indent="-174625" lvl="0" marL="90000" rtl="0" algn="just">
              <a:spcBef>
                <a:spcPts val="0"/>
              </a:spcBef>
              <a:spcAft>
                <a:spcPts val="0"/>
              </a:spcAft>
              <a:buSzPts val="1250"/>
              <a:buFont typeface="Google Sans"/>
              <a:buAutoNum type="arabicPeriod"/>
            </a:pPr>
            <a:r>
              <a:rPr lang="id" sz="1250">
                <a:latin typeface="Google Sans"/>
                <a:ea typeface="Google Sans"/>
                <a:cs typeface="Google Sans"/>
                <a:sym typeface="Google Sans"/>
              </a:rPr>
              <a:t>Jalur evakuasi aman real-time.</a:t>
            </a:r>
            <a:endParaRPr sz="1250">
              <a:latin typeface="Google Sans"/>
              <a:ea typeface="Google Sans"/>
              <a:cs typeface="Google Sans"/>
              <a:sym typeface="Google Sans"/>
            </a:endParaRPr>
          </a:p>
        </p:txBody>
      </p:sp>
      <p:sp>
        <p:nvSpPr>
          <p:cNvPr id="125" name="Google Shape;125;p14"/>
          <p:cNvSpPr txBox="1"/>
          <p:nvPr/>
        </p:nvSpPr>
        <p:spPr>
          <a:xfrm>
            <a:off x="6296929" y="2261813"/>
            <a:ext cx="3705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a:solidFill>
                  <a:srgbClr val="1F3567"/>
                </a:solidFill>
                <a:latin typeface="Inter"/>
                <a:ea typeface="Inter"/>
                <a:cs typeface="Inter"/>
                <a:sym typeface="Inter"/>
              </a:rPr>
              <a:t>S</a:t>
            </a:r>
            <a:endParaRPr b="1">
              <a:solidFill>
                <a:srgbClr val="1F3567"/>
              </a:solidFill>
              <a:latin typeface="Inter"/>
              <a:ea typeface="Inter"/>
              <a:cs typeface="Inter"/>
              <a:sym typeface="Inter"/>
            </a:endParaRPr>
          </a:p>
          <a:p>
            <a:pPr indent="0" lvl="0" marL="0" rtl="0" algn="ctr">
              <a:spcBef>
                <a:spcPts val="0"/>
              </a:spcBef>
              <a:spcAft>
                <a:spcPts val="0"/>
              </a:spcAft>
              <a:buNone/>
            </a:pPr>
            <a:r>
              <a:rPr b="1" lang="id">
                <a:solidFill>
                  <a:srgbClr val="1F3567"/>
                </a:solidFill>
                <a:latin typeface="Inter"/>
                <a:ea typeface="Inter"/>
                <a:cs typeface="Inter"/>
                <a:sym typeface="Inter"/>
              </a:rPr>
              <a:t>O</a:t>
            </a:r>
            <a:endParaRPr b="1">
              <a:solidFill>
                <a:srgbClr val="1F3567"/>
              </a:solidFill>
              <a:latin typeface="Inter"/>
              <a:ea typeface="Inter"/>
              <a:cs typeface="Inter"/>
              <a:sym typeface="Inter"/>
            </a:endParaRPr>
          </a:p>
          <a:p>
            <a:pPr indent="0" lvl="0" marL="0" rtl="0" algn="ctr">
              <a:spcBef>
                <a:spcPts val="0"/>
              </a:spcBef>
              <a:spcAft>
                <a:spcPts val="0"/>
              </a:spcAft>
              <a:buNone/>
            </a:pPr>
            <a:r>
              <a:rPr b="1" lang="id">
                <a:solidFill>
                  <a:srgbClr val="1F3567"/>
                </a:solidFill>
                <a:latin typeface="Inter"/>
                <a:ea typeface="Inter"/>
                <a:cs typeface="Inter"/>
                <a:sym typeface="Inter"/>
              </a:rPr>
              <a:t>L</a:t>
            </a:r>
            <a:endParaRPr b="1">
              <a:solidFill>
                <a:srgbClr val="1F3567"/>
              </a:solidFill>
              <a:latin typeface="Inter"/>
              <a:ea typeface="Inter"/>
              <a:cs typeface="Inter"/>
              <a:sym typeface="Inter"/>
            </a:endParaRPr>
          </a:p>
          <a:p>
            <a:pPr indent="0" lvl="0" marL="0" rtl="0" algn="ctr">
              <a:spcBef>
                <a:spcPts val="0"/>
              </a:spcBef>
              <a:spcAft>
                <a:spcPts val="0"/>
              </a:spcAft>
              <a:buNone/>
            </a:pPr>
            <a:r>
              <a:rPr b="1" lang="id">
                <a:solidFill>
                  <a:srgbClr val="1F3567"/>
                </a:solidFill>
                <a:latin typeface="Inter"/>
                <a:ea typeface="Inter"/>
                <a:cs typeface="Inter"/>
                <a:sym typeface="Inter"/>
              </a:rPr>
              <a:t>U</a:t>
            </a:r>
            <a:endParaRPr b="1">
              <a:solidFill>
                <a:srgbClr val="1F3567"/>
              </a:solidFill>
              <a:latin typeface="Inter"/>
              <a:ea typeface="Inter"/>
              <a:cs typeface="Inter"/>
              <a:sym typeface="Inter"/>
            </a:endParaRPr>
          </a:p>
          <a:p>
            <a:pPr indent="0" lvl="0" marL="0" rtl="0" algn="ctr">
              <a:spcBef>
                <a:spcPts val="0"/>
              </a:spcBef>
              <a:spcAft>
                <a:spcPts val="0"/>
              </a:spcAft>
              <a:buNone/>
            </a:pPr>
            <a:r>
              <a:rPr b="1" lang="id">
                <a:solidFill>
                  <a:srgbClr val="1F3567"/>
                </a:solidFill>
                <a:latin typeface="Inter"/>
                <a:ea typeface="Inter"/>
                <a:cs typeface="Inter"/>
                <a:sym typeface="Inter"/>
              </a:rPr>
              <a:t>S</a:t>
            </a:r>
            <a:endParaRPr b="1">
              <a:solidFill>
                <a:srgbClr val="1F3567"/>
              </a:solidFill>
              <a:latin typeface="Inter"/>
              <a:ea typeface="Inter"/>
              <a:cs typeface="Inter"/>
              <a:sym typeface="Inter"/>
            </a:endParaRPr>
          </a:p>
          <a:p>
            <a:pPr indent="0" lvl="0" marL="0" rtl="0" algn="ctr">
              <a:spcBef>
                <a:spcPts val="0"/>
              </a:spcBef>
              <a:spcAft>
                <a:spcPts val="0"/>
              </a:spcAft>
              <a:buNone/>
            </a:pPr>
            <a:r>
              <a:rPr b="1" lang="id">
                <a:solidFill>
                  <a:srgbClr val="1F3567"/>
                </a:solidFill>
                <a:latin typeface="Inter"/>
                <a:ea typeface="Inter"/>
                <a:cs typeface="Inter"/>
                <a:sym typeface="Inter"/>
              </a:rPr>
              <a:t>I</a:t>
            </a:r>
            <a:endParaRPr b="1">
              <a:solidFill>
                <a:srgbClr val="1F3567"/>
              </a:solidFill>
              <a:latin typeface="Inter"/>
              <a:ea typeface="Inter"/>
              <a:cs typeface="Inter"/>
              <a:sym typeface="Inter"/>
            </a:endParaRPr>
          </a:p>
        </p:txBody>
      </p:sp>
      <p:sp>
        <p:nvSpPr>
          <p:cNvPr id="126" name="Google Shape;126;p14"/>
          <p:cNvSpPr/>
          <p:nvPr/>
        </p:nvSpPr>
        <p:spPr>
          <a:xfrm>
            <a:off x="6689288" y="2334838"/>
            <a:ext cx="2117700" cy="343500"/>
          </a:xfrm>
          <a:prstGeom prst="roundRect">
            <a:avLst>
              <a:gd fmla="val 16667" name="adj"/>
            </a:avLst>
          </a:prstGeom>
          <a:solidFill>
            <a:srgbClr val="537E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lt1"/>
                </a:solidFill>
                <a:latin typeface="Google Sans"/>
                <a:ea typeface="Google Sans"/>
                <a:cs typeface="Google Sans"/>
                <a:sym typeface="Google Sans"/>
              </a:rPr>
              <a:t>Navigasi LED adaptif. </a:t>
            </a:r>
            <a:endParaRPr b="1" sz="1200">
              <a:solidFill>
                <a:schemeClr val="lt1"/>
              </a:solidFill>
              <a:latin typeface="Google Sans"/>
              <a:ea typeface="Google Sans"/>
              <a:cs typeface="Google Sans"/>
              <a:sym typeface="Google Sans"/>
            </a:endParaRPr>
          </a:p>
        </p:txBody>
      </p:sp>
      <p:sp>
        <p:nvSpPr>
          <p:cNvPr id="127" name="Google Shape;127;p14"/>
          <p:cNvSpPr/>
          <p:nvPr/>
        </p:nvSpPr>
        <p:spPr>
          <a:xfrm>
            <a:off x="6689288" y="2828822"/>
            <a:ext cx="2117700" cy="343500"/>
          </a:xfrm>
          <a:prstGeom prst="roundRect">
            <a:avLst>
              <a:gd fmla="val 16667" name="adj"/>
            </a:avLst>
          </a:prstGeom>
          <a:solidFill>
            <a:srgbClr val="537E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lt1"/>
                </a:solidFill>
                <a:latin typeface="Google Sans"/>
                <a:ea typeface="Google Sans"/>
                <a:cs typeface="Google Sans"/>
                <a:sym typeface="Google Sans"/>
              </a:rPr>
              <a:t>Deteksi asap dan api. </a:t>
            </a:r>
            <a:endParaRPr b="1" sz="1200">
              <a:solidFill>
                <a:schemeClr val="lt1"/>
              </a:solidFill>
              <a:latin typeface="Google Sans"/>
              <a:ea typeface="Google Sans"/>
              <a:cs typeface="Google Sans"/>
              <a:sym typeface="Google Sans"/>
            </a:endParaRPr>
          </a:p>
        </p:txBody>
      </p:sp>
      <p:sp>
        <p:nvSpPr>
          <p:cNvPr id="128" name="Google Shape;128;p14"/>
          <p:cNvSpPr/>
          <p:nvPr/>
        </p:nvSpPr>
        <p:spPr>
          <a:xfrm>
            <a:off x="6689288" y="3284872"/>
            <a:ext cx="2117700" cy="343500"/>
          </a:xfrm>
          <a:prstGeom prst="roundRect">
            <a:avLst>
              <a:gd fmla="val 16667" name="adj"/>
            </a:avLst>
          </a:prstGeom>
          <a:solidFill>
            <a:srgbClr val="537E9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lt1"/>
                </a:solidFill>
                <a:latin typeface="Google Sans"/>
                <a:ea typeface="Google Sans"/>
                <a:cs typeface="Google Sans"/>
                <a:sym typeface="Google Sans"/>
              </a:rPr>
              <a:t>Rute otomatis berbasis Dijkstra. </a:t>
            </a:r>
            <a:endParaRPr b="1" sz="1200">
              <a:solidFill>
                <a:schemeClr val="lt1"/>
              </a:solidFill>
              <a:latin typeface="Google Sans"/>
              <a:ea typeface="Google Sans"/>
              <a:cs typeface="Google Sans"/>
              <a:sym typeface="Google Sans"/>
            </a:endParaRPr>
          </a:p>
        </p:txBody>
      </p:sp>
      <p:sp>
        <p:nvSpPr>
          <p:cNvPr id="129" name="Google Shape;129;p14"/>
          <p:cNvSpPr/>
          <p:nvPr/>
        </p:nvSpPr>
        <p:spPr>
          <a:xfrm>
            <a:off x="166750" y="3789625"/>
            <a:ext cx="4968900" cy="2526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Metodologi</a:t>
            </a:r>
            <a:endParaRPr sz="1200">
              <a:solidFill>
                <a:srgbClr val="AAC3FB"/>
              </a:solidFill>
              <a:latin typeface="Inter"/>
              <a:ea typeface="Inter"/>
              <a:cs typeface="Inter"/>
              <a:sym typeface="Inter"/>
            </a:endParaRPr>
          </a:p>
        </p:txBody>
      </p:sp>
      <p:sp>
        <p:nvSpPr>
          <p:cNvPr id="130" name="Google Shape;130;p14"/>
          <p:cNvSpPr/>
          <p:nvPr/>
        </p:nvSpPr>
        <p:spPr>
          <a:xfrm>
            <a:off x="5313953" y="3789625"/>
            <a:ext cx="3575400" cy="2526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Luaran</a:t>
            </a:r>
            <a:endParaRPr sz="1200">
              <a:solidFill>
                <a:srgbClr val="AAC3FB"/>
              </a:solidFill>
              <a:latin typeface="Inter"/>
              <a:ea typeface="Inter"/>
              <a:cs typeface="Inter"/>
              <a:sym typeface="Inter"/>
            </a:endParaRPr>
          </a:p>
        </p:txBody>
      </p:sp>
      <p:sp>
        <p:nvSpPr>
          <p:cNvPr id="131" name="Google Shape;131;p14"/>
          <p:cNvSpPr/>
          <p:nvPr/>
        </p:nvSpPr>
        <p:spPr>
          <a:xfrm>
            <a:off x="203675" y="4181700"/>
            <a:ext cx="1034400" cy="638100"/>
          </a:xfrm>
          <a:prstGeom prst="roundRect">
            <a:avLst>
              <a:gd fmla="val 16667" name="adj"/>
            </a:avLst>
          </a:prstGeom>
          <a:solidFill>
            <a:schemeClr val="lt1"/>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d" sz="1000">
                <a:latin typeface="Google Sans"/>
                <a:ea typeface="Google Sans"/>
                <a:cs typeface="Google Sans"/>
                <a:sym typeface="Google Sans"/>
              </a:rPr>
              <a:t>Integrasi hardware dan software.</a:t>
            </a:r>
            <a:endParaRPr sz="1000">
              <a:latin typeface="Google Sans"/>
              <a:ea typeface="Google Sans"/>
              <a:cs typeface="Google Sans"/>
              <a:sym typeface="Google Sans"/>
            </a:endParaRPr>
          </a:p>
        </p:txBody>
      </p:sp>
      <p:sp>
        <p:nvSpPr>
          <p:cNvPr id="132" name="Google Shape;132;p14"/>
          <p:cNvSpPr/>
          <p:nvPr/>
        </p:nvSpPr>
        <p:spPr>
          <a:xfrm>
            <a:off x="1497477" y="4181700"/>
            <a:ext cx="1034400" cy="638100"/>
          </a:xfrm>
          <a:prstGeom prst="roundRect">
            <a:avLst>
              <a:gd fmla="val 16667" name="adj"/>
            </a:avLst>
          </a:prstGeom>
          <a:solidFill>
            <a:schemeClr val="lt1"/>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d" sz="1000">
                <a:latin typeface="Google Sans"/>
                <a:ea typeface="Google Sans"/>
                <a:cs typeface="Google Sans"/>
                <a:sym typeface="Google Sans"/>
              </a:rPr>
              <a:t>Implementasi ESP32 dan sensor. </a:t>
            </a:r>
            <a:endParaRPr sz="1000">
              <a:latin typeface="Google Sans"/>
              <a:ea typeface="Google Sans"/>
              <a:cs typeface="Google Sans"/>
              <a:sym typeface="Google Sans"/>
            </a:endParaRPr>
          </a:p>
        </p:txBody>
      </p:sp>
      <p:sp>
        <p:nvSpPr>
          <p:cNvPr id="133" name="Google Shape;133;p14"/>
          <p:cNvSpPr/>
          <p:nvPr/>
        </p:nvSpPr>
        <p:spPr>
          <a:xfrm>
            <a:off x="2791279" y="4181700"/>
            <a:ext cx="1034400" cy="638100"/>
          </a:xfrm>
          <a:prstGeom prst="roundRect">
            <a:avLst>
              <a:gd fmla="val 16667" name="adj"/>
            </a:avLst>
          </a:prstGeom>
          <a:solidFill>
            <a:schemeClr val="lt1"/>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d" sz="1000">
                <a:latin typeface="Google Sans"/>
                <a:ea typeface="Google Sans"/>
                <a:cs typeface="Google Sans"/>
                <a:sym typeface="Google Sans"/>
              </a:rPr>
              <a:t>Simulasi evakuasi pada maket. </a:t>
            </a:r>
            <a:endParaRPr sz="1000">
              <a:latin typeface="Google Sans"/>
              <a:ea typeface="Google Sans"/>
              <a:cs typeface="Google Sans"/>
              <a:sym typeface="Google Sans"/>
            </a:endParaRPr>
          </a:p>
        </p:txBody>
      </p:sp>
      <p:sp>
        <p:nvSpPr>
          <p:cNvPr id="134" name="Google Shape;134;p14"/>
          <p:cNvSpPr/>
          <p:nvPr/>
        </p:nvSpPr>
        <p:spPr>
          <a:xfrm>
            <a:off x="4138304" y="4181700"/>
            <a:ext cx="1034400" cy="638100"/>
          </a:xfrm>
          <a:prstGeom prst="roundRect">
            <a:avLst>
              <a:gd fmla="val 16667" name="adj"/>
            </a:avLst>
          </a:prstGeom>
          <a:solidFill>
            <a:schemeClr val="lt1"/>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d" sz="1000">
                <a:latin typeface="Google Sans"/>
                <a:ea typeface="Google Sans"/>
                <a:cs typeface="Google Sans"/>
                <a:sym typeface="Google Sans"/>
              </a:rPr>
              <a:t>Pengujian sistem real-time. </a:t>
            </a:r>
            <a:endParaRPr sz="1000">
              <a:latin typeface="Google Sans"/>
              <a:ea typeface="Google Sans"/>
              <a:cs typeface="Google Sans"/>
              <a:sym typeface="Google Sans"/>
            </a:endParaRPr>
          </a:p>
        </p:txBody>
      </p:sp>
      <p:cxnSp>
        <p:nvCxnSpPr>
          <p:cNvPr id="135" name="Google Shape;135;p14"/>
          <p:cNvCxnSpPr>
            <a:stCxn id="131" idx="3"/>
            <a:endCxn id="132" idx="1"/>
          </p:cNvCxnSpPr>
          <p:nvPr/>
        </p:nvCxnSpPr>
        <p:spPr>
          <a:xfrm>
            <a:off x="1238075" y="4500750"/>
            <a:ext cx="259500" cy="0"/>
          </a:xfrm>
          <a:prstGeom prst="straightConnector1">
            <a:avLst/>
          </a:prstGeom>
          <a:noFill/>
          <a:ln cap="flat" cmpd="sng" w="9525">
            <a:solidFill>
              <a:srgbClr val="04153C"/>
            </a:solidFill>
            <a:prstDash val="solid"/>
            <a:round/>
            <a:headEnd len="med" w="med" type="none"/>
            <a:tailEnd len="med" w="med" type="triangle"/>
          </a:ln>
        </p:spPr>
      </p:cxnSp>
      <p:cxnSp>
        <p:nvCxnSpPr>
          <p:cNvPr id="136" name="Google Shape;136;p14"/>
          <p:cNvCxnSpPr>
            <a:stCxn id="132" idx="3"/>
            <a:endCxn id="133" idx="1"/>
          </p:cNvCxnSpPr>
          <p:nvPr/>
        </p:nvCxnSpPr>
        <p:spPr>
          <a:xfrm>
            <a:off x="2531877" y="4500750"/>
            <a:ext cx="259500" cy="0"/>
          </a:xfrm>
          <a:prstGeom prst="straightConnector1">
            <a:avLst/>
          </a:prstGeom>
          <a:noFill/>
          <a:ln cap="flat" cmpd="sng" w="9525">
            <a:solidFill>
              <a:srgbClr val="04153C"/>
            </a:solidFill>
            <a:prstDash val="solid"/>
            <a:round/>
            <a:headEnd len="med" w="med" type="none"/>
            <a:tailEnd len="med" w="med" type="triangle"/>
          </a:ln>
        </p:spPr>
      </p:cxnSp>
      <p:cxnSp>
        <p:nvCxnSpPr>
          <p:cNvPr id="137" name="Google Shape;137;p14"/>
          <p:cNvCxnSpPr>
            <a:stCxn id="133" idx="3"/>
            <a:endCxn id="134" idx="1"/>
          </p:cNvCxnSpPr>
          <p:nvPr/>
        </p:nvCxnSpPr>
        <p:spPr>
          <a:xfrm>
            <a:off x="3825679" y="4500750"/>
            <a:ext cx="312600" cy="0"/>
          </a:xfrm>
          <a:prstGeom prst="straightConnector1">
            <a:avLst/>
          </a:prstGeom>
          <a:noFill/>
          <a:ln cap="flat" cmpd="sng" w="9525">
            <a:solidFill>
              <a:srgbClr val="04153C"/>
            </a:solidFill>
            <a:prstDash val="solid"/>
            <a:round/>
            <a:headEnd len="med" w="med" type="none"/>
            <a:tailEnd len="med" w="med" type="triangle"/>
          </a:ln>
        </p:spPr>
      </p:cxnSp>
      <p:sp>
        <p:nvSpPr>
          <p:cNvPr id="138" name="Google Shape;138;p14"/>
          <p:cNvSpPr/>
          <p:nvPr/>
        </p:nvSpPr>
        <p:spPr>
          <a:xfrm>
            <a:off x="5378875" y="4155125"/>
            <a:ext cx="3428700" cy="190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latin typeface="Google Sans"/>
                <a:ea typeface="Google Sans"/>
                <a:cs typeface="Google Sans"/>
                <a:sym typeface="Google Sans"/>
              </a:rPr>
              <a:t>Purwarupa SAFE-EXIT skala 1:50. </a:t>
            </a:r>
            <a:endParaRPr b="1" sz="1200">
              <a:latin typeface="Google Sans"/>
              <a:ea typeface="Google Sans"/>
              <a:cs typeface="Google Sans"/>
              <a:sym typeface="Google Sans"/>
            </a:endParaRPr>
          </a:p>
        </p:txBody>
      </p:sp>
      <p:sp>
        <p:nvSpPr>
          <p:cNvPr id="139" name="Google Shape;139;p14"/>
          <p:cNvSpPr/>
          <p:nvPr/>
        </p:nvSpPr>
        <p:spPr>
          <a:xfrm>
            <a:off x="5378875" y="4458225"/>
            <a:ext cx="3428700" cy="190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latin typeface="Google Sans"/>
                <a:ea typeface="Google Sans"/>
                <a:cs typeface="Google Sans"/>
                <a:sym typeface="Google Sans"/>
              </a:rPr>
              <a:t>Sistem evakuasi adaptif real-time. </a:t>
            </a:r>
            <a:endParaRPr b="1" sz="1200">
              <a:latin typeface="Google Sans"/>
              <a:ea typeface="Google Sans"/>
              <a:cs typeface="Google Sans"/>
              <a:sym typeface="Google Sans"/>
            </a:endParaRPr>
          </a:p>
        </p:txBody>
      </p:sp>
      <p:sp>
        <p:nvSpPr>
          <p:cNvPr id="140" name="Google Shape;140;p14"/>
          <p:cNvSpPr/>
          <p:nvPr/>
        </p:nvSpPr>
        <p:spPr>
          <a:xfrm>
            <a:off x="5378875" y="4761325"/>
            <a:ext cx="3428700" cy="190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latin typeface="Google Sans"/>
                <a:ea typeface="Google Sans"/>
                <a:cs typeface="Google Sans"/>
                <a:sym typeface="Google Sans"/>
              </a:rPr>
              <a:t>Navigasi darurat LED dan audio. </a:t>
            </a:r>
            <a:endParaRPr b="1" sz="1200">
              <a:latin typeface="Google Sans"/>
              <a:ea typeface="Google Sans"/>
              <a:cs typeface="Google Sans"/>
              <a:sym typeface="Google Sans"/>
            </a:endParaRPr>
          </a:p>
        </p:txBody>
      </p:sp>
      <p:pic>
        <p:nvPicPr>
          <p:cNvPr id="141" name="Google Shape;141;p14"/>
          <p:cNvPicPr preferRelativeResize="0"/>
          <p:nvPr/>
        </p:nvPicPr>
        <p:blipFill>
          <a:blip r:embed="rId7">
            <a:alphaModFix/>
          </a:blip>
          <a:stretch>
            <a:fillRect/>
          </a:stretch>
        </p:blipFill>
        <p:spPr>
          <a:xfrm rot="989166">
            <a:off x="8391550" y="849847"/>
            <a:ext cx="370500" cy="3704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p:nvPr/>
        </p:nvSpPr>
        <p:spPr>
          <a:xfrm>
            <a:off x="590744" y="4419342"/>
            <a:ext cx="8213400" cy="461700"/>
          </a:xfrm>
          <a:prstGeom prst="roundRect">
            <a:avLst>
              <a:gd fmla="val 16667" name="adj"/>
            </a:avLst>
          </a:prstGeom>
          <a:solidFill>
            <a:schemeClr val="lt1"/>
          </a:solidFill>
          <a:ln cap="flat" cmpd="sng" w="19050">
            <a:solidFill>
              <a:srgbClr val="1F356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pic>
        <p:nvPicPr>
          <p:cNvPr id="147" name="Google Shape;147;p15"/>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148" name="Google Shape;148;p15"/>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5"/>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5"/>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5"/>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5"/>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5"/>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1</a:t>
            </a:r>
            <a:endParaRPr b="1" i="1" sz="1500">
              <a:solidFill>
                <a:srgbClr val="20124D"/>
              </a:solidFill>
              <a:latin typeface="Inter"/>
              <a:ea typeface="Inter"/>
              <a:cs typeface="Inter"/>
              <a:sym typeface="Inter"/>
            </a:endParaRPr>
          </a:p>
        </p:txBody>
      </p:sp>
      <p:sp>
        <p:nvSpPr>
          <p:cNvPr id="154" name="Google Shape;154;p15"/>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5" name="Google Shape;155;p15"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156" name="Google Shape;156;p15"/>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157" name="Google Shape;157;p15"/>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highlight>
                  <a:schemeClr val="lt1"/>
                </a:highlight>
                <a:latin typeface="Inter"/>
                <a:ea typeface="Inter"/>
                <a:cs typeface="Inter"/>
                <a:sym typeface="Inter"/>
              </a:rPr>
              <a:t>Latar belakang dan signifikasi masalah</a:t>
            </a:r>
            <a:endParaRPr b="1" sz="1200">
              <a:solidFill>
                <a:srgbClr val="3A6D8C"/>
              </a:solidFill>
              <a:highlight>
                <a:schemeClr val="lt1"/>
              </a:highlight>
              <a:latin typeface="Inter"/>
              <a:ea typeface="Inter"/>
              <a:cs typeface="Inter"/>
              <a:sym typeface="Inter"/>
            </a:endParaRPr>
          </a:p>
        </p:txBody>
      </p:sp>
      <p:sp>
        <p:nvSpPr>
          <p:cNvPr id="158" name="Google Shape;158;p15"/>
          <p:cNvSpPr/>
          <p:nvPr/>
        </p:nvSpPr>
        <p:spPr>
          <a:xfrm>
            <a:off x="195537" y="1090400"/>
            <a:ext cx="27882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Gedung Terra Drone (Des,2025)</a:t>
            </a:r>
            <a:endParaRPr sz="1300">
              <a:solidFill>
                <a:schemeClr val="lt1"/>
              </a:solidFill>
              <a:latin typeface="Inter"/>
              <a:ea typeface="Inter"/>
              <a:cs typeface="Inter"/>
              <a:sym typeface="Inter"/>
            </a:endParaRPr>
          </a:p>
        </p:txBody>
      </p:sp>
      <p:sp>
        <p:nvSpPr>
          <p:cNvPr id="159" name="Google Shape;159;p15"/>
          <p:cNvSpPr/>
          <p:nvPr/>
        </p:nvSpPr>
        <p:spPr>
          <a:xfrm>
            <a:off x="3110422" y="1090400"/>
            <a:ext cx="27882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Glodok Plaza (Jan,2025)</a:t>
            </a:r>
            <a:endParaRPr sz="1300">
              <a:solidFill>
                <a:schemeClr val="lt1"/>
              </a:solidFill>
              <a:latin typeface="Inter"/>
              <a:ea typeface="Inter"/>
              <a:cs typeface="Inter"/>
              <a:sym typeface="Inter"/>
            </a:endParaRPr>
          </a:p>
        </p:txBody>
      </p:sp>
      <p:sp>
        <p:nvSpPr>
          <p:cNvPr id="160" name="Google Shape;160;p15"/>
          <p:cNvSpPr/>
          <p:nvPr/>
        </p:nvSpPr>
        <p:spPr>
          <a:xfrm>
            <a:off x="6025307" y="1090400"/>
            <a:ext cx="27882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Inul Vizta, Manado (Okt,2015)</a:t>
            </a:r>
            <a:endParaRPr sz="1300">
              <a:solidFill>
                <a:schemeClr val="lt1"/>
              </a:solidFill>
              <a:latin typeface="Inter"/>
              <a:ea typeface="Inter"/>
              <a:cs typeface="Inter"/>
              <a:sym typeface="Inter"/>
            </a:endParaRPr>
          </a:p>
        </p:txBody>
      </p:sp>
      <p:sp>
        <p:nvSpPr>
          <p:cNvPr id="161" name="Google Shape;161;p15"/>
          <p:cNvSpPr txBox="1"/>
          <p:nvPr/>
        </p:nvSpPr>
        <p:spPr>
          <a:xfrm>
            <a:off x="1494300" y="750113"/>
            <a:ext cx="6155400" cy="35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latin typeface="Google Sans"/>
                <a:ea typeface="Google Sans"/>
                <a:cs typeface="Google Sans"/>
                <a:sym typeface="Google Sans"/>
              </a:rPr>
              <a:t>Proyek SAFE-EXIT dilatarbelakangi oleh beberapa kasus kebakaran di gedung/mall di jakarta</a:t>
            </a:r>
            <a:endParaRPr sz="1100">
              <a:latin typeface="Google Sans"/>
              <a:ea typeface="Google Sans"/>
              <a:cs typeface="Google Sans"/>
              <a:sym typeface="Google Sans"/>
            </a:endParaRPr>
          </a:p>
        </p:txBody>
      </p:sp>
      <p:pic>
        <p:nvPicPr>
          <p:cNvPr id="162" name="Google Shape;162;p15"/>
          <p:cNvPicPr preferRelativeResize="0"/>
          <p:nvPr/>
        </p:nvPicPr>
        <p:blipFill>
          <a:blip r:embed="rId5">
            <a:alphaModFix/>
          </a:blip>
          <a:stretch>
            <a:fillRect/>
          </a:stretch>
        </p:blipFill>
        <p:spPr>
          <a:xfrm>
            <a:off x="231313" y="1452375"/>
            <a:ext cx="1192218" cy="999424"/>
          </a:xfrm>
          <a:prstGeom prst="rect">
            <a:avLst/>
          </a:prstGeom>
          <a:noFill/>
          <a:ln cap="flat" cmpd="sng" w="9525">
            <a:solidFill>
              <a:schemeClr val="dk1"/>
            </a:solidFill>
            <a:prstDash val="solid"/>
            <a:round/>
            <a:headEnd len="sm" w="sm" type="none"/>
            <a:tailEnd len="sm" w="sm" type="none"/>
          </a:ln>
        </p:spPr>
      </p:pic>
      <p:pic>
        <p:nvPicPr>
          <p:cNvPr id="163" name="Google Shape;163;p15"/>
          <p:cNvPicPr preferRelativeResize="0"/>
          <p:nvPr/>
        </p:nvPicPr>
        <p:blipFill rotWithShape="1">
          <a:blip r:embed="rId6">
            <a:alphaModFix/>
          </a:blip>
          <a:srcRect b="0" l="12238" r="14173" t="20471"/>
          <a:stretch/>
        </p:blipFill>
        <p:spPr>
          <a:xfrm>
            <a:off x="3110411" y="1452375"/>
            <a:ext cx="1387200" cy="999420"/>
          </a:xfrm>
          <a:prstGeom prst="rect">
            <a:avLst/>
          </a:prstGeom>
          <a:noFill/>
          <a:ln cap="flat" cmpd="sng" w="9525">
            <a:solidFill>
              <a:schemeClr val="dk1"/>
            </a:solidFill>
            <a:prstDash val="solid"/>
            <a:round/>
            <a:headEnd len="sm" w="sm" type="none"/>
            <a:tailEnd len="sm" w="sm" type="none"/>
          </a:ln>
        </p:spPr>
      </p:pic>
      <p:pic>
        <p:nvPicPr>
          <p:cNvPr id="164" name="Google Shape;164;p15"/>
          <p:cNvPicPr preferRelativeResize="0"/>
          <p:nvPr/>
        </p:nvPicPr>
        <p:blipFill>
          <a:blip r:embed="rId7">
            <a:alphaModFix/>
          </a:blip>
          <a:stretch>
            <a:fillRect/>
          </a:stretch>
        </p:blipFill>
        <p:spPr>
          <a:xfrm>
            <a:off x="6025313" y="1418276"/>
            <a:ext cx="1514050" cy="1071661"/>
          </a:xfrm>
          <a:prstGeom prst="rect">
            <a:avLst/>
          </a:prstGeom>
          <a:noFill/>
          <a:ln cap="flat" cmpd="sng" w="9525">
            <a:solidFill>
              <a:schemeClr val="dk1"/>
            </a:solidFill>
            <a:prstDash val="solid"/>
            <a:round/>
            <a:headEnd len="sm" w="sm" type="none"/>
            <a:tailEnd len="sm" w="sm" type="none"/>
          </a:ln>
        </p:spPr>
      </p:pic>
      <p:sp>
        <p:nvSpPr>
          <p:cNvPr id="165" name="Google Shape;165;p15"/>
          <p:cNvSpPr txBox="1"/>
          <p:nvPr/>
        </p:nvSpPr>
        <p:spPr>
          <a:xfrm>
            <a:off x="1530113" y="1452375"/>
            <a:ext cx="1387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a:solidFill>
                  <a:srgbClr val="1F3567"/>
                </a:solidFill>
                <a:latin typeface="Inter"/>
                <a:ea typeface="Inter"/>
                <a:cs typeface="Inter"/>
                <a:sym typeface="Inter"/>
              </a:rPr>
              <a:t>A</a:t>
            </a:r>
            <a:r>
              <a:rPr b="1" lang="id">
                <a:solidFill>
                  <a:srgbClr val="1F3567"/>
                </a:solidFill>
                <a:latin typeface="Inter"/>
                <a:ea typeface="Inter"/>
                <a:cs typeface="Inter"/>
                <a:sym typeface="Inter"/>
              </a:rPr>
              <a:t>sap pekat, rambu langit-langit tidak terlihat. </a:t>
            </a:r>
            <a:endParaRPr b="1">
              <a:solidFill>
                <a:srgbClr val="1F3567"/>
              </a:solidFill>
              <a:latin typeface="Inter"/>
              <a:ea typeface="Inter"/>
              <a:cs typeface="Inter"/>
              <a:sym typeface="Inter"/>
            </a:endParaRPr>
          </a:p>
        </p:txBody>
      </p:sp>
      <p:sp>
        <p:nvSpPr>
          <p:cNvPr id="166" name="Google Shape;166;p15"/>
          <p:cNvSpPr txBox="1"/>
          <p:nvPr/>
        </p:nvSpPr>
        <p:spPr>
          <a:xfrm>
            <a:off x="4578113" y="1452375"/>
            <a:ext cx="13179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rgbClr val="1F3567"/>
                </a:solidFill>
                <a:latin typeface="Inter"/>
                <a:ea typeface="Inter"/>
                <a:cs typeface="Inter"/>
                <a:sym typeface="Inter"/>
              </a:rPr>
              <a:t>korban kesulitan dan tidak tahu arah jalan keluar karena asap tebal</a:t>
            </a:r>
            <a:r>
              <a:rPr b="1" lang="id" sz="1100">
                <a:solidFill>
                  <a:srgbClr val="1F3567"/>
                </a:solidFill>
                <a:latin typeface="Inter"/>
                <a:ea typeface="Inter"/>
                <a:cs typeface="Inter"/>
                <a:sym typeface="Inter"/>
              </a:rPr>
              <a:t> </a:t>
            </a:r>
            <a:endParaRPr b="1" sz="1100">
              <a:solidFill>
                <a:srgbClr val="1F3567"/>
              </a:solidFill>
              <a:latin typeface="Inter"/>
              <a:ea typeface="Inter"/>
              <a:cs typeface="Inter"/>
              <a:sym typeface="Inter"/>
            </a:endParaRPr>
          </a:p>
        </p:txBody>
      </p:sp>
      <p:sp>
        <p:nvSpPr>
          <p:cNvPr id="167" name="Google Shape;167;p15"/>
          <p:cNvSpPr txBox="1"/>
          <p:nvPr/>
        </p:nvSpPr>
        <p:spPr>
          <a:xfrm>
            <a:off x="7668663" y="1418275"/>
            <a:ext cx="12798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100">
                <a:solidFill>
                  <a:srgbClr val="1F3567"/>
                </a:solidFill>
                <a:latin typeface="Inter"/>
                <a:ea typeface="Inter"/>
                <a:cs typeface="Inter"/>
                <a:sym typeface="Inter"/>
              </a:rPr>
              <a:t>Korban tidak sadar kebakaran, evakuasi telat dan akses terhalang</a:t>
            </a:r>
            <a:endParaRPr b="1" i="1">
              <a:solidFill>
                <a:srgbClr val="1F3567"/>
              </a:solidFill>
              <a:latin typeface="Inter"/>
              <a:ea typeface="Inter"/>
              <a:cs typeface="Inter"/>
              <a:sym typeface="Inter"/>
            </a:endParaRPr>
          </a:p>
        </p:txBody>
      </p:sp>
      <p:sp>
        <p:nvSpPr>
          <p:cNvPr id="168" name="Google Shape;168;p15"/>
          <p:cNvSpPr txBox="1"/>
          <p:nvPr/>
        </p:nvSpPr>
        <p:spPr>
          <a:xfrm>
            <a:off x="231324" y="2695775"/>
            <a:ext cx="3096000" cy="1057800"/>
          </a:xfrm>
          <a:prstGeom prst="rect">
            <a:avLst/>
          </a:prstGeom>
          <a:noFill/>
          <a:ln>
            <a:noFill/>
          </a:ln>
        </p:spPr>
        <p:txBody>
          <a:bodyPr anchorCtr="0" anchor="t" bIns="97350" lIns="97350" spcFirstLastPara="1" rIns="97350" wrap="square" tIns="97350">
            <a:spAutoFit/>
          </a:bodyPr>
          <a:lstStyle/>
          <a:p>
            <a:pPr indent="0" lvl="0" marL="0" rtl="0" algn="just">
              <a:spcBef>
                <a:spcPts val="0"/>
              </a:spcBef>
              <a:spcAft>
                <a:spcPts val="0"/>
              </a:spcAft>
              <a:buNone/>
            </a:pPr>
            <a:r>
              <a:rPr b="1" lang="id" sz="5594">
                <a:solidFill>
                  <a:srgbClr val="1F3567"/>
                </a:solidFill>
                <a:latin typeface="Inter"/>
                <a:ea typeface="Inter"/>
                <a:cs typeface="Inter"/>
                <a:sym typeface="Inter"/>
              </a:rPr>
              <a:t>90%</a:t>
            </a:r>
            <a:endParaRPr b="1" sz="5594">
              <a:solidFill>
                <a:srgbClr val="1F3567"/>
              </a:solidFill>
              <a:latin typeface="Inter"/>
              <a:ea typeface="Inter"/>
              <a:cs typeface="Inter"/>
              <a:sym typeface="Inter"/>
            </a:endParaRPr>
          </a:p>
        </p:txBody>
      </p:sp>
      <p:sp>
        <p:nvSpPr>
          <p:cNvPr id="169" name="Google Shape;169;p15"/>
          <p:cNvSpPr txBox="1"/>
          <p:nvPr/>
        </p:nvSpPr>
        <p:spPr>
          <a:xfrm>
            <a:off x="295575" y="3753575"/>
            <a:ext cx="3667500" cy="390300"/>
          </a:xfrm>
          <a:prstGeom prst="rect">
            <a:avLst/>
          </a:prstGeom>
          <a:noFill/>
          <a:ln>
            <a:noFill/>
          </a:ln>
        </p:spPr>
        <p:txBody>
          <a:bodyPr anchorCtr="0" anchor="t" bIns="97350" lIns="97350" spcFirstLastPara="1" rIns="97350" wrap="square" tIns="97350">
            <a:spAutoFit/>
          </a:bodyPr>
          <a:lstStyle/>
          <a:p>
            <a:pPr indent="0" lvl="0" marL="0" rtl="0" algn="l">
              <a:spcBef>
                <a:spcPts val="0"/>
              </a:spcBef>
              <a:spcAft>
                <a:spcPts val="0"/>
              </a:spcAft>
              <a:buNone/>
            </a:pPr>
            <a:r>
              <a:rPr lang="id" sz="1258">
                <a:solidFill>
                  <a:srgbClr val="1F3567"/>
                </a:solidFill>
                <a:latin typeface="Inter"/>
                <a:ea typeface="Inter"/>
                <a:cs typeface="Inter"/>
                <a:sym typeface="Inter"/>
              </a:rPr>
              <a:t>data statistik dari </a:t>
            </a:r>
            <a:r>
              <a:rPr i="1" lang="id" sz="1258">
                <a:solidFill>
                  <a:srgbClr val="1F3567"/>
                </a:solidFill>
                <a:latin typeface="Inter"/>
                <a:ea typeface="Inter"/>
                <a:cs typeface="Inter"/>
                <a:sym typeface="Inter"/>
              </a:rPr>
              <a:t>U.S. Fire Administration</a:t>
            </a:r>
            <a:r>
              <a:rPr lang="id" sz="1258">
                <a:solidFill>
                  <a:srgbClr val="1F3567"/>
                </a:solidFill>
                <a:latin typeface="Inter"/>
                <a:ea typeface="Inter"/>
                <a:cs typeface="Inter"/>
                <a:sym typeface="Inter"/>
              </a:rPr>
              <a:t> </a:t>
            </a:r>
            <a:endParaRPr sz="1258">
              <a:solidFill>
                <a:srgbClr val="1F3567"/>
              </a:solidFill>
              <a:latin typeface="Inter"/>
              <a:ea typeface="Inter"/>
              <a:cs typeface="Inter"/>
              <a:sym typeface="Inter"/>
            </a:endParaRPr>
          </a:p>
        </p:txBody>
      </p:sp>
      <p:sp>
        <p:nvSpPr>
          <p:cNvPr id="170" name="Google Shape;170;p15"/>
          <p:cNvSpPr txBox="1"/>
          <p:nvPr/>
        </p:nvSpPr>
        <p:spPr>
          <a:xfrm>
            <a:off x="1885800" y="2745400"/>
            <a:ext cx="2451300" cy="1088100"/>
          </a:xfrm>
          <a:prstGeom prst="rect">
            <a:avLst/>
          </a:prstGeom>
          <a:noFill/>
          <a:ln>
            <a:noFill/>
          </a:ln>
        </p:spPr>
        <p:txBody>
          <a:bodyPr anchorCtr="0" anchor="t" bIns="97350" lIns="97350" spcFirstLastPara="1" rIns="97350" wrap="square" tIns="97350">
            <a:spAutoFit/>
          </a:bodyPr>
          <a:lstStyle/>
          <a:p>
            <a:pPr indent="0" lvl="0" marL="0" rtl="0" algn="just">
              <a:spcBef>
                <a:spcPts val="0"/>
              </a:spcBef>
              <a:spcAft>
                <a:spcPts val="0"/>
              </a:spcAft>
              <a:buNone/>
            </a:pPr>
            <a:r>
              <a:rPr lang="id" sz="1158">
                <a:solidFill>
                  <a:srgbClr val="3A6D8C"/>
                </a:solidFill>
                <a:latin typeface="Google Sans"/>
                <a:ea typeface="Google Sans"/>
                <a:cs typeface="Google Sans"/>
                <a:sym typeface="Google Sans"/>
              </a:rPr>
              <a:t>A</a:t>
            </a:r>
            <a:r>
              <a:rPr lang="id" sz="1158">
                <a:solidFill>
                  <a:srgbClr val="3A6D8C"/>
                </a:solidFill>
                <a:latin typeface="Google Sans"/>
                <a:ea typeface="Google Sans"/>
                <a:cs typeface="Google Sans"/>
                <a:sym typeface="Google Sans"/>
              </a:rPr>
              <a:t>ngka kematian kebakaran tertutup disebabkan oleh </a:t>
            </a:r>
            <a:r>
              <a:rPr b="1" i="1" lang="id" sz="1158">
                <a:solidFill>
                  <a:srgbClr val="3A6D8C"/>
                </a:solidFill>
                <a:latin typeface="Google Sans"/>
                <a:ea typeface="Google Sans"/>
                <a:cs typeface="Google Sans"/>
                <a:sym typeface="Google Sans"/>
              </a:rPr>
              <a:t>smoke inhalation</a:t>
            </a:r>
            <a:r>
              <a:rPr lang="id" sz="1158">
                <a:solidFill>
                  <a:srgbClr val="3A6D8C"/>
                </a:solidFill>
                <a:latin typeface="Google Sans"/>
                <a:ea typeface="Google Sans"/>
                <a:cs typeface="Google Sans"/>
                <a:sym typeface="Google Sans"/>
              </a:rPr>
              <a:t> karena </a:t>
            </a:r>
            <a:r>
              <a:rPr b="1" lang="id" sz="1158">
                <a:solidFill>
                  <a:srgbClr val="3A6D8C"/>
                </a:solidFill>
                <a:latin typeface="Google Sans"/>
                <a:ea typeface="Google Sans"/>
                <a:cs typeface="Google Sans"/>
                <a:sym typeface="Google Sans"/>
              </a:rPr>
              <a:t>tidak ada sistem panduan evakuasi di area lantai</a:t>
            </a:r>
            <a:r>
              <a:rPr lang="id" sz="1158">
                <a:solidFill>
                  <a:srgbClr val="3A6D8C"/>
                </a:solidFill>
                <a:latin typeface="Google Sans"/>
                <a:ea typeface="Google Sans"/>
                <a:cs typeface="Google Sans"/>
                <a:sym typeface="Google Sans"/>
              </a:rPr>
              <a:t>.</a:t>
            </a:r>
            <a:endParaRPr sz="1478">
              <a:solidFill>
                <a:srgbClr val="3A6D8C"/>
              </a:solidFill>
              <a:latin typeface="Google Sans"/>
              <a:ea typeface="Google Sans"/>
              <a:cs typeface="Google Sans"/>
              <a:sym typeface="Google Sans"/>
            </a:endParaRPr>
          </a:p>
        </p:txBody>
      </p:sp>
      <p:sp>
        <p:nvSpPr>
          <p:cNvPr id="171" name="Google Shape;171;p15"/>
          <p:cNvSpPr/>
          <p:nvPr/>
        </p:nvSpPr>
        <p:spPr>
          <a:xfrm>
            <a:off x="4337100" y="2793053"/>
            <a:ext cx="469800" cy="1445100"/>
          </a:xfrm>
          <a:prstGeom prst="chevron">
            <a:avLst>
              <a:gd fmla="val 50000" name="adj"/>
            </a:avLst>
          </a:prstGeom>
          <a:gradFill>
            <a:gsLst>
              <a:gs pos="0">
                <a:srgbClr val="04153C"/>
              </a:gs>
              <a:gs pos="50000">
                <a:srgbClr val="1F3567"/>
              </a:gs>
              <a:gs pos="100000">
                <a:srgbClr val="AAC3FB"/>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5"/>
          <p:cNvSpPr/>
          <p:nvPr/>
        </p:nvSpPr>
        <p:spPr>
          <a:xfrm>
            <a:off x="5025791" y="3228700"/>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1</a:t>
            </a:r>
            <a:endParaRPr b="1" sz="1200">
              <a:solidFill>
                <a:srgbClr val="FFFFFF"/>
              </a:solidFill>
              <a:latin typeface="Inter"/>
              <a:ea typeface="Inter"/>
              <a:cs typeface="Inter"/>
              <a:sym typeface="Inter"/>
            </a:endParaRPr>
          </a:p>
        </p:txBody>
      </p:sp>
      <p:sp>
        <p:nvSpPr>
          <p:cNvPr id="173" name="Google Shape;173;p15"/>
          <p:cNvSpPr/>
          <p:nvPr/>
        </p:nvSpPr>
        <p:spPr>
          <a:xfrm>
            <a:off x="5028503" y="3626701"/>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2</a:t>
            </a:r>
            <a:endParaRPr b="1" sz="1200">
              <a:solidFill>
                <a:srgbClr val="FFFFFF"/>
              </a:solidFill>
              <a:latin typeface="Inter"/>
              <a:ea typeface="Inter"/>
              <a:cs typeface="Inter"/>
              <a:sym typeface="Inter"/>
            </a:endParaRPr>
          </a:p>
        </p:txBody>
      </p:sp>
      <p:sp>
        <p:nvSpPr>
          <p:cNvPr id="174" name="Google Shape;174;p15"/>
          <p:cNvSpPr/>
          <p:nvPr/>
        </p:nvSpPr>
        <p:spPr>
          <a:xfrm>
            <a:off x="5028500" y="4024706"/>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3</a:t>
            </a:r>
            <a:endParaRPr b="1" sz="1200">
              <a:solidFill>
                <a:srgbClr val="FFFFFF"/>
              </a:solidFill>
              <a:latin typeface="Inter"/>
              <a:ea typeface="Inter"/>
              <a:cs typeface="Inter"/>
              <a:sym typeface="Inter"/>
            </a:endParaRPr>
          </a:p>
        </p:txBody>
      </p:sp>
      <p:sp>
        <p:nvSpPr>
          <p:cNvPr id="175" name="Google Shape;175;p15"/>
          <p:cNvSpPr/>
          <p:nvPr/>
        </p:nvSpPr>
        <p:spPr>
          <a:xfrm>
            <a:off x="4908500" y="2725700"/>
            <a:ext cx="3964800" cy="3540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t/>
            </a:r>
            <a:endParaRPr sz="1300">
              <a:solidFill>
                <a:schemeClr val="lt1"/>
              </a:solidFill>
              <a:latin typeface="Inter"/>
              <a:ea typeface="Inter"/>
              <a:cs typeface="Inter"/>
              <a:sym typeface="Inter"/>
            </a:endParaRPr>
          </a:p>
        </p:txBody>
      </p:sp>
      <p:sp>
        <p:nvSpPr>
          <p:cNvPr id="176" name="Google Shape;176;p15"/>
          <p:cNvSpPr/>
          <p:nvPr/>
        </p:nvSpPr>
        <p:spPr>
          <a:xfrm>
            <a:off x="4908938" y="2651150"/>
            <a:ext cx="524100" cy="503100"/>
          </a:xfrm>
          <a:prstGeom prst="ellipse">
            <a:avLst/>
          </a:prstGeom>
          <a:solidFill>
            <a:schemeClr val="lt1"/>
          </a:solidFill>
          <a:ln cap="flat" cmpd="sng" w="19050">
            <a:solidFill>
              <a:srgbClr val="1F356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7" name="Google Shape;177;p15"/>
          <p:cNvPicPr preferRelativeResize="0"/>
          <p:nvPr/>
        </p:nvPicPr>
        <p:blipFill>
          <a:blip r:embed="rId8">
            <a:alphaModFix/>
          </a:blip>
          <a:stretch>
            <a:fillRect/>
          </a:stretch>
        </p:blipFill>
        <p:spPr>
          <a:xfrm>
            <a:off x="5025788" y="2754800"/>
            <a:ext cx="295800" cy="295800"/>
          </a:xfrm>
          <a:prstGeom prst="rect">
            <a:avLst/>
          </a:prstGeom>
          <a:noFill/>
          <a:ln>
            <a:noFill/>
          </a:ln>
        </p:spPr>
      </p:pic>
      <p:sp>
        <p:nvSpPr>
          <p:cNvPr id="178" name="Google Shape;178;p15"/>
          <p:cNvSpPr txBox="1"/>
          <p:nvPr/>
        </p:nvSpPr>
        <p:spPr>
          <a:xfrm>
            <a:off x="5433038" y="27007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a:solidFill>
                  <a:schemeClr val="lt1"/>
                </a:solidFill>
                <a:latin typeface="Inter"/>
                <a:ea typeface="Inter"/>
                <a:cs typeface="Inter"/>
                <a:sym typeface="Inter"/>
              </a:rPr>
              <a:t>Keterbatasan Rambu Saat Ini </a:t>
            </a:r>
            <a:endParaRPr b="1">
              <a:solidFill>
                <a:schemeClr val="lt1"/>
              </a:solidFill>
              <a:latin typeface="Inter"/>
              <a:ea typeface="Inter"/>
              <a:cs typeface="Inter"/>
              <a:sym typeface="Inter"/>
            </a:endParaRPr>
          </a:p>
        </p:txBody>
      </p:sp>
      <p:sp>
        <p:nvSpPr>
          <p:cNvPr id="179" name="Google Shape;179;p15"/>
          <p:cNvSpPr txBox="1"/>
          <p:nvPr/>
        </p:nvSpPr>
        <p:spPr>
          <a:xfrm>
            <a:off x="5346775" y="3106900"/>
            <a:ext cx="3526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000">
                <a:solidFill>
                  <a:schemeClr val="dk1"/>
                </a:solidFill>
                <a:latin typeface="Inter"/>
                <a:ea typeface="Inter"/>
                <a:cs typeface="Inter"/>
                <a:sym typeface="Inter"/>
              </a:rPr>
              <a:t>Buta Asap:</a:t>
            </a:r>
            <a:r>
              <a:rPr lang="id" sz="1000">
                <a:solidFill>
                  <a:schemeClr val="dk1"/>
                </a:solidFill>
                <a:latin typeface="Inter"/>
                <a:ea typeface="Inter"/>
                <a:cs typeface="Inter"/>
                <a:sym typeface="Inter"/>
              </a:rPr>
              <a:t> Terpasang di atas dinding, langsung tertutup asap tebal. </a:t>
            </a:r>
            <a:endParaRPr sz="1000">
              <a:latin typeface="Inter"/>
              <a:ea typeface="Inter"/>
              <a:cs typeface="Inter"/>
              <a:sym typeface="Inter"/>
            </a:endParaRPr>
          </a:p>
        </p:txBody>
      </p:sp>
      <p:sp>
        <p:nvSpPr>
          <p:cNvPr id="180" name="Google Shape;180;p15"/>
          <p:cNvSpPr txBox="1"/>
          <p:nvPr/>
        </p:nvSpPr>
        <p:spPr>
          <a:xfrm>
            <a:off x="5346775" y="3490725"/>
            <a:ext cx="3429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000">
                <a:solidFill>
                  <a:schemeClr val="dk1"/>
                </a:solidFill>
                <a:latin typeface="Inter"/>
                <a:ea typeface="Inter"/>
                <a:cs typeface="Inter"/>
                <a:sym typeface="Inter"/>
              </a:rPr>
              <a:t>Tidak Mandiri:</a:t>
            </a:r>
            <a:r>
              <a:rPr lang="id" sz="1000">
                <a:solidFill>
                  <a:schemeClr val="dk1"/>
                </a:solidFill>
                <a:latin typeface="Inter"/>
                <a:ea typeface="Inter"/>
                <a:cs typeface="Inter"/>
                <a:sym typeface="Inter"/>
              </a:rPr>
              <a:t> Bergantung pada listrik pusat yang rawan mati total. </a:t>
            </a:r>
            <a:endParaRPr sz="1000">
              <a:latin typeface="Inter"/>
              <a:ea typeface="Inter"/>
              <a:cs typeface="Inter"/>
              <a:sym typeface="Inter"/>
            </a:endParaRPr>
          </a:p>
        </p:txBody>
      </p:sp>
      <p:sp>
        <p:nvSpPr>
          <p:cNvPr id="181" name="Google Shape;181;p15"/>
          <p:cNvSpPr txBox="1"/>
          <p:nvPr/>
        </p:nvSpPr>
        <p:spPr>
          <a:xfrm>
            <a:off x="5383952" y="3918350"/>
            <a:ext cx="339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Statis &amp; Berbahaya:</a:t>
            </a:r>
            <a:r>
              <a:rPr lang="id" sz="900">
                <a:solidFill>
                  <a:schemeClr val="dk1"/>
                </a:solidFill>
                <a:latin typeface="Inter"/>
                <a:ea typeface="Inter"/>
                <a:cs typeface="Inter"/>
                <a:sym typeface="Inter"/>
              </a:rPr>
              <a:t> Tidak bisa berubah arah, berisiko menuntun korban ke titik api. </a:t>
            </a:r>
            <a:endParaRPr sz="900">
              <a:latin typeface="Inter"/>
              <a:ea typeface="Inter"/>
              <a:cs typeface="Inter"/>
              <a:sym typeface="Inter"/>
            </a:endParaRPr>
          </a:p>
        </p:txBody>
      </p:sp>
      <p:sp>
        <p:nvSpPr>
          <p:cNvPr id="182" name="Google Shape;182;p15"/>
          <p:cNvSpPr/>
          <p:nvPr/>
        </p:nvSpPr>
        <p:spPr>
          <a:xfrm>
            <a:off x="340563" y="4319800"/>
            <a:ext cx="1387200" cy="638100"/>
          </a:xfrm>
          <a:prstGeom prst="roundRect">
            <a:avLst>
              <a:gd fmla="val 16667" name="adj"/>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183" name="Google Shape;183;p15"/>
          <p:cNvSpPr txBox="1"/>
          <p:nvPr/>
        </p:nvSpPr>
        <p:spPr>
          <a:xfrm>
            <a:off x="390634" y="4319800"/>
            <a:ext cx="1297200" cy="614700"/>
          </a:xfrm>
          <a:prstGeom prst="rect">
            <a:avLst/>
          </a:prstGeom>
          <a:noFill/>
          <a:ln>
            <a:noFill/>
          </a:ln>
        </p:spPr>
        <p:txBody>
          <a:bodyPr anchorCtr="0" anchor="t" bIns="97350" lIns="97350" spcFirstLastPara="1" rIns="97350" wrap="square" tIns="97350">
            <a:spAutoFit/>
          </a:bodyPr>
          <a:lstStyle/>
          <a:p>
            <a:pPr indent="0" lvl="0" marL="0" rtl="0" algn="ctr">
              <a:spcBef>
                <a:spcPts val="0"/>
              </a:spcBef>
              <a:spcAft>
                <a:spcPts val="0"/>
              </a:spcAft>
              <a:buNone/>
            </a:pPr>
            <a:r>
              <a:rPr b="1" lang="id" sz="1358">
                <a:solidFill>
                  <a:schemeClr val="lt1"/>
                </a:solidFill>
                <a:latin typeface="Inter"/>
                <a:ea typeface="Inter"/>
                <a:cs typeface="Inter"/>
                <a:sym typeface="Inter"/>
              </a:rPr>
              <a:t>Signifikasi</a:t>
            </a:r>
            <a:endParaRPr b="1" sz="1358">
              <a:solidFill>
                <a:schemeClr val="lt1"/>
              </a:solidFill>
              <a:latin typeface="Inter"/>
              <a:ea typeface="Inter"/>
              <a:cs typeface="Inter"/>
              <a:sym typeface="Inter"/>
            </a:endParaRPr>
          </a:p>
          <a:p>
            <a:pPr indent="0" lvl="0" marL="0" rtl="0" algn="ctr">
              <a:spcBef>
                <a:spcPts val="0"/>
              </a:spcBef>
              <a:spcAft>
                <a:spcPts val="0"/>
              </a:spcAft>
              <a:buNone/>
            </a:pPr>
            <a:r>
              <a:rPr b="1" lang="id" sz="1358">
                <a:solidFill>
                  <a:schemeClr val="lt1"/>
                </a:solidFill>
                <a:latin typeface="Inter"/>
                <a:ea typeface="Inter"/>
                <a:cs typeface="Inter"/>
                <a:sym typeface="Inter"/>
              </a:rPr>
              <a:t>Masalah</a:t>
            </a:r>
            <a:endParaRPr b="1" sz="1358">
              <a:solidFill>
                <a:schemeClr val="lt1"/>
              </a:solidFill>
              <a:latin typeface="Inter"/>
              <a:ea typeface="Inter"/>
              <a:cs typeface="Inter"/>
              <a:sym typeface="Inter"/>
            </a:endParaRPr>
          </a:p>
        </p:txBody>
      </p:sp>
      <p:sp>
        <p:nvSpPr>
          <p:cNvPr id="184" name="Google Shape;184;p15"/>
          <p:cNvSpPr txBox="1"/>
          <p:nvPr/>
        </p:nvSpPr>
        <p:spPr>
          <a:xfrm>
            <a:off x="1727655" y="4422692"/>
            <a:ext cx="7048200" cy="492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000">
                <a:latin typeface="Inter"/>
                <a:ea typeface="Inter"/>
                <a:cs typeface="Inter"/>
                <a:sym typeface="Inter"/>
              </a:rPr>
              <a:t>Kurangnya</a:t>
            </a:r>
            <a:r>
              <a:rPr b="1" lang="id" sz="1000">
                <a:latin typeface="Inter"/>
                <a:ea typeface="Inter"/>
                <a:cs typeface="Inter"/>
                <a:sym typeface="Inter"/>
              </a:rPr>
              <a:t> </a:t>
            </a:r>
            <a:r>
              <a:rPr b="1" lang="id" sz="1000">
                <a:solidFill>
                  <a:srgbClr val="1F3567"/>
                </a:solidFill>
                <a:latin typeface="Inter"/>
                <a:ea typeface="Inter"/>
                <a:cs typeface="Inter"/>
                <a:sym typeface="Inter"/>
              </a:rPr>
              <a:t>efektivitas rambu evakuasi konvensional dalam kondisi darurat</a:t>
            </a:r>
            <a:r>
              <a:rPr lang="id" sz="1000">
                <a:latin typeface="Inter"/>
                <a:ea typeface="Inter"/>
                <a:cs typeface="Inter"/>
                <a:sym typeface="Inter"/>
              </a:rPr>
              <a:t> menuntut hadirnya </a:t>
            </a:r>
            <a:r>
              <a:rPr b="1" lang="id" sz="1000">
                <a:solidFill>
                  <a:srgbClr val="1F3567"/>
                </a:solidFill>
                <a:latin typeface="Inter"/>
                <a:ea typeface="Inter"/>
                <a:cs typeface="Inter"/>
                <a:sym typeface="Inter"/>
              </a:rPr>
              <a:t>sistem navigasi evakuasi yang adaptif, mandiri, dan real-time </a:t>
            </a:r>
            <a:r>
              <a:rPr lang="id" sz="1000">
                <a:latin typeface="Inter"/>
                <a:ea typeface="Inter"/>
                <a:cs typeface="Inter"/>
                <a:sym typeface="Inter"/>
              </a:rPr>
              <a:t>untuk meningkatkan keselamatan penghuni gedung. </a:t>
            </a:r>
            <a:endParaRPr sz="1000">
              <a:latin typeface="Inter"/>
              <a:ea typeface="Inter"/>
              <a:cs typeface="Inter"/>
              <a:sym typeface="Inter"/>
            </a:endParaRPr>
          </a:p>
        </p:txBody>
      </p:sp>
      <p:pic>
        <p:nvPicPr>
          <p:cNvPr id="185" name="Google Shape;185;p15"/>
          <p:cNvPicPr preferRelativeResize="0"/>
          <p:nvPr/>
        </p:nvPicPr>
        <p:blipFill rotWithShape="1">
          <a:blip r:embed="rId9">
            <a:alphaModFix/>
          </a:blip>
          <a:srcRect b="0" l="20490" r="0" t="0"/>
          <a:stretch/>
        </p:blipFill>
        <p:spPr>
          <a:xfrm>
            <a:off x="6017079" y="1406275"/>
            <a:ext cx="1514024" cy="10716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6"/>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191" name="Google Shape;191;p16"/>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6"/>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16"/>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6"/>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6"/>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6"/>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1</a:t>
            </a:r>
            <a:endParaRPr b="1" i="1" sz="1500">
              <a:solidFill>
                <a:srgbClr val="20124D"/>
              </a:solidFill>
              <a:latin typeface="Inter"/>
              <a:ea typeface="Inter"/>
              <a:cs typeface="Inter"/>
              <a:sym typeface="Inter"/>
            </a:endParaRPr>
          </a:p>
        </p:txBody>
      </p:sp>
      <p:sp>
        <p:nvSpPr>
          <p:cNvPr id="197" name="Google Shape;197;p16"/>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8" name="Google Shape;198;p16"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199" name="Google Shape;199;p16"/>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200" name="Google Shape;200;p16"/>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highlight>
                  <a:schemeClr val="lt1"/>
                </a:highlight>
                <a:latin typeface="Inter"/>
                <a:ea typeface="Inter"/>
                <a:cs typeface="Inter"/>
                <a:sym typeface="Inter"/>
              </a:rPr>
              <a:t>Rumusan masalah, tujuan, batasan, dan manfaat proyek</a:t>
            </a:r>
            <a:endParaRPr b="1" sz="1200">
              <a:solidFill>
                <a:srgbClr val="3A6D8C"/>
              </a:solidFill>
              <a:highlight>
                <a:schemeClr val="lt1"/>
              </a:highlight>
              <a:latin typeface="Inter"/>
              <a:ea typeface="Inter"/>
              <a:cs typeface="Inter"/>
              <a:sym typeface="Inter"/>
            </a:endParaRPr>
          </a:p>
        </p:txBody>
      </p:sp>
      <p:sp>
        <p:nvSpPr>
          <p:cNvPr id="201" name="Google Shape;201;p16"/>
          <p:cNvSpPr/>
          <p:nvPr/>
        </p:nvSpPr>
        <p:spPr>
          <a:xfrm>
            <a:off x="234600" y="976375"/>
            <a:ext cx="8674800" cy="13131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6"/>
          <p:cNvSpPr/>
          <p:nvPr/>
        </p:nvSpPr>
        <p:spPr>
          <a:xfrm>
            <a:off x="189425" y="821375"/>
            <a:ext cx="8811600" cy="2526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Rumusan Masalah</a:t>
            </a:r>
            <a:endParaRPr sz="1300">
              <a:solidFill>
                <a:schemeClr val="lt1"/>
              </a:solidFill>
              <a:latin typeface="Inter"/>
              <a:ea typeface="Inter"/>
              <a:cs typeface="Inter"/>
              <a:sym typeface="Inter"/>
            </a:endParaRPr>
          </a:p>
        </p:txBody>
      </p:sp>
      <p:sp>
        <p:nvSpPr>
          <p:cNvPr id="203" name="Google Shape;203;p16"/>
          <p:cNvSpPr txBox="1"/>
          <p:nvPr/>
        </p:nvSpPr>
        <p:spPr>
          <a:xfrm>
            <a:off x="344975" y="1144750"/>
            <a:ext cx="3543900" cy="104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id" sz="1000">
                <a:latin typeface="Google Sans"/>
                <a:ea typeface="Google Sans"/>
                <a:cs typeface="Google Sans"/>
                <a:sym typeface="Google Sans"/>
              </a:rPr>
              <a:t>Rambu evakuasi konvensional kurang efektif karena </a:t>
            </a:r>
            <a:r>
              <a:rPr b="1" lang="id" sz="1000">
                <a:latin typeface="Google Sans"/>
                <a:ea typeface="Google Sans"/>
                <a:cs typeface="Google Sans"/>
                <a:sym typeface="Google Sans"/>
              </a:rPr>
              <a:t>rentan tertutup asap dan bergantung pada listrik pusat.</a:t>
            </a:r>
            <a:r>
              <a:rPr lang="id" sz="1000">
                <a:latin typeface="Google Sans"/>
                <a:ea typeface="Google Sans"/>
                <a:cs typeface="Google Sans"/>
                <a:sym typeface="Google Sans"/>
              </a:rPr>
              <a:t> </a:t>
            </a:r>
            <a:r>
              <a:rPr b="1" i="1" lang="id" sz="1000">
                <a:solidFill>
                  <a:schemeClr val="lt1"/>
                </a:solidFill>
                <a:highlight>
                  <a:srgbClr val="04153C"/>
                </a:highlight>
                <a:latin typeface="Google Sans"/>
                <a:ea typeface="Google Sans"/>
                <a:cs typeface="Google Sans"/>
                <a:sym typeface="Google Sans"/>
              </a:rPr>
              <a:t>SAFE-EXIT</a:t>
            </a:r>
            <a:r>
              <a:rPr lang="id" sz="1000">
                <a:latin typeface="Google Sans"/>
                <a:ea typeface="Google Sans"/>
                <a:cs typeface="Google Sans"/>
                <a:sym typeface="Google Sans"/>
              </a:rPr>
              <a:t> dikembangkan sebagai sistem navigasi evakuasi berbasis lantai yang </a:t>
            </a:r>
            <a:r>
              <a:rPr b="1" lang="id" sz="1000">
                <a:latin typeface="Google Sans"/>
                <a:ea typeface="Google Sans"/>
                <a:cs typeface="Google Sans"/>
                <a:sym typeface="Google Sans"/>
              </a:rPr>
              <a:t>adaptif, mandiri, dan mampu memandu jalur evakuasi secara real-time.</a:t>
            </a:r>
            <a:endParaRPr b="1" sz="1000">
              <a:latin typeface="Google Sans"/>
              <a:ea typeface="Google Sans"/>
              <a:cs typeface="Google Sans"/>
              <a:sym typeface="Google Sans"/>
            </a:endParaRPr>
          </a:p>
        </p:txBody>
      </p:sp>
      <p:sp>
        <p:nvSpPr>
          <p:cNvPr id="204" name="Google Shape;204;p16"/>
          <p:cNvSpPr/>
          <p:nvPr/>
        </p:nvSpPr>
        <p:spPr>
          <a:xfrm>
            <a:off x="4506475" y="1127363"/>
            <a:ext cx="351600" cy="153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FFFFFF"/>
                </a:solidFill>
                <a:latin typeface="Inter"/>
                <a:ea typeface="Inter"/>
                <a:cs typeface="Inter"/>
                <a:sym typeface="Inter"/>
              </a:rPr>
              <a:t>1</a:t>
            </a:r>
            <a:endParaRPr b="1" sz="1000">
              <a:solidFill>
                <a:srgbClr val="FFFFFF"/>
              </a:solidFill>
              <a:latin typeface="Inter"/>
              <a:ea typeface="Inter"/>
              <a:cs typeface="Inter"/>
              <a:sym typeface="Inter"/>
            </a:endParaRPr>
          </a:p>
        </p:txBody>
      </p:sp>
      <p:sp>
        <p:nvSpPr>
          <p:cNvPr id="205" name="Google Shape;205;p16"/>
          <p:cNvSpPr/>
          <p:nvPr/>
        </p:nvSpPr>
        <p:spPr>
          <a:xfrm>
            <a:off x="4506475" y="1359182"/>
            <a:ext cx="351600" cy="153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FFFFFF"/>
                </a:solidFill>
                <a:latin typeface="Inter"/>
                <a:ea typeface="Inter"/>
                <a:cs typeface="Inter"/>
                <a:sym typeface="Inter"/>
              </a:rPr>
              <a:t>2</a:t>
            </a:r>
            <a:endParaRPr b="1" sz="1000">
              <a:solidFill>
                <a:srgbClr val="FFFFFF"/>
              </a:solidFill>
              <a:latin typeface="Inter"/>
              <a:ea typeface="Inter"/>
              <a:cs typeface="Inter"/>
              <a:sym typeface="Inter"/>
            </a:endParaRPr>
          </a:p>
        </p:txBody>
      </p:sp>
      <p:sp>
        <p:nvSpPr>
          <p:cNvPr id="206" name="Google Shape;206;p16"/>
          <p:cNvSpPr/>
          <p:nvPr/>
        </p:nvSpPr>
        <p:spPr>
          <a:xfrm>
            <a:off x="4500025" y="1591297"/>
            <a:ext cx="351600" cy="153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FFFFFF"/>
                </a:solidFill>
                <a:latin typeface="Inter"/>
                <a:ea typeface="Inter"/>
                <a:cs typeface="Inter"/>
                <a:sym typeface="Inter"/>
              </a:rPr>
              <a:t>3</a:t>
            </a:r>
            <a:endParaRPr b="1" sz="1000">
              <a:solidFill>
                <a:srgbClr val="FFFFFF"/>
              </a:solidFill>
              <a:latin typeface="Inter"/>
              <a:ea typeface="Inter"/>
              <a:cs typeface="Inter"/>
              <a:sym typeface="Inter"/>
            </a:endParaRPr>
          </a:p>
        </p:txBody>
      </p:sp>
      <p:sp>
        <p:nvSpPr>
          <p:cNvPr id="207" name="Google Shape;207;p16"/>
          <p:cNvSpPr/>
          <p:nvPr/>
        </p:nvSpPr>
        <p:spPr>
          <a:xfrm>
            <a:off x="4500025" y="1823115"/>
            <a:ext cx="351600" cy="153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FFFFFF"/>
                </a:solidFill>
                <a:latin typeface="Inter"/>
                <a:ea typeface="Inter"/>
                <a:cs typeface="Inter"/>
                <a:sym typeface="Inter"/>
              </a:rPr>
              <a:t>4</a:t>
            </a:r>
            <a:endParaRPr b="1" sz="1000">
              <a:solidFill>
                <a:srgbClr val="FFFFFF"/>
              </a:solidFill>
              <a:latin typeface="Inter"/>
              <a:ea typeface="Inter"/>
              <a:cs typeface="Inter"/>
              <a:sym typeface="Inter"/>
            </a:endParaRPr>
          </a:p>
        </p:txBody>
      </p:sp>
      <p:sp>
        <p:nvSpPr>
          <p:cNvPr id="208" name="Google Shape;208;p16"/>
          <p:cNvSpPr/>
          <p:nvPr/>
        </p:nvSpPr>
        <p:spPr>
          <a:xfrm>
            <a:off x="4500025" y="2054940"/>
            <a:ext cx="351600" cy="153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FFFFFF"/>
                </a:solidFill>
                <a:latin typeface="Inter"/>
                <a:ea typeface="Inter"/>
                <a:cs typeface="Inter"/>
                <a:sym typeface="Inter"/>
              </a:rPr>
              <a:t>5</a:t>
            </a:r>
            <a:endParaRPr b="1" sz="1000">
              <a:solidFill>
                <a:srgbClr val="FFFFFF"/>
              </a:solidFill>
              <a:latin typeface="Inter"/>
              <a:ea typeface="Inter"/>
              <a:cs typeface="Inter"/>
              <a:sym typeface="Inter"/>
            </a:endParaRPr>
          </a:p>
        </p:txBody>
      </p:sp>
      <p:sp>
        <p:nvSpPr>
          <p:cNvPr id="209" name="Google Shape;209;p16"/>
          <p:cNvSpPr/>
          <p:nvPr/>
        </p:nvSpPr>
        <p:spPr>
          <a:xfrm rot="5400000">
            <a:off x="3596638" y="1386838"/>
            <a:ext cx="1082050" cy="579125"/>
          </a:xfrm>
          <a:prstGeom prst="flowChartManualOperation">
            <a:avLst/>
          </a:prstGeom>
          <a:gradFill>
            <a:gsLst>
              <a:gs pos="0">
                <a:srgbClr val="EEEEEE"/>
              </a:gs>
              <a:gs pos="50000">
                <a:srgbClr val="3A6D8C"/>
              </a:gs>
              <a:gs pos="100000">
                <a:srgbClr val="04153C"/>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6"/>
          <p:cNvSpPr txBox="1"/>
          <p:nvPr/>
        </p:nvSpPr>
        <p:spPr>
          <a:xfrm>
            <a:off x="4858075" y="1034969"/>
            <a:ext cx="377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000">
                <a:latin typeface="Google Sans"/>
                <a:ea typeface="Google Sans"/>
                <a:cs typeface="Google Sans"/>
                <a:sym typeface="Google Sans"/>
              </a:rPr>
              <a:t>Perancangan sistem navigasi lantai adaptif berbasis real-time. </a:t>
            </a:r>
            <a:endParaRPr sz="1000">
              <a:latin typeface="Google Sans"/>
              <a:ea typeface="Google Sans"/>
              <a:cs typeface="Google Sans"/>
              <a:sym typeface="Google Sans"/>
            </a:endParaRPr>
          </a:p>
        </p:txBody>
      </p:sp>
      <p:sp>
        <p:nvSpPr>
          <p:cNvPr id="211" name="Google Shape;211;p16"/>
          <p:cNvSpPr txBox="1"/>
          <p:nvPr/>
        </p:nvSpPr>
        <p:spPr>
          <a:xfrm>
            <a:off x="4858075" y="1266775"/>
            <a:ext cx="4137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000">
                <a:latin typeface="Google Sans"/>
                <a:ea typeface="Google Sans"/>
                <a:cs typeface="Google Sans"/>
                <a:sym typeface="Google Sans"/>
              </a:rPr>
              <a:t>Simulasi kondisi darurat dan pemutusan arus pada maket gedung. </a:t>
            </a:r>
            <a:endParaRPr sz="1000">
              <a:latin typeface="Google Sans"/>
              <a:ea typeface="Google Sans"/>
              <a:cs typeface="Google Sans"/>
              <a:sym typeface="Google Sans"/>
            </a:endParaRPr>
          </a:p>
        </p:txBody>
      </p:sp>
      <p:sp>
        <p:nvSpPr>
          <p:cNvPr id="212" name="Google Shape;212;p16"/>
          <p:cNvSpPr txBox="1"/>
          <p:nvPr/>
        </p:nvSpPr>
        <p:spPr>
          <a:xfrm>
            <a:off x="4858075" y="1507050"/>
            <a:ext cx="3646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000">
                <a:latin typeface="Google Sans"/>
                <a:ea typeface="Google Sans"/>
                <a:cs typeface="Google Sans"/>
                <a:sym typeface="Google Sans"/>
              </a:rPr>
              <a:t>Optimasi algoritma pathfinding pada denah Gedung K FTUI. </a:t>
            </a:r>
            <a:endParaRPr sz="1000">
              <a:latin typeface="Google Sans"/>
              <a:ea typeface="Google Sans"/>
              <a:cs typeface="Google Sans"/>
              <a:sym typeface="Google Sans"/>
            </a:endParaRPr>
          </a:p>
        </p:txBody>
      </p:sp>
      <p:sp>
        <p:nvSpPr>
          <p:cNvPr id="213" name="Google Shape;213;p16"/>
          <p:cNvSpPr txBox="1"/>
          <p:nvPr/>
        </p:nvSpPr>
        <p:spPr>
          <a:xfrm>
            <a:off x="4858075" y="1730725"/>
            <a:ext cx="4137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000">
                <a:latin typeface="Google Sans"/>
                <a:ea typeface="Google Sans"/>
                <a:cs typeface="Google Sans"/>
                <a:sym typeface="Google Sans"/>
              </a:rPr>
              <a:t>Analisis efektivitas dan efisiensi dibanding rambu konvensional. </a:t>
            </a:r>
            <a:endParaRPr sz="1000">
              <a:latin typeface="Google Sans"/>
              <a:ea typeface="Google Sans"/>
              <a:cs typeface="Google Sans"/>
              <a:sym typeface="Google Sans"/>
            </a:endParaRPr>
          </a:p>
        </p:txBody>
      </p:sp>
      <p:sp>
        <p:nvSpPr>
          <p:cNvPr id="214" name="Google Shape;214;p16"/>
          <p:cNvSpPr txBox="1"/>
          <p:nvPr/>
        </p:nvSpPr>
        <p:spPr>
          <a:xfrm>
            <a:off x="4858075" y="1962550"/>
            <a:ext cx="4137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sz="1000">
                <a:latin typeface="Google Sans"/>
                <a:ea typeface="Google Sans"/>
                <a:cs typeface="Google Sans"/>
                <a:sym typeface="Google Sans"/>
              </a:rPr>
              <a:t>Evaluasi kelayakan implementasi pada skala gedung nyata. </a:t>
            </a:r>
            <a:endParaRPr sz="1000">
              <a:latin typeface="Google Sans"/>
              <a:ea typeface="Google Sans"/>
              <a:cs typeface="Google Sans"/>
              <a:sym typeface="Google Sans"/>
            </a:endParaRPr>
          </a:p>
        </p:txBody>
      </p:sp>
      <p:sp>
        <p:nvSpPr>
          <p:cNvPr id="215" name="Google Shape;215;p16"/>
          <p:cNvSpPr/>
          <p:nvPr/>
        </p:nvSpPr>
        <p:spPr>
          <a:xfrm>
            <a:off x="234600" y="2518600"/>
            <a:ext cx="43374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Tujuan </a:t>
            </a:r>
            <a:endParaRPr sz="1300">
              <a:solidFill>
                <a:schemeClr val="lt1"/>
              </a:solidFill>
              <a:latin typeface="Inter"/>
              <a:ea typeface="Inter"/>
              <a:cs typeface="Inter"/>
              <a:sym typeface="Inter"/>
            </a:endParaRPr>
          </a:p>
        </p:txBody>
      </p:sp>
      <p:sp>
        <p:nvSpPr>
          <p:cNvPr id="216" name="Google Shape;216;p16"/>
          <p:cNvSpPr/>
          <p:nvPr/>
        </p:nvSpPr>
        <p:spPr>
          <a:xfrm>
            <a:off x="4725394" y="2518600"/>
            <a:ext cx="41841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Batasan </a:t>
            </a:r>
            <a:endParaRPr sz="1300">
              <a:solidFill>
                <a:schemeClr val="lt1"/>
              </a:solidFill>
              <a:latin typeface="Inter"/>
              <a:ea typeface="Inter"/>
              <a:cs typeface="Inter"/>
              <a:sym typeface="Inter"/>
            </a:endParaRPr>
          </a:p>
        </p:txBody>
      </p:sp>
      <p:sp>
        <p:nvSpPr>
          <p:cNvPr id="217" name="Google Shape;217;p16"/>
          <p:cNvSpPr/>
          <p:nvPr/>
        </p:nvSpPr>
        <p:spPr>
          <a:xfrm>
            <a:off x="4851631" y="2868544"/>
            <a:ext cx="4010700" cy="558600"/>
          </a:xfrm>
          <a:prstGeom prst="rect">
            <a:avLst/>
          </a:prstGeom>
          <a:solidFill>
            <a:schemeClr val="lt2"/>
          </a:solidFill>
          <a:ln cap="flat" cmpd="sng" w="9525">
            <a:solidFill>
              <a:srgbClr val="04153C"/>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50000"/>
              </a:lnSpc>
              <a:spcBef>
                <a:spcPts val="1200"/>
              </a:spcBef>
              <a:spcAft>
                <a:spcPts val="1200"/>
              </a:spcAft>
              <a:buNone/>
            </a:pPr>
            <a:r>
              <a:rPr b="1" lang="id" sz="1000">
                <a:solidFill>
                  <a:schemeClr val="dk1"/>
                </a:solidFill>
                <a:latin typeface="Google Sans"/>
                <a:ea typeface="Google Sans"/>
                <a:cs typeface="Google Sans"/>
                <a:sym typeface="Google Sans"/>
              </a:rPr>
              <a:t>Skala Implementasi:</a:t>
            </a:r>
            <a:r>
              <a:rPr lang="id" sz="1000">
                <a:solidFill>
                  <a:schemeClr val="dk1"/>
                </a:solidFill>
                <a:latin typeface="Google Sans"/>
                <a:ea typeface="Google Sans"/>
                <a:cs typeface="Google Sans"/>
                <a:sym typeface="Google Sans"/>
              </a:rPr>
              <a:t> maket berskala 1:50 yang merepresentasikan lantai 1 dan lantai 2 gedung K FTUI.</a:t>
            </a:r>
            <a:endParaRPr sz="1000">
              <a:latin typeface="Google Sans"/>
              <a:ea typeface="Google Sans"/>
              <a:cs typeface="Google Sans"/>
              <a:sym typeface="Google Sans"/>
            </a:endParaRPr>
          </a:p>
        </p:txBody>
      </p:sp>
      <p:sp>
        <p:nvSpPr>
          <p:cNvPr id="218" name="Google Shape;218;p16"/>
          <p:cNvSpPr/>
          <p:nvPr/>
        </p:nvSpPr>
        <p:spPr>
          <a:xfrm>
            <a:off x="4851631" y="3606952"/>
            <a:ext cx="4010700" cy="558600"/>
          </a:xfrm>
          <a:prstGeom prst="rect">
            <a:avLst/>
          </a:prstGeom>
          <a:solidFill>
            <a:schemeClr val="lt2"/>
          </a:solidFill>
          <a:ln cap="flat" cmpd="sng" w="9525">
            <a:solidFill>
              <a:srgbClr val="04153C"/>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50000"/>
              </a:lnSpc>
              <a:spcBef>
                <a:spcPts val="1200"/>
              </a:spcBef>
              <a:spcAft>
                <a:spcPts val="1200"/>
              </a:spcAft>
              <a:buNone/>
            </a:pPr>
            <a:r>
              <a:rPr b="1" lang="id" sz="1000">
                <a:solidFill>
                  <a:schemeClr val="dk1"/>
                </a:solidFill>
                <a:latin typeface="Google Sans"/>
                <a:ea typeface="Google Sans"/>
                <a:cs typeface="Google Sans"/>
                <a:sym typeface="Google Sans"/>
              </a:rPr>
              <a:t>Mekanisme Simulasi:</a:t>
            </a:r>
            <a:r>
              <a:rPr lang="id" sz="1000">
                <a:solidFill>
                  <a:schemeClr val="dk1"/>
                </a:solidFill>
                <a:latin typeface="Google Sans"/>
                <a:ea typeface="Google Sans"/>
                <a:cs typeface="Google Sans"/>
                <a:sym typeface="Google Sans"/>
              </a:rPr>
              <a:t> menggunakan simulasi modul relay, mikrokontroler (ESP 32), dan sirkuit tegangan rendah.</a:t>
            </a:r>
            <a:endParaRPr sz="1000">
              <a:latin typeface="Google Sans"/>
              <a:ea typeface="Google Sans"/>
              <a:cs typeface="Google Sans"/>
              <a:sym typeface="Google Sans"/>
            </a:endParaRPr>
          </a:p>
        </p:txBody>
      </p:sp>
      <p:sp>
        <p:nvSpPr>
          <p:cNvPr id="219" name="Google Shape;219;p16"/>
          <p:cNvSpPr/>
          <p:nvPr/>
        </p:nvSpPr>
        <p:spPr>
          <a:xfrm>
            <a:off x="234600" y="2876197"/>
            <a:ext cx="16374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Umum</a:t>
            </a:r>
            <a:endParaRPr sz="1300">
              <a:solidFill>
                <a:schemeClr val="dk1"/>
              </a:solidFill>
              <a:latin typeface="Inter"/>
              <a:ea typeface="Inter"/>
              <a:cs typeface="Inter"/>
              <a:sym typeface="Inter"/>
            </a:endParaRPr>
          </a:p>
        </p:txBody>
      </p:sp>
      <p:sp>
        <p:nvSpPr>
          <p:cNvPr id="220" name="Google Shape;220;p16"/>
          <p:cNvSpPr/>
          <p:nvPr/>
        </p:nvSpPr>
        <p:spPr>
          <a:xfrm>
            <a:off x="1968502" y="2876197"/>
            <a:ext cx="26034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Khusus</a:t>
            </a:r>
            <a:endParaRPr sz="1300">
              <a:solidFill>
                <a:schemeClr val="dk1"/>
              </a:solidFill>
              <a:latin typeface="Inter"/>
              <a:ea typeface="Inter"/>
              <a:cs typeface="Inter"/>
              <a:sym typeface="Inter"/>
            </a:endParaRPr>
          </a:p>
        </p:txBody>
      </p:sp>
      <p:sp>
        <p:nvSpPr>
          <p:cNvPr id="221" name="Google Shape;221;p16"/>
          <p:cNvSpPr txBox="1"/>
          <p:nvPr/>
        </p:nvSpPr>
        <p:spPr>
          <a:xfrm>
            <a:off x="234500" y="3114124"/>
            <a:ext cx="16374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000">
                <a:solidFill>
                  <a:srgbClr val="1F3567"/>
                </a:solidFill>
                <a:latin typeface="Google Sans"/>
                <a:ea typeface="Google Sans"/>
                <a:cs typeface="Google Sans"/>
                <a:sym typeface="Google Sans"/>
              </a:rPr>
              <a:t>S</a:t>
            </a:r>
            <a:r>
              <a:rPr lang="id" sz="1000">
                <a:solidFill>
                  <a:srgbClr val="1F3567"/>
                </a:solidFill>
                <a:latin typeface="Google Sans"/>
                <a:ea typeface="Google Sans"/>
                <a:cs typeface="Google Sans"/>
                <a:sym typeface="Google Sans"/>
              </a:rPr>
              <a:t>istem navigasi evakuasi berbasis lantai yang adaptif, mandiri, dan efisien untuk mengurangi risiko korban saat kebakaran gedung. </a:t>
            </a:r>
            <a:endParaRPr sz="1000">
              <a:solidFill>
                <a:srgbClr val="1F3567"/>
              </a:solidFill>
              <a:latin typeface="Google Sans"/>
              <a:ea typeface="Google Sans"/>
              <a:cs typeface="Google Sans"/>
              <a:sym typeface="Google Sans"/>
            </a:endParaRPr>
          </a:p>
        </p:txBody>
      </p:sp>
      <p:sp>
        <p:nvSpPr>
          <p:cNvPr id="222" name="Google Shape;222;p16"/>
          <p:cNvSpPr/>
          <p:nvPr/>
        </p:nvSpPr>
        <p:spPr>
          <a:xfrm>
            <a:off x="1968502" y="3233794"/>
            <a:ext cx="2603400" cy="1677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1F3567"/>
                </a:solidFill>
                <a:latin typeface="Google Sans"/>
                <a:ea typeface="Google Sans"/>
                <a:cs typeface="Google Sans"/>
                <a:sym typeface="Google Sans"/>
              </a:rPr>
              <a:t>Optimasi Pathfinding </a:t>
            </a:r>
            <a:endParaRPr b="1" sz="1000">
              <a:solidFill>
                <a:srgbClr val="1F3567"/>
              </a:solidFill>
              <a:latin typeface="Google Sans"/>
              <a:ea typeface="Google Sans"/>
              <a:cs typeface="Google Sans"/>
              <a:sym typeface="Google Sans"/>
            </a:endParaRPr>
          </a:p>
        </p:txBody>
      </p:sp>
      <p:sp>
        <p:nvSpPr>
          <p:cNvPr id="223" name="Google Shape;223;p16"/>
          <p:cNvSpPr/>
          <p:nvPr/>
        </p:nvSpPr>
        <p:spPr>
          <a:xfrm>
            <a:off x="1968502" y="3485927"/>
            <a:ext cx="2603400" cy="1677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1F3567"/>
                </a:solidFill>
                <a:latin typeface="Google Sans"/>
                <a:ea typeface="Google Sans"/>
                <a:cs typeface="Google Sans"/>
                <a:sym typeface="Google Sans"/>
              </a:rPr>
              <a:t>Simulasi Kelistrikan </a:t>
            </a:r>
            <a:endParaRPr b="1" sz="1000">
              <a:solidFill>
                <a:srgbClr val="1F3567"/>
              </a:solidFill>
              <a:latin typeface="Google Sans"/>
              <a:ea typeface="Google Sans"/>
              <a:cs typeface="Google Sans"/>
              <a:sym typeface="Google Sans"/>
            </a:endParaRPr>
          </a:p>
        </p:txBody>
      </p:sp>
      <p:sp>
        <p:nvSpPr>
          <p:cNvPr id="224" name="Google Shape;224;p16"/>
          <p:cNvSpPr/>
          <p:nvPr/>
        </p:nvSpPr>
        <p:spPr>
          <a:xfrm>
            <a:off x="1968502" y="3738060"/>
            <a:ext cx="2603400" cy="1677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1F3567"/>
                </a:solidFill>
                <a:latin typeface="Google Sans"/>
                <a:ea typeface="Google Sans"/>
                <a:cs typeface="Google Sans"/>
                <a:sym typeface="Google Sans"/>
              </a:rPr>
              <a:t>Efisiensi Biaya </a:t>
            </a:r>
            <a:endParaRPr b="1" sz="1000">
              <a:solidFill>
                <a:srgbClr val="1F3567"/>
              </a:solidFill>
              <a:latin typeface="Google Sans"/>
              <a:ea typeface="Google Sans"/>
              <a:cs typeface="Google Sans"/>
              <a:sym typeface="Google Sans"/>
            </a:endParaRPr>
          </a:p>
        </p:txBody>
      </p:sp>
      <p:sp>
        <p:nvSpPr>
          <p:cNvPr id="225" name="Google Shape;225;p16"/>
          <p:cNvSpPr/>
          <p:nvPr/>
        </p:nvSpPr>
        <p:spPr>
          <a:xfrm>
            <a:off x="1968502" y="3990193"/>
            <a:ext cx="2603400" cy="1677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000">
                <a:solidFill>
                  <a:srgbClr val="1F3567"/>
                </a:solidFill>
                <a:latin typeface="Google Sans"/>
                <a:ea typeface="Google Sans"/>
                <a:cs typeface="Google Sans"/>
                <a:sym typeface="Google Sans"/>
              </a:rPr>
              <a:t>Evaluasi Implementasi </a:t>
            </a:r>
            <a:endParaRPr b="1" sz="1000">
              <a:solidFill>
                <a:srgbClr val="1F3567"/>
              </a:solidFill>
              <a:latin typeface="Google Sans"/>
              <a:ea typeface="Google Sans"/>
              <a:cs typeface="Google Sans"/>
              <a:sym typeface="Google Sans"/>
            </a:endParaRPr>
          </a:p>
        </p:txBody>
      </p:sp>
      <p:sp>
        <p:nvSpPr>
          <p:cNvPr id="226" name="Google Shape;226;p16"/>
          <p:cNvSpPr/>
          <p:nvPr/>
        </p:nvSpPr>
        <p:spPr>
          <a:xfrm>
            <a:off x="234500" y="4345350"/>
            <a:ext cx="8627700" cy="7269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p>
        </p:txBody>
      </p:sp>
      <p:sp>
        <p:nvSpPr>
          <p:cNvPr id="227" name="Google Shape;227;p16"/>
          <p:cNvSpPr txBox="1"/>
          <p:nvPr/>
        </p:nvSpPr>
        <p:spPr>
          <a:xfrm>
            <a:off x="417994" y="4416300"/>
            <a:ext cx="1513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500">
                <a:solidFill>
                  <a:schemeClr val="lt1"/>
                </a:solidFill>
                <a:latin typeface="Inter"/>
                <a:ea typeface="Inter"/>
                <a:cs typeface="Inter"/>
                <a:sym typeface="Inter"/>
              </a:rPr>
              <a:t>MANFAAT </a:t>
            </a:r>
            <a:endParaRPr b="1" sz="1500">
              <a:solidFill>
                <a:schemeClr val="lt1"/>
              </a:solidFill>
              <a:latin typeface="Inter"/>
              <a:ea typeface="Inter"/>
              <a:cs typeface="Inter"/>
              <a:sym typeface="Inter"/>
            </a:endParaRPr>
          </a:p>
          <a:p>
            <a:pPr indent="0" lvl="0" marL="0" rtl="0" algn="l">
              <a:spcBef>
                <a:spcPts val="0"/>
              </a:spcBef>
              <a:spcAft>
                <a:spcPts val="0"/>
              </a:spcAft>
              <a:buNone/>
            </a:pPr>
            <a:r>
              <a:rPr b="1" lang="id" sz="1500">
                <a:solidFill>
                  <a:schemeClr val="lt1"/>
                </a:solidFill>
                <a:latin typeface="Inter"/>
                <a:ea typeface="Inter"/>
                <a:cs typeface="Inter"/>
                <a:sym typeface="Inter"/>
              </a:rPr>
              <a:t>SAFE EXIT</a:t>
            </a:r>
            <a:endParaRPr b="1" sz="1500">
              <a:solidFill>
                <a:schemeClr val="lt1"/>
              </a:solidFill>
              <a:latin typeface="Inter"/>
              <a:ea typeface="Inter"/>
              <a:cs typeface="Inter"/>
              <a:sym typeface="Inter"/>
            </a:endParaRPr>
          </a:p>
        </p:txBody>
      </p:sp>
      <p:sp>
        <p:nvSpPr>
          <p:cNvPr id="228" name="Google Shape;228;p16"/>
          <p:cNvSpPr/>
          <p:nvPr/>
        </p:nvSpPr>
        <p:spPr>
          <a:xfrm>
            <a:off x="1873469" y="4400750"/>
            <a:ext cx="2100900" cy="2379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dk1"/>
                </a:solidFill>
                <a:latin typeface="Google Sans"/>
                <a:ea typeface="Google Sans"/>
                <a:cs typeface="Google Sans"/>
                <a:sym typeface="Google Sans"/>
              </a:rPr>
              <a:t>Akademis</a:t>
            </a:r>
            <a:endParaRPr b="1" sz="1200">
              <a:solidFill>
                <a:schemeClr val="dk1"/>
              </a:solidFill>
              <a:latin typeface="Google Sans"/>
              <a:ea typeface="Google Sans"/>
              <a:cs typeface="Google Sans"/>
              <a:sym typeface="Google Sans"/>
            </a:endParaRPr>
          </a:p>
        </p:txBody>
      </p:sp>
      <p:sp>
        <p:nvSpPr>
          <p:cNvPr id="229" name="Google Shape;229;p16"/>
          <p:cNvSpPr/>
          <p:nvPr/>
        </p:nvSpPr>
        <p:spPr>
          <a:xfrm>
            <a:off x="4192841" y="4400750"/>
            <a:ext cx="2100900" cy="2379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dk1"/>
                </a:solidFill>
                <a:latin typeface="Google Sans"/>
                <a:ea typeface="Google Sans"/>
                <a:cs typeface="Google Sans"/>
                <a:sym typeface="Google Sans"/>
              </a:rPr>
              <a:t>Praktis</a:t>
            </a:r>
            <a:endParaRPr b="1" sz="1200">
              <a:solidFill>
                <a:schemeClr val="dk1"/>
              </a:solidFill>
              <a:latin typeface="Google Sans"/>
              <a:ea typeface="Google Sans"/>
              <a:cs typeface="Google Sans"/>
              <a:sym typeface="Google Sans"/>
            </a:endParaRPr>
          </a:p>
        </p:txBody>
      </p:sp>
      <p:sp>
        <p:nvSpPr>
          <p:cNvPr id="230" name="Google Shape;230;p16"/>
          <p:cNvSpPr/>
          <p:nvPr/>
        </p:nvSpPr>
        <p:spPr>
          <a:xfrm>
            <a:off x="6512213" y="4400750"/>
            <a:ext cx="2100900" cy="2379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chemeClr val="dk1"/>
                </a:solidFill>
                <a:latin typeface="Google Sans"/>
                <a:ea typeface="Google Sans"/>
                <a:cs typeface="Google Sans"/>
                <a:sym typeface="Google Sans"/>
              </a:rPr>
              <a:t>Teknologis</a:t>
            </a:r>
            <a:endParaRPr b="1" sz="1200">
              <a:solidFill>
                <a:schemeClr val="dk1"/>
              </a:solidFill>
              <a:latin typeface="Google Sans"/>
              <a:ea typeface="Google Sans"/>
              <a:cs typeface="Google Sans"/>
              <a:sym typeface="Google Sans"/>
            </a:endParaRPr>
          </a:p>
        </p:txBody>
      </p:sp>
      <p:sp>
        <p:nvSpPr>
          <p:cNvPr id="231" name="Google Shape;231;p16"/>
          <p:cNvSpPr txBox="1"/>
          <p:nvPr/>
        </p:nvSpPr>
        <p:spPr>
          <a:xfrm>
            <a:off x="1628670" y="4690225"/>
            <a:ext cx="2620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200">
                <a:solidFill>
                  <a:schemeClr val="lt1"/>
                </a:solidFill>
                <a:latin typeface="Inter"/>
                <a:ea typeface="Inter"/>
                <a:cs typeface="Inter"/>
                <a:sym typeface="Inter"/>
              </a:rPr>
              <a:t>Kolaborasi Interdisiplin </a:t>
            </a:r>
            <a:endParaRPr b="1" sz="1200">
              <a:solidFill>
                <a:schemeClr val="lt1"/>
              </a:solidFill>
              <a:latin typeface="Inter"/>
              <a:ea typeface="Inter"/>
              <a:cs typeface="Inter"/>
              <a:sym typeface="Inter"/>
            </a:endParaRPr>
          </a:p>
        </p:txBody>
      </p:sp>
      <p:sp>
        <p:nvSpPr>
          <p:cNvPr id="232" name="Google Shape;232;p16"/>
          <p:cNvSpPr txBox="1"/>
          <p:nvPr/>
        </p:nvSpPr>
        <p:spPr>
          <a:xfrm>
            <a:off x="4554507" y="4690225"/>
            <a:ext cx="1408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200">
                <a:solidFill>
                  <a:schemeClr val="lt1"/>
                </a:solidFill>
                <a:latin typeface="Google Sans"/>
                <a:ea typeface="Google Sans"/>
                <a:cs typeface="Google Sans"/>
                <a:sym typeface="Google Sans"/>
              </a:rPr>
              <a:t>Evakuasi Adaptif </a:t>
            </a:r>
            <a:endParaRPr b="1" sz="1200">
              <a:solidFill>
                <a:schemeClr val="lt1"/>
              </a:solidFill>
              <a:latin typeface="Google Sans"/>
              <a:ea typeface="Google Sans"/>
              <a:cs typeface="Google Sans"/>
              <a:sym typeface="Google Sans"/>
            </a:endParaRPr>
          </a:p>
        </p:txBody>
      </p:sp>
      <p:sp>
        <p:nvSpPr>
          <p:cNvPr id="233" name="Google Shape;233;p16"/>
          <p:cNvSpPr txBox="1"/>
          <p:nvPr/>
        </p:nvSpPr>
        <p:spPr>
          <a:xfrm>
            <a:off x="6527575" y="4690225"/>
            <a:ext cx="2100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200">
                <a:solidFill>
                  <a:schemeClr val="lt1"/>
                </a:solidFill>
                <a:latin typeface="Google Sans"/>
                <a:ea typeface="Google Sans"/>
                <a:cs typeface="Google Sans"/>
                <a:sym typeface="Google Sans"/>
              </a:rPr>
              <a:t>Inovasi Keselamatan </a:t>
            </a:r>
            <a:endParaRPr b="1" sz="1200">
              <a:solidFill>
                <a:schemeClr val="lt1"/>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p:nvPr/>
        </p:nvSpPr>
        <p:spPr>
          <a:xfrm>
            <a:off x="4635125" y="2957078"/>
            <a:ext cx="1168200" cy="858300"/>
          </a:xfrm>
          <a:prstGeom prst="roundRect">
            <a:avLst>
              <a:gd fmla="val 2727" name="adj"/>
            </a:avLst>
          </a:prstGeom>
          <a:solidFill>
            <a:srgbClr val="537E9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Existing</a:t>
            </a:r>
            <a:endParaRPr b="1" sz="1200">
              <a:solidFill>
                <a:schemeClr val="lt1"/>
              </a:solidFill>
              <a:latin typeface="Inter"/>
              <a:ea typeface="Inter"/>
              <a:cs typeface="Inter"/>
              <a:sym typeface="Inter"/>
            </a:endParaRPr>
          </a:p>
          <a:p>
            <a:pPr indent="0" lvl="0" marL="0" rtl="0" algn="l">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Adaptive Systems</a:t>
            </a:r>
            <a:endParaRPr sz="1300">
              <a:solidFill>
                <a:schemeClr val="lt1"/>
              </a:solidFill>
              <a:latin typeface="Inter"/>
              <a:ea typeface="Inter"/>
              <a:cs typeface="Inter"/>
              <a:sym typeface="Inter"/>
            </a:endParaRPr>
          </a:p>
        </p:txBody>
      </p:sp>
      <p:sp>
        <p:nvSpPr>
          <p:cNvPr id="239" name="Google Shape;239;p17"/>
          <p:cNvSpPr/>
          <p:nvPr/>
        </p:nvSpPr>
        <p:spPr>
          <a:xfrm>
            <a:off x="5803200" y="2957077"/>
            <a:ext cx="2784900" cy="858300"/>
          </a:xfrm>
          <a:prstGeom prst="rect">
            <a:avLst/>
          </a:prstGeom>
          <a:solidFill>
            <a:schemeClr val="lt2"/>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292100" lvl="0" marL="457200" rtl="0" algn="l">
              <a:lnSpc>
                <a:spcPct val="115000"/>
              </a:lnSpc>
              <a:spcBef>
                <a:spcPts val="1200"/>
              </a:spcBef>
              <a:spcAft>
                <a:spcPts val="0"/>
              </a:spcAft>
              <a:buClr>
                <a:schemeClr val="dk1"/>
              </a:buClr>
              <a:buSzPts val="1000"/>
              <a:buChar char="●"/>
            </a:pPr>
            <a:r>
              <a:rPr b="1" lang="id" sz="900">
                <a:solidFill>
                  <a:schemeClr val="dk1"/>
                </a:solidFill>
                <a:latin typeface="Google Sans"/>
                <a:ea typeface="Google Sans"/>
                <a:cs typeface="Google Sans"/>
                <a:sym typeface="Google Sans"/>
              </a:rPr>
              <a:t>Sudah adaptif, namun masih:</a:t>
            </a:r>
            <a:endParaRPr b="1" sz="900">
              <a:solidFill>
                <a:schemeClr val="dk1"/>
              </a:solidFill>
              <a:latin typeface="Google Sans"/>
              <a:ea typeface="Google Sans"/>
              <a:cs typeface="Google Sans"/>
              <a:sym typeface="Google Sans"/>
            </a:endParaRPr>
          </a:p>
          <a:p>
            <a:pPr indent="-292100" lvl="1" marL="914400" rtl="0" algn="l">
              <a:lnSpc>
                <a:spcPct val="115000"/>
              </a:lnSpc>
              <a:spcBef>
                <a:spcPts val="0"/>
              </a:spcBef>
              <a:spcAft>
                <a:spcPts val="0"/>
              </a:spcAft>
              <a:buClr>
                <a:schemeClr val="dk1"/>
              </a:buClr>
              <a:buSzPts val="1000"/>
              <a:buChar char="○"/>
            </a:pPr>
            <a:r>
              <a:rPr lang="id" sz="900">
                <a:solidFill>
                  <a:schemeClr val="dk1"/>
                </a:solidFill>
                <a:latin typeface="Google Sans"/>
                <a:ea typeface="Google Sans"/>
                <a:cs typeface="Google Sans"/>
                <a:sym typeface="Google Sans"/>
              </a:rPr>
              <a:t>bergantung panel sentral</a:t>
            </a:r>
            <a:endParaRPr sz="900">
              <a:solidFill>
                <a:schemeClr val="dk1"/>
              </a:solidFill>
              <a:latin typeface="Google Sans"/>
              <a:ea typeface="Google Sans"/>
              <a:cs typeface="Google Sans"/>
              <a:sym typeface="Google Sans"/>
            </a:endParaRPr>
          </a:p>
          <a:p>
            <a:pPr indent="-292100" lvl="1" marL="914400" rtl="0" algn="l">
              <a:lnSpc>
                <a:spcPct val="115000"/>
              </a:lnSpc>
              <a:spcBef>
                <a:spcPts val="0"/>
              </a:spcBef>
              <a:spcAft>
                <a:spcPts val="0"/>
              </a:spcAft>
              <a:buClr>
                <a:schemeClr val="dk1"/>
              </a:buClr>
              <a:buSzPts val="1000"/>
              <a:buChar char="○"/>
            </a:pPr>
            <a:r>
              <a:rPr lang="id" sz="900">
                <a:solidFill>
                  <a:schemeClr val="dk1"/>
                </a:solidFill>
                <a:latin typeface="Google Sans"/>
                <a:ea typeface="Google Sans"/>
                <a:cs typeface="Google Sans"/>
                <a:sym typeface="Google Sans"/>
              </a:rPr>
              <a:t>kurang optimal pada asap tebal</a:t>
            </a:r>
            <a:endParaRPr sz="900">
              <a:solidFill>
                <a:schemeClr val="dk1"/>
              </a:solidFill>
              <a:latin typeface="Google Sans"/>
              <a:ea typeface="Google Sans"/>
              <a:cs typeface="Google Sans"/>
              <a:sym typeface="Google Sans"/>
            </a:endParaRPr>
          </a:p>
          <a:p>
            <a:pPr indent="-292100" lvl="1" marL="914400" rtl="0" algn="l">
              <a:lnSpc>
                <a:spcPct val="115000"/>
              </a:lnSpc>
              <a:spcBef>
                <a:spcPts val="0"/>
              </a:spcBef>
              <a:spcAft>
                <a:spcPts val="0"/>
              </a:spcAft>
              <a:buClr>
                <a:schemeClr val="dk1"/>
              </a:buClr>
              <a:buSzPts val="1000"/>
              <a:buChar char="○"/>
            </a:pPr>
            <a:r>
              <a:rPr lang="id" sz="900">
                <a:solidFill>
                  <a:schemeClr val="dk1"/>
                </a:solidFill>
                <a:latin typeface="Google Sans"/>
                <a:ea typeface="Google Sans"/>
                <a:cs typeface="Google Sans"/>
                <a:sym typeface="Google Sans"/>
              </a:rPr>
              <a:t>tidak floor-based</a:t>
            </a:r>
            <a:endParaRPr sz="900">
              <a:solidFill>
                <a:schemeClr val="dk1"/>
              </a:solidFill>
              <a:latin typeface="Google Sans"/>
              <a:ea typeface="Google Sans"/>
              <a:cs typeface="Google Sans"/>
              <a:sym typeface="Google Sans"/>
            </a:endParaRPr>
          </a:p>
        </p:txBody>
      </p:sp>
      <p:pic>
        <p:nvPicPr>
          <p:cNvPr id="240" name="Google Shape;240;p17"/>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241" name="Google Shape;241;p17"/>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7"/>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17"/>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17"/>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7"/>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17"/>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2</a:t>
            </a:r>
            <a:endParaRPr b="1" i="1" sz="1500">
              <a:solidFill>
                <a:srgbClr val="20124D"/>
              </a:solidFill>
              <a:latin typeface="Inter"/>
              <a:ea typeface="Inter"/>
              <a:cs typeface="Inter"/>
              <a:sym typeface="Inter"/>
            </a:endParaRPr>
          </a:p>
        </p:txBody>
      </p:sp>
      <p:sp>
        <p:nvSpPr>
          <p:cNvPr id="247" name="Google Shape;247;p17"/>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8" name="Google Shape;248;p17"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249" name="Google Shape;249;p17"/>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250" name="Google Shape;250;p17"/>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Relevansi dan Kualitas Pustaka</a:t>
            </a:r>
            <a:r>
              <a:rPr lang="id" sz="1200">
                <a:solidFill>
                  <a:srgbClr val="3A6D8C"/>
                </a:solidFill>
                <a:latin typeface="Inter"/>
                <a:ea typeface="Inter"/>
                <a:cs typeface="Inter"/>
                <a:sym typeface="Inter"/>
              </a:rPr>
              <a:t> </a:t>
            </a:r>
            <a:endParaRPr b="1" sz="1200">
              <a:solidFill>
                <a:srgbClr val="3A6D8C"/>
              </a:solidFill>
              <a:latin typeface="Inter"/>
              <a:ea typeface="Inter"/>
              <a:cs typeface="Inter"/>
              <a:sym typeface="Inter"/>
            </a:endParaRPr>
          </a:p>
        </p:txBody>
      </p:sp>
      <p:sp>
        <p:nvSpPr>
          <p:cNvPr id="251" name="Google Shape;251;p17"/>
          <p:cNvSpPr/>
          <p:nvPr/>
        </p:nvSpPr>
        <p:spPr>
          <a:xfrm>
            <a:off x="1412775" y="1442050"/>
            <a:ext cx="2598900" cy="711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7"/>
          <p:cNvSpPr txBox="1"/>
          <p:nvPr/>
        </p:nvSpPr>
        <p:spPr>
          <a:xfrm>
            <a:off x="4577400" y="4690225"/>
            <a:ext cx="1225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Evakuasi Adaptif </a:t>
            </a:r>
            <a:endParaRPr b="1" sz="1000">
              <a:solidFill>
                <a:schemeClr val="lt1"/>
              </a:solidFill>
              <a:latin typeface="Google Sans"/>
              <a:ea typeface="Google Sans"/>
              <a:cs typeface="Google Sans"/>
              <a:sym typeface="Google Sans"/>
            </a:endParaRPr>
          </a:p>
        </p:txBody>
      </p:sp>
      <p:sp>
        <p:nvSpPr>
          <p:cNvPr id="253" name="Google Shape;253;p17"/>
          <p:cNvSpPr txBox="1"/>
          <p:nvPr/>
        </p:nvSpPr>
        <p:spPr>
          <a:xfrm>
            <a:off x="6295200" y="4690225"/>
            <a:ext cx="1828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000">
                <a:solidFill>
                  <a:schemeClr val="lt1"/>
                </a:solidFill>
                <a:latin typeface="Google Sans"/>
                <a:ea typeface="Google Sans"/>
                <a:cs typeface="Google Sans"/>
                <a:sym typeface="Google Sans"/>
              </a:rPr>
              <a:t>Inovasi Keselamatan </a:t>
            </a:r>
            <a:endParaRPr b="1" sz="1000">
              <a:solidFill>
                <a:schemeClr val="lt1"/>
              </a:solidFill>
              <a:latin typeface="Google Sans"/>
              <a:ea typeface="Google Sans"/>
              <a:cs typeface="Google Sans"/>
              <a:sym typeface="Google Sans"/>
            </a:endParaRPr>
          </a:p>
        </p:txBody>
      </p:sp>
      <p:sp>
        <p:nvSpPr>
          <p:cNvPr id="254" name="Google Shape;254;p17"/>
          <p:cNvSpPr txBox="1"/>
          <p:nvPr/>
        </p:nvSpPr>
        <p:spPr>
          <a:xfrm>
            <a:off x="1587721" y="1481166"/>
            <a:ext cx="23292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id" sz="1100">
                <a:latin typeface="Google Sans"/>
                <a:ea typeface="Google Sans"/>
                <a:cs typeface="Google Sans"/>
                <a:sym typeface="Google Sans"/>
              </a:rPr>
              <a:t>Asap mengurangi visibilitas rambu evakuasi</a:t>
            </a:r>
            <a:endParaRPr b="1" sz="1100">
              <a:latin typeface="Google Sans"/>
              <a:ea typeface="Google Sans"/>
              <a:cs typeface="Google Sans"/>
              <a:sym typeface="Google Sans"/>
            </a:endParaRPr>
          </a:p>
        </p:txBody>
      </p:sp>
      <p:sp>
        <p:nvSpPr>
          <p:cNvPr id="255" name="Google Shape;255;p17"/>
          <p:cNvSpPr/>
          <p:nvPr/>
        </p:nvSpPr>
        <p:spPr>
          <a:xfrm>
            <a:off x="1412775" y="2286008"/>
            <a:ext cx="2598900" cy="711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7"/>
          <p:cNvSpPr txBox="1"/>
          <p:nvPr/>
        </p:nvSpPr>
        <p:spPr>
          <a:xfrm>
            <a:off x="1562083" y="2374759"/>
            <a:ext cx="23292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id" sz="1100">
                <a:latin typeface="Google Sans"/>
                <a:ea typeface="Google Sans"/>
                <a:cs typeface="Google Sans"/>
                <a:sym typeface="Google Sans"/>
              </a:rPr>
              <a:t>Jalur evakuasi konvensional bersifat statis.</a:t>
            </a:r>
            <a:endParaRPr b="1" sz="1100">
              <a:latin typeface="Google Sans"/>
              <a:ea typeface="Google Sans"/>
              <a:cs typeface="Google Sans"/>
              <a:sym typeface="Google Sans"/>
            </a:endParaRPr>
          </a:p>
        </p:txBody>
      </p:sp>
      <p:sp>
        <p:nvSpPr>
          <p:cNvPr id="257" name="Google Shape;257;p17"/>
          <p:cNvSpPr/>
          <p:nvPr/>
        </p:nvSpPr>
        <p:spPr>
          <a:xfrm>
            <a:off x="1412775" y="3145173"/>
            <a:ext cx="2598900" cy="711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7"/>
          <p:cNvSpPr txBox="1"/>
          <p:nvPr/>
        </p:nvSpPr>
        <p:spPr>
          <a:xfrm>
            <a:off x="1574308" y="3194251"/>
            <a:ext cx="23292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id" sz="1100">
                <a:latin typeface="Google Sans"/>
                <a:ea typeface="Google Sans"/>
                <a:cs typeface="Google Sans"/>
                <a:sym typeface="Google Sans"/>
              </a:rPr>
              <a:t>Sistem harus mampu beradaptasi secara real-time</a:t>
            </a:r>
            <a:endParaRPr b="1" sz="1100">
              <a:latin typeface="Google Sans"/>
              <a:ea typeface="Google Sans"/>
              <a:cs typeface="Google Sans"/>
              <a:sym typeface="Google Sans"/>
            </a:endParaRPr>
          </a:p>
        </p:txBody>
      </p:sp>
      <p:pic>
        <p:nvPicPr>
          <p:cNvPr id="259" name="Google Shape;259;p17"/>
          <p:cNvPicPr preferRelativeResize="0"/>
          <p:nvPr/>
        </p:nvPicPr>
        <p:blipFill>
          <a:blip r:embed="rId5">
            <a:alphaModFix/>
          </a:blip>
          <a:stretch>
            <a:fillRect/>
          </a:stretch>
        </p:blipFill>
        <p:spPr>
          <a:xfrm>
            <a:off x="354356" y="1435976"/>
            <a:ext cx="797206" cy="702309"/>
          </a:xfrm>
          <a:prstGeom prst="rect">
            <a:avLst/>
          </a:prstGeom>
          <a:noFill/>
          <a:ln>
            <a:noFill/>
          </a:ln>
        </p:spPr>
      </p:pic>
      <p:pic>
        <p:nvPicPr>
          <p:cNvPr id="260" name="Google Shape;260;p17"/>
          <p:cNvPicPr preferRelativeResize="0"/>
          <p:nvPr/>
        </p:nvPicPr>
        <p:blipFill>
          <a:blip r:embed="rId6">
            <a:alphaModFix/>
          </a:blip>
          <a:stretch>
            <a:fillRect/>
          </a:stretch>
        </p:blipFill>
        <p:spPr>
          <a:xfrm>
            <a:off x="340572" y="2349781"/>
            <a:ext cx="759709" cy="669267"/>
          </a:xfrm>
          <a:prstGeom prst="rect">
            <a:avLst/>
          </a:prstGeom>
          <a:noFill/>
          <a:ln>
            <a:noFill/>
          </a:ln>
        </p:spPr>
      </p:pic>
      <p:pic>
        <p:nvPicPr>
          <p:cNvPr id="261" name="Google Shape;261;p17"/>
          <p:cNvPicPr preferRelativeResize="0"/>
          <p:nvPr/>
        </p:nvPicPr>
        <p:blipFill>
          <a:blip r:embed="rId7">
            <a:alphaModFix/>
          </a:blip>
          <a:stretch>
            <a:fillRect/>
          </a:stretch>
        </p:blipFill>
        <p:spPr>
          <a:xfrm>
            <a:off x="370553" y="3230550"/>
            <a:ext cx="699752" cy="616465"/>
          </a:xfrm>
          <a:prstGeom prst="rect">
            <a:avLst/>
          </a:prstGeom>
          <a:noFill/>
          <a:ln>
            <a:noFill/>
          </a:ln>
        </p:spPr>
      </p:pic>
      <p:sp>
        <p:nvSpPr>
          <p:cNvPr id="262" name="Google Shape;262;p17"/>
          <p:cNvSpPr/>
          <p:nvPr/>
        </p:nvSpPr>
        <p:spPr>
          <a:xfrm>
            <a:off x="4635125" y="1402142"/>
            <a:ext cx="1168200" cy="692700"/>
          </a:xfrm>
          <a:prstGeom prst="roundRect">
            <a:avLst>
              <a:gd fmla="val 0" name="adj"/>
            </a:avLst>
          </a:prstGeom>
          <a:solidFill>
            <a:srgbClr val="537E9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Jin (1997)</a:t>
            </a:r>
            <a:endParaRPr sz="1300">
              <a:solidFill>
                <a:schemeClr val="lt1"/>
              </a:solidFill>
              <a:latin typeface="Inter"/>
              <a:ea typeface="Inter"/>
              <a:cs typeface="Inter"/>
              <a:sym typeface="Inter"/>
            </a:endParaRPr>
          </a:p>
        </p:txBody>
      </p:sp>
      <p:sp>
        <p:nvSpPr>
          <p:cNvPr id="263" name="Google Shape;263;p17"/>
          <p:cNvSpPr/>
          <p:nvPr/>
        </p:nvSpPr>
        <p:spPr>
          <a:xfrm>
            <a:off x="4635125" y="2231765"/>
            <a:ext cx="1168200" cy="551400"/>
          </a:xfrm>
          <a:prstGeom prst="roundRect">
            <a:avLst>
              <a:gd fmla="val 1881" name="adj"/>
            </a:avLst>
          </a:prstGeom>
          <a:solidFill>
            <a:srgbClr val="537E9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Sujatmiko et</a:t>
            </a:r>
            <a:endParaRPr b="1" sz="1200">
              <a:solidFill>
                <a:schemeClr val="lt1"/>
              </a:solidFill>
              <a:latin typeface="Inter"/>
              <a:ea typeface="Inter"/>
              <a:cs typeface="Inter"/>
              <a:sym typeface="Inter"/>
            </a:endParaRPr>
          </a:p>
          <a:p>
            <a:pPr indent="0" lvl="0" marL="0" rtl="0" algn="l">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al. (2014)</a:t>
            </a:r>
            <a:endParaRPr sz="1300">
              <a:solidFill>
                <a:schemeClr val="lt1"/>
              </a:solidFill>
              <a:latin typeface="Inter"/>
              <a:ea typeface="Inter"/>
              <a:cs typeface="Inter"/>
              <a:sym typeface="Inter"/>
            </a:endParaRPr>
          </a:p>
        </p:txBody>
      </p:sp>
      <p:sp>
        <p:nvSpPr>
          <p:cNvPr id="264" name="Google Shape;264;p17"/>
          <p:cNvSpPr/>
          <p:nvPr/>
        </p:nvSpPr>
        <p:spPr>
          <a:xfrm>
            <a:off x="5803200" y="1402125"/>
            <a:ext cx="2784900" cy="692700"/>
          </a:xfrm>
          <a:prstGeom prst="rect">
            <a:avLst/>
          </a:prstGeom>
          <a:solidFill>
            <a:schemeClr val="lt2"/>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292100" lvl="0" marL="457200" rtl="0" algn="l">
              <a:lnSpc>
                <a:spcPct val="115000"/>
              </a:lnSpc>
              <a:spcBef>
                <a:spcPts val="1200"/>
              </a:spcBef>
              <a:spcAft>
                <a:spcPts val="0"/>
              </a:spcAft>
              <a:buClr>
                <a:schemeClr val="dk1"/>
              </a:buClr>
              <a:buSzPts val="1000"/>
              <a:buChar char="●"/>
            </a:pPr>
            <a:r>
              <a:rPr lang="id" sz="900">
                <a:latin typeface="Google Sans"/>
                <a:ea typeface="Google Sans"/>
                <a:cs typeface="Google Sans"/>
                <a:sym typeface="Google Sans"/>
              </a:rPr>
              <a:t>Membahas pengaruh asap terhadap evakuasi</a:t>
            </a:r>
            <a:endParaRPr sz="900">
              <a:latin typeface="Google Sans"/>
              <a:ea typeface="Google Sans"/>
              <a:cs typeface="Google Sans"/>
              <a:sym typeface="Google Sans"/>
            </a:endParaRPr>
          </a:p>
          <a:p>
            <a:pPr indent="-292100" lvl="0" marL="457200" rtl="0" algn="l">
              <a:lnSpc>
                <a:spcPct val="115000"/>
              </a:lnSpc>
              <a:spcBef>
                <a:spcPts val="0"/>
              </a:spcBef>
              <a:spcAft>
                <a:spcPts val="0"/>
              </a:spcAft>
              <a:buClr>
                <a:schemeClr val="dk1"/>
              </a:buClr>
              <a:buSzPts val="1000"/>
              <a:buChar char="●"/>
            </a:pPr>
            <a:r>
              <a:rPr lang="id" sz="900">
                <a:latin typeface="Google Sans"/>
                <a:ea typeface="Google Sans"/>
                <a:cs typeface="Google Sans"/>
                <a:sym typeface="Google Sans"/>
              </a:rPr>
              <a:t>Relevan untuk dasar visual guidance system</a:t>
            </a:r>
            <a:endParaRPr sz="900">
              <a:latin typeface="Google Sans"/>
              <a:ea typeface="Google Sans"/>
              <a:cs typeface="Google Sans"/>
              <a:sym typeface="Google Sans"/>
            </a:endParaRPr>
          </a:p>
        </p:txBody>
      </p:sp>
      <p:sp>
        <p:nvSpPr>
          <p:cNvPr id="265" name="Google Shape;265;p17"/>
          <p:cNvSpPr/>
          <p:nvPr/>
        </p:nvSpPr>
        <p:spPr>
          <a:xfrm>
            <a:off x="5803200" y="2231749"/>
            <a:ext cx="2784900" cy="551400"/>
          </a:xfrm>
          <a:prstGeom prst="rect">
            <a:avLst/>
          </a:prstGeom>
          <a:solidFill>
            <a:schemeClr val="lt2"/>
          </a:solidFill>
          <a:ln cap="flat" cmpd="sng" w="9525">
            <a:solidFill>
              <a:srgbClr val="04153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292100" lvl="0" marL="457200" rtl="0" algn="l">
              <a:lnSpc>
                <a:spcPct val="115000"/>
              </a:lnSpc>
              <a:spcBef>
                <a:spcPts val="1200"/>
              </a:spcBef>
              <a:spcAft>
                <a:spcPts val="0"/>
              </a:spcAft>
              <a:buClr>
                <a:schemeClr val="dk1"/>
              </a:buClr>
              <a:buSzPts val="1000"/>
              <a:buChar char="●"/>
            </a:pPr>
            <a:r>
              <a:rPr lang="id" sz="900">
                <a:solidFill>
                  <a:schemeClr val="dk1"/>
                </a:solidFill>
                <a:latin typeface="Google Sans"/>
                <a:ea typeface="Google Sans"/>
                <a:cs typeface="Google Sans"/>
                <a:sym typeface="Google Sans"/>
              </a:rPr>
              <a:t>Membahas waktu evakuasi gedung</a:t>
            </a:r>
            <a:endParaRPr sz="900">
              <a:solidFill>
                <a:schemeClr val="dk1"/>
              </a:solidFill>
              <a:latin typeface="Google Sans"/>
              <a:ea typeface="Google Sans"/>
              <a:cs typeface="Google Sans"/>
              <a:sym typeface="Google Sans"/>
            </a:endParaRPr>
          </a:p>
          <a:p>
            <a:pPr indent="-292100" lvl="0" marL="457200" rtl="0" algn="l">
              <a:lnSpc>
                <a:spcPct val="115000"/>
              </a:lnSpc>
              <a:spcBef>
                <a:spcPts val="0"/>
              </a:spcBef>
              <a:spcAft>
                <a:spcPts val="0"/>
              </a:spcAft>
              <a:buClr>
                <a:schemeClr val="dk1"/>
              </a:buClr>
              <a:buSzPts val="1000"/>
              <a:buChar char="●"/>
            </a:pPr>
            <a:r>
              <a:rPr lang="id" sz="900">
                <a:solidFill>
                  <a:schemeClr val="dk1"/>
                </a:solidFill>
                <a:latin typeface="Google Sans"/>
                <a:ea typeface="Google Sans"/>
                <a:cs typeface="Google Sans"/>
                <a:sym typeface="Google Sans"/>
              </a:rPr>
              <a:t>Mendukung urgensi optimasi jalur evakuasi</a:t>
            </a:r>
            <a:endParaRPr sz="900">
              <a:solidFill>
                <a:schemeClr val="dk1"/>
              </a:solidFill>
              <a:latin typeface="Google Sans"/>
              <a:ea typeface="Google Sans"/>
              <a:cs typeface="Google Sans"/>
              <a:sym typeface="Google Sans"/>
            </a:endParaRPr>
          </a:p>
        </p:txBody>
      </p:sp>
      <p:sp>
        <p:nvSpPr>
          <p:cNvPr id="266" name="Google Shape;266;p17"/>
          <p:cNvSpPr/>
          <p:nvPr/>
        </p:nvSpPr>
        <p:spPr>
          <a:xfrm>
            <a:off x="2550298" y="4487050"/>
            <a:ext cx="6253500" cy="351600"/>
          </a:xfrm>
          <a:prstGeom prst="roundRect">
            <a:avLst>
              <a:gd fmla="val 16667" name="adj"/>
            </a:avLst>
          </a:prstGeom>
          <a:solidFill>
            <a:schemeClr val="lt1"/>
          </a:solidFill>
          <a:ln cap="flat" cmpd="sng" w="19050">
            <a:solidFill>
              <a:srgbClr val="1F3567"/>
            </a:solidFill>
            <a:prstDash val="lg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d" sz="1200">
                <a:latin typeface="Google Sans"/>
                <a:ea typeface="Google Sans"/>
                <a:cs typeface="Google Sans"/>
                <a:sym typeface="Google Sans"/>
              </a:rPr>
              <a:t>menawarkan navigasi evakuasi adaptif berbasis lantai secara mandiri dan real-time</a:t>
            </a:r>
            <a:endParaRPr sz="1200">
              <a:latin typeface="Google Sans"/>
              <a:ea typeface="Google Sans"/>
              <a:cs typeface="Google Sans"/>
              <a:sym typeface="Google Sans"/>
            </a:endParaRPr>
          </a:p>
        </p:txBody>
      </p:sp>
      <p:sp>
        <p:nvSpPr>
          <p:cNvPr id="267" name="Google Shape;267;p17"/>
          <p:cNvSpPr/>
          <p:nvPr/>
        </p:nvSpPr>
        <p:spPr>
          <a:xfrm>
            <a:off x="340225" y="4411250"/>
            <a:ext cx="2282700" cy="486000"/>
          </a:xfrm>
          <a:prstGeom prst="roundRect">
            <a:avLst>
              <a:gd fmla="val 16667" name="adj"/>
            </a:avLst>
          </a:prstGeom>
          <a:solidFill>
            <a:srgbClr val="1F3567"/>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i="1" lang="id" sz="2400">
                <a:solidFill>
                  <a:schemeClr val="lt1"/>
                </a:solidFill>
              </a:rPr>
              <a:t>SAFE-EXIT</a:t>
            </a:r>
            <a:endParaRPr b="1" i="1" sz="2400">
              <a:solidFill>
                <a:schemeClr val="lt1"/>
              </a:solidFill>
            </a:endParaRPr>
          </a:p>
        </p:txBody>
      </p:sp>
      <p:sp>
        <p:nvSpPr>
          <p:cNvPr id="268" name="Google Shape;268;p17"/>
          <p:cNvSpPr/>
          <p:nvPr/>
        </p:nvSpPr>
        <p:spPr>
          <a:xfrm>
            <a:off x="385575" y="970375"/>
            <a:ext cx="36261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Masalah Utama</a:t>
            </a:r>
            <a:endParaRPr sz="1300">
              <a:solidFill>
                <a:schemeClr val="lt1"/>
              </a:solidFill>
              <a:latin typeface="Inter"/>
              <a:ea typeface="Inter"/>
              <a:cs typeface="Inter"/>
              <a:sym typeface="Inter"/>
            </a:endParaRPr>
          </a:p>
        </p:txBody>
      </p:sp>
      <p:sp>
        <p:nvSpPr>
          <p:cNvPr id="269" name="Google Shape;269;p17"/>
          <p:cNvSpPr/>
          <p:nvPr/>
        </p:nvSpPr>
        <p:spPr>
          <a:xfrm>
            <a:off x="4635125" y="959950"/>
            <a:ext cx="39531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Evaluasi Literatur</a:t>
            </a:r>
            <a:endParaRPr sz="1300">
              <a:solidFill>
                <a:schemeClr val="lt1"/>
              </a:solidFill>
              <a:latin typeface="Inter"/>
              <a:ea typeface="Inter"/>
              <a:cs typeface="Inter"/>
              <a:sym typeface="Inter"/>
            </a:endParaRPr>
          </a:p>
        </p:txBody>
      </p:sp>
      <p:cxnSp>
        <p:nvCxnSpPr>
          <p:cNvPr id="270" name="Google Shape;270;p17"/>
          <p:cNvCxnSpPr/>
          <p:nvPr/>
        </p:nvCxnSpPr>
        <p:spPr>
          <a:xfrm>
            <a:off x="4353063" y="959950"/>
            <a:ext cx="4500" cy="2972400"/>
          </a:xfrm>
          <a:prstGeom prst="straightConnector1">
            <a:avLst/>
          </a:prstGeom>
          <a:noFill/>
          <a:ln cap="flat" cmpd="sng" w="19050">
            <a:solidFill>
              <a:schemeClr val="dk1"/>
            </a:solidFill>
            <a:prstDash val="lgDash"/>
            <a:round/>
            <a:headEnd len="med" w="med" type="none"/>
            <a:tailEnd len="med" w="med" type="none"/>
          </a:ln>
        </p:spPr>
      </p:cxnSp>
      <p:sp>
        <p:nvSpPr>
          <p:cNvPr id="271" name="Google Shape;271;p17"/>
          <p:cNvSpPr/>
          <p:nvPr/>
        </p:nvSpPr>
        <p:spPr>
          <a:xfrm rot="5400000">
            <a:off x="4175700" y="2344750"/>
            <a:ext cx="295500" cy="295500"/>
          </a:xfrm>
          <a:prstGeom prst="ellipse">
            <a:avLst/>
          </a:prstGeom>
          <a:solidFill>
            <a:srgbClr val="04153C"/>
          </a:solidFill>
          <a:ln>
            <a:noFill/>
          </a:ln>
          <a:effectLst>
            <a:outerShdw blurRad="40645" rotWithShape="0" algn="bl" dir="5400000" dist="13548">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p>
        </p:txBody>
      </p:sp>
      <p:sp>
        <p:nvSpPr>
          <p:cNvPr id="272" name="Google Shape;272;p17"/>
          <p:cNvSpPr/>
          <p:nvPr/>
        </p:nvSpPr>
        <p:spPr>
          <a:xfrm rot="5400000">
            <a:off x="4253361" y="2399772"/>
            <a:ext cx="190200" cy="185400"/>
          </a:xfrm>
          <a:prstGeom prst="triangle">
            <a:avLst>
              <a:gd fmla="val 50000" name="adj"/>
            </a:avLst>
          </a:prstGeom>
          <a:solidFill>
            <a:schemeClr val="lt1"/>
          </a:solidFill>
          <a:ln>
            <a:noFill/>
          </a:ln>
          <a:effectLst>
            <a:outerShdw blurRad="13295" rotWithShape="0" algn="bl" dir="5400000" dist="6774">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solidFill>
                <a:schemeClr val="lt1"/>
              </a:solidFill>
            </a:endParaRPr>
          </a:p>
        </p:txBody>
      </p:sp>
      <p:sp>
        <p:nvSpPr>
          <p:cNvPr id="273" name="Google Shape;273;p17"/>
          <p:cNvSpPr/>
          <p:nvPr/>
        </p:nvSpPr>
        <p:spPr>
          <a:xfrm rot="10800000">
            <a:off x="398775" y="4074050"/>
            <a:ext cx="8229600" cy="221100"/>
          </a:xfrm>
          <a:prstGeom prst="triangle">
            <a:avLst>
              <a:gd fmla="val 50000" name="adj"/>
            </a:avLst>
          </a:prstGeom>
          <a:gradFill>
            <a:gsLst>
              <a:gs pos="0">
                <a:srgbClr val="AAC3FB"/>
              </a:gs>
              <a:gs pos="50000">
                <a:srgbClr val="3A6D8C"/>
              </a:gs>
              <a:gs pos="100000">
                <a:srgbClr val="04153C"/>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4" name="Google Shape;274;p17"/>
          <p:cNvPicPr preferRelativeResize="0"/>
          <p:nvPr/>
        </p:nvPicPr>
        <p:blipFill>
          <a:blip r:embed="rId8">
            <a:alphaModFix/>
          </a:blip>
          <a:stretch>
            <a:fillRect/>
          </a:stretch>
        </p:blipFill>
        <p:spPr>
          <a:xfrm>
            <a:off x="398775" y="4427563"/>
            <a:ext cx="453375" cy="45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18"/>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280" name="Google Shape;280;p18"/>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18"/>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18"/>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18"/>
          <p:cNvSpPr/>
          <p:nvPr/>
        </p:nvSpPr>
        <p:spPr>
          <a:xfrm>
            <a:off x="442000" y="898700"/>
            <a:ext cx="2227500" cy="2070300"/>
          </a:xfrm>
          <a:prstGeom prst="roundRect">
            <a:avLst>
              <a:gd fmla="val 7396" name="adj"/>
            </a:avLst>
          </a:prstGeom>
          <a:solidFill>
            <a:schemeClr val="lt1"/>
          </a:solidFill>
          <a:ln cap="flat" cmpd="sng" w="39500">
            <a:solidFill>
              <a:srgbClr val="1F3567"/>
            </a:solidFill>
            <a:prstDash val="lgDash"/>
            <a:round/>
            <a:headEnd len="sm" w="sm" type="none"/>
            <a:tailEnd len="sm" w="sm" type="none"/>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284" name="Google Shape;284;p18"/>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18"/>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18"/>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2</a:t>
            </a:r>
            <a:endParaRPr b="1" i="1" sz="1500">
              <a:solidFill>
                <a:srgbClr val="20124D"/>
              </a:solidFill>
              <a:latin typeface="Inter"/>
              <a:ea typeface="Inter"/>
              <a:cs typeface="Inter"/>
              <a:sym typeface="Inter"/>
            </a:endParaRPr>
          </a:p>
        </p:txBody>
      </p:sp>
      <p:sp>
        <p:nvSpPr>
          <p:cNvPr id="287" name="Google Shape;287;p18"/>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8" name="Google Shape;288;p18"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289" name="Google Shape;289;p18"/>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290" name="Google Shape;290;p18"/>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Pemahaman Teori &amp; Konsep</a:t>
            </a:r>
            <a:r>
              <a:rPr lang="id" sz="1200">
                <a:solidFill>
                  <a:srgbClr val="3A6D8C"/>
                </a:solidFill>
                <a:latin typeface="Inter"/>
                <a:ea typeface="Inter"/>
                <a:cs typeface="Inter"/>
                <a:sym typeface="Inter"/>
              </a:rPr>
              <a:t> </a:t>
            </a:r>
            <a:endParaRPr b="1" sz="1200">
              <a:solidFill>
                <a:srgbClr val="3A6D8C"/>
              </a:solidFill>
              <a:latin typeface="Inter"/>
              <a:ea typeface="Inter"/>
              <a:cs typeface="Inter"/>
              <a:sym typeface="Inter"/>
            </a:endParaRPr>
          </a:p>
        </p:txBody>
      </p:sp>
      <p:pic>
        <p:nvPicPr>
          <p:cNvPr id="291" name="Google Shape;291;p18"/>
          <p:cNvPicPr preferRelativeResize="0"/>
          <p:nvPr/>
        </p:nvPicPr>
        <p:blipFill>
          <a:blip r:embed="rId5">
            <a:alphaModFix/>
          </a:blip>
          <a:stretch>
            <a:fillRect/>
          </a:stretch>
        </p:blipFill>
        <p:spPr>
          <a:xfrm>
            <a:off x="553450" y="1343500"/>
            <a:ext cx="948525" cy="948525"/>
          </a:xfrm>
          <a:prstGeom prst="rect">
            <a:avLst/>
          </a:prstGeom>
          <a:noFill/>
          <a:ln>
            <a:noFill/>
          </a:ln>
        </p:spPr>
      </p:pic>
      <p:pic>
        <p:nvPicPr>
          <p:cNvPr id="292" name="Google Shape;292;p18"/>
          <p:cNvPicPr preferRelativeResize="0"/>
          <p:nvPr/>
        </p:nvPicPr>
        <p:blipFill>
          <a:blip r:embed="rId6">
            <a:alphaModFix/>
          </a:blip>
          <a:stretch>
            <a:fillRect/>
          </a:stretch>
        </p:blipFill>
        <p:spPr>
          <a:xfrm>
            <a:off x="1611073" y="1343500"/>
            <a:ext cx="948525" cy="948525"/>
          </a:xfrm>
          <a:prstGeom prst="rect">
            <a:avLst/>
          </a:prstGeom>
          <a:noFill/>
          <a:ln>
            <a:noFill/>
          </a:ln>
        </p:spPr>
      </p:pic>
      <p:sp>
        <p:nvSpPr>
          <p:cNvPr id="293" name="Google Shape;293;p18"/>
          <p:cNvSpPr/>
          <p:nvPr/>
        </p:nvSpPr>
        <p:spPr>
          <a:xfrm>
            <a:off x="409025" y="827700"/>
            <a:ext cx="2293500" cy="456300"/>
          </a:xfrm>
          <a:prstGeom prst="roundRect">
            <a:avLst>
              <a:gd fmla="val 16667" name="adj"/>
            </a:avLst>
          </a:prstGeom>
          <a:solidFill>
            <a:srgbClr val="1F3567"/>
          </a:solidFill>
          <a:ln>
            <a:noFill/>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294" name="Google Shape;294;p18"/>
          <p:cNvSpPr txBox="1"/>
          <p:nvPr/>
        </p:nvSpPr>
        <p:spPr>
          <a:xfrm>
            <a:off x="483425" y="759600"/>
            <a:ext cx="2144700" cy="592500"/>
          </a:xfrm>
          <a:prstGeom prst="rect">
            <a:avLst/>
          </a:prstGeom>
          <a:noFill/>
          <a:ln>
            <a:noFill/>
          </a:ln>
        </p:spPr>
        <p:txBody>
          <a:bodyPr anchorCtr="0" anchor="t" bIns="201875" lIns="201875" spcFirstLastPara="1" rIns="201875" wrap="square" tIns="201875">
            <a:spAutoFit/>
          </a:bodyPr>
          <a:lstStyle/>
          <a:p>
            <a:pPr indent="0" lvl="0" marL="0" rtl="0" algn="ctr">
              <a:spcBef>
                <a:spcPts val="0"/>
              </a:spcBef>
              <a:spcAft>
                <a:spcPts val="0"/>
              </a:spcAft>
              <a:buNone/>
            </a:pPr>
            <a:r>
              <a:rPr b="1" i="1" lang="id" sz="1200">
                <a:solidFill>
                  <a:schemeClr val="lt1"/>
                </a:solidFill>
                <a:latin typeface="Inter"/>
                <a:ea typeface="Inter"/>
                <a:cs typeface="Inter"/>
                <a:sym typeface="Inter"/>
              </a:rPr>
              <a:t>Sensor Layer</a:t>
            </a:r>
            <a:endParaRPr b="1" i="1" sz="1200">
              <a:solidFill>
                <a:schemeClr val="lt1"/>
              </a:solidFill>
              <a:latin typeface="Inter"/>
              <a:ea typeface="Inter"/>
              <a:cs typeface="Inter"/>
              <a:sym typeface="Inter"/>
            </a:endParaRPr>
          </a:p>
        </p:txBody>
      </p:sp>
      <p:sp>
        <p:nvSpPr>
          <p:cNvPr id="295" name="Google Shape;295;p18"/>
          <p:cNvSpPr/>
          <p:nvPr/>
        </p:nvSpPr>
        <p:spPr>
          <a:xfrm>
            <a:off x="3458225" y="898700"/>
            <a:ext cx="2227500" cy="2070300"/>
          </a:xfrm>
          <a:prstGeom prst="roundRect">
            <a:avLst>
              <a:gd fmla="val 7396" name="adj"/>
            </a:avLst>
          </a:prstGeom>
          <a:solidFill>
            <a:schemeClr val="lt1"/>
          </a:solidFill>
          <a:ln cap="flat" cmpd="sng" w="39500">
            <a:solidFill>
              <a:srgbClr val="1F3567"/>
            </a:solidFill>
            <a:prstDash val="lgDash"/>
            <a:round/>
            <a:headEnd len="sm" w="sm" type="none"/>
            <a:tailEnd len="sm" w="sm" type="none"/>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296" name="Google Shape;296;p18"/>
          <p:cNvSpPr/>
          <p:nvPr/>
        </p:nvSpPr>
        <p:spPr>
          <a:xfrm>
            <a:off x="3425250" y="827700"/>
            <a:ext cx="2293500" cy="456300"/>
          </a:xfrm>
          <a:prstGeom prst="roundRect">
            <a:avLst>
              <a:gd fmla="val 16667" name="adj"/>
            </a:avLst>
          </a:prstGeom>
          <a:solidFill>
            <a:srgbClr val="1F3567"/>
          </a:solidFill>
          <a:ln>
            <a:noFill/>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297" name="Google Shape;297;p18"/>
          <p:cNvSpPr txBox="1"/>
          <p:nvPr/>
        </p:nvSpPr>
        <p:spPr>
          <a:xfrm>
            <a:off x="3499650" y="759600"/>
            <a:ext cx="2144700" cy="592500"/>
          </a:xfrm>
          <a:prstGeom prst="rect">
            <a:avLst/>
          </a:prstGeom>
          <a:noFill/>
          <a:ln>
            <a:noFill/>
          </a:ln>
        </p:spPr>
        <p:txBody>
          <a:bodyPr anchorCtr="0" anchor="t" bIns="201875" lIns="201875" spcFirstLastPara="1" rIns="201875" wrap="square" tIns="201875">
            <a:spAutoFit/>
          </a:bodyPr>
          <a:lstStyle/>
          <a:p>
            <a:pPr indent="0" lvl="0" marL="0" rtl="0" algn="ctr">
              <a:spcBef>
                <a:spcPts val="0"/>
              </a:spcBef>
              <a:spcAft>
                <a:spcPts val="0"/>
              </a:spcAft>
              <a:buNone/>
            </a:pPr>
            <a:r>
              <a:rPr b="1" i="1" lang="id" sz="1200">
                <a:solidFill>
                  <a:schemeClr val="lt1"/>
                </a:solidFill>
                <a:latin typeface="Inter"/>
                <a:ea typeface="Inter"/>
                <a:cs typeface="Inter"/>
                <a:sym typeface="Inter"/>
              </a:rPr>
              <a:t>Processing</a:t>
            </a:r>
            <a:r>
              <a:rPr b="1" i="1" lang="id" sz="1200">
                <a:solidFill>
                  <a:schemeClr val="lt1"/>
                </a:solidFill>
                <a:latin typeface="Inter"/>
                <a:ea typeface="Inter"/>
                <a:cs typeface="Inter"/>
                <a:sym typeface="Inter"/>
              </a:rPr>
              <a:t> Layer</a:t>
            </a:r>
            <a:endParaRPr b="1" i="1" sz="1200">
              <a:solidFill>
                <a:schemeClr val="lt1"/>
              </a:solidFill>
              <a:latin typeface="Inter"/>
              <a:ea typeface="Inter"/>
              <a:cs typeface="Inter"/>
              <a:sym typeface="Inter"/>
            </a:endParaRPr>
          </a:p>
        </p:txBody>
      </p:sp>
      <p:sp>
        <p:nvSpPr>
          <p:cNvPr id="298" name="Google Shape;298;p18"/>
          <p:cNvSpPr/>
          <p:nvPr/>
        </p:nvSpPr>
        <p:spPr>
          <a:xfrm>
            <a:off x="6474450" y="898700"/>
            <a:ext cx="2227500" cy="2070300"/>
          </a:xfrm>
          <a:prstGeom prst="roundRect">
            <a:avLst>
              <a:gd fmla="val 7396" name="adj"/>
            </a:avLst>
          </a:prstGeom>
          <a:solidFill>
            <a:schemeClr val="lt1"/>
          </a:solidFill>
          <a:ln cap="flat" cmpd="sng" w="39500">
            <a:solidFill>
              <a:srgbClr val="1F3567"/>
            </a:solidFill>
            <a:prstDash val="lgDash"/>
            <a:round/>
            <a:headEnd len="sm" w="sm" type="none"/>
            <a:tailEnd len="sm" w="sm" type="none"/>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299" name="Google Shape;299;p18"/>
          <p:cNvSpPr/>
          <p:nvPr/>
        </p:nvSpPr>
        <p:spPr>
          <a:xfrm>
            <a:off x="6441475" y="827700"/>
            <a:ext cx="2293500" cy="456300"/>
          </a:xfrm>
          <a:prstGeom prst="roundRect">
            <a:avLst>
              <a:gd fmla="val 16667" name="adj"/>
            </a:avLst>
          </a:prstGeom>
          <a:solidFill>
            <a:srgbClr val="1F3567"/>
          </a:solidFill>
          <a:ln>
            <a:noFill/>
          </a:ln>
        </p:spPr>
        <p:txBody>
          <a:bodyPr anchorCtr="0" anchor="ctr" bIns="189575" lIns="189575" spcFirstLastPara="1" rIns="189575" wrap="square" tIns="189575">
            <a:noAutofit/>
          </a:bodyPr>
          <a:lstStyle/>
          <a:p>
            <a:pPr indent="0" lvl="0" marL="0" rtl="0" algn="ctr">
              <a:spcBef>
                <a:spcPts val="0"/>
              </a:spcBef>
              <a:spcAft>
                <a:spcPts val="0"/>
              </a:spcAft>
              <a:buNone/>
            </a:pPr>
            <a:r>
              <a:t/>
            </a:r>
            <a:endParaRPr sz="2903"/>
          </a:p>
        </p:txBody>
      </p:sp>
      <p:sp>
        <p:nvSpPr>
          <p:cNvPr id="300" name="Google Shape;300;p18"/>
          <p:cNvSpPr txBox="1"/>
          <p:nvPr/>
        </p:nvSpPr>
        <p:spPr>
          <a:xfrm>
            <a:off x="6515875" y="759600"/>
            <a:ext cx="2144700" cy="592500"/>
          </a:xfrm>
          <a:prstGeom prst="rect">
            <a:avLst/>
          </a:prstGeom>
          <a:noFill/>
          <a:ln>
            <a:noFill/>
          </a:ln>
        </p:spPr>
        <p:txBody>
          <a:bodyPr anchorCtr="0" anchor="t" bIns="201875" lIns="201875" spcFirstLastPara="1" rIns="201875" wrap="square" tIns="201875">
            <a:spAutoFit/>
          </a:bodyPr>
          <a:lstStyle/>
          <a:p>
            <a:pPr indent="0" lvl="0" marL="0" rtl="0" algn="ctr">
              <a:spcBef>
                <a:spcPts val="0"/>
              </a:spcBef>
              <a:spcAft>
                <a:spcPts val="0"/>
              </a:spcAft>
              <a:buNone/>
            </a:pPr>
            <a:r>
              <a:rPr b="1" i="1" lang="id" sz="1200">
                <a:solidFill>
                  <a:schemeClr val="lt1"/>
                </a:solidFill>
                <a:latin typeface="Inter"/>
                <a:ea typeface="Inter"/>
                <a:cs typeface="Inter"/>
                <a:sym typeface="Inter"/>
              </a:rPr>
              <a:t>Output</a:t>
            </a:r>
            <a:r>
              <a:rPr b="1" i="1" lang="id" sz="1200">
                <a:solidFill>
                  <a:schemeClr val="lt1"/>
                </a:solidFill>
                <a:latin typeface="Inter"/>
                <a:ea typeface="Inter"/>
                <a:cs typeface="Inter"/>
                <a:sym typeface="Inter"/>
              </a:rPr>
              <a:t> Layer</a:t>
            </a:r>
            <a:endParaRPr b="1" i="1" sz="1200">
              <a:solidFill>
                <a:schemeClr val="lt1"/>
              </a:solidFill>
              <a:latin typeface="Inter"/>
              <a:ea typeface="Inter"/>
              <a:cs typeface="Inter"/>
              <a:sym typeface="Inter"/>
            </a:endParaRPr>
          </a:p>
        </p:txBody>
      </p:sp>
      <p:sp>
        <p:nvSpPr>
          <p:cNvPr id="301" name="Google Shape;301;p18"/>
          <p:cNvSpPr/>
          <p:nvPr/>
        </p:nvSpPr>
        <p:spPr>
          <a:xfrm>
            <a:off x="2828975" y="827600"/>
            <a:ext cx="469800" cy="2141400"/>
          </a:xfrm>
          <a:prstGeom prst="chevron">
            <a:avLst>
              <a:gd fmla="val 33754" name="adj"/>
            </a:avLst>
          </a:prstGeom>
          <a:gradFill>
            <a:gsLst>
              <a:gs pos="0">
                <a:srgbClr val="04153C"/>
              </a:gs>
              <a:gs pos="50000">
                <a:srgbClr val="1F3567"/>
              </a:gs>
              <a:gs pos="100000">
                <a:srgbClr val="AAC3FB"/>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8"/>
          <p:cNvSpPr txBox="1"/>
          <p:nvPr/>
        </p:nvSpPr>
        <p:spPr>
          <a:xfrm>
            <a:off x="552692" y="2230850"/>
            <a:ext cx="9486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Sensor MQ-2</a:t>
            </a:r>
            <a:endParaRPr b="1" sz="800">
              <a:latin typeface="Google Sans"/>
              <a:ea typeface="Google Sans"/>
              <a:cs typeface="Google Sans"/>
              <a:sym typeface="Google Sans"/>
            </a:endParaRPr>
          </a:p>
        </p:txBody>
      </p:sp>
      <p:sp>
        <p:nvSpPr>
          <p:cNvPr id="303" name="Google Shape;303;p18"/>
          <p:cNvSpPr txBox="1"/>
          <p:nvPr/>
        </p:nvSpPr>
        <p:spPr>
          <a:xfrm>
            <a:off x="1610267" y="2230850"/>
            <a:ext cx="9486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Sensor Api</a:t>
            </a:r>
            <a:endParaRPr b="1" sz="800">
              <a:latin typeface="Google Sans"/>
              <a:ea typeface="Google Sans"/>
              <a:cs typeface="Google Sans"/>
              <a:sym typeface="Google Sans"/>
            </a:endParaRPr>
          </a:p>
        </p:txBody>
      </p:sp>
      <p:sp>
        <p:nvSpPr>
          <p:cNvPr id="304" name="Google Shape;304;p18"/>
          <p:cNvSpPr txBox="1"/>
          <p:nvPr/>
        </p:nvSpPr>
        <p:spPr>
          <a:xfrm>
            <a:off x="637576" y="2453225"/>
            <a:ext cx="1847700" cy="515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id" sz="1000">
                <a:latin typeface="Google Sans"/>
                <a:ea typeface="Google Sans"/>
                <a:cs typeface="Google Sans"/>
                <a:sym typeface="Google Sans"/>
              </a:rPr>
              <a:t>Deteksi bahaya secara real-time</a:t>
            </a:r>
            <a:endParaRPr b="1" i="1" sz="1000">
              <a:latin typeface="Google Sans"/>
              <a:ea typeface="Google Sans"/>
              <a:cs typeface="Google Sans"/>
              <a:sym typeface="Google Sans"/>
            </a:endParaRPr>
          </a:p>
        </p:txBody>
      </p:sp>
      <p:pic>
        <p:nvPicPr>
          <p:cNvPr id="305" name="Google Shape;305;p18"/>
          <p:cNvPicPr preferRelativeResize="0"/>
          <p:nvPr/>
        </p:nvPicPr>
        <p:blipFill>
          <a:blip r:embed="rId7">
            <a:alphaModFix/>
          </a:blip>
          <a:stretch>
            <a:fillRect/>
          </a:stretch>
        </p:blipFill>
        <p:spPr>
          <a:xfrm>
            <a:off x="3623013" y="1589625"/>
            <a:ext cx="760282" cy="456300"/>
          </a:xfrm>
          <a:prstGeom prst="rect">
            <a:avLst/>
          </a:prstGeom>
          <a:noFill/>
          <a:ln>
            <a:noFill/>
          </a:ln>
        </p:spPr>
      </p:pic>
      <p:pic>
        <p:nvPicPr>
          <p:cNvPr id="306" name="Google Shape;306;p18"/>
          <p:cNvPicPr preferRelativeResize="0"/>
          <p:nvPr/>
        </p:nvPicPr>
        <p:blipFill>
          <a:blip r:embed="rId8">
            <a:alphaModFix/>
          </a:blip>
          <a:stretch>
            <a:fillRect/>
          </a:stretch>
        </p:blipFill>
        <p:spPr>
          <a:xfrm>
            <a:off x="4396600" y="1462988"/>
            <a:ext cx="1193301" cy="659325"/>
          </a:xfrm>
          <a:prstGeom prst="rect">
            <a:avLst/>
          </a:prstGeom>
          <a:noFill/>
          <a:ln>
            <a:noFill/>
          </a:ln>
        </p:spPr>
      </p:pic>
      <p:sp>
        <p:nvSpPr>
          <p:cNvPr id="307" name="Google Shape;307;p18"/>
          <p:cNvSpPr txBox="1"/>
          <p:nvPr/>
        </p:nvSpPr>
        <p:spPr>
          <a:xfrm>
            <a:off x="3528842" y="2230838"/>
            <a:ext cx="9486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ESP32</a:t>
            </a:r>
            <a:endParaRPr b="1" sz="800">
              <a:latin typeface="Google Sans"/>
              <a:ea typeface="Google Sans"/>
              <a:cs typeface="Google Sans"/>
              <a:sym typeface="Google Sans"/>
            </a:endParaRPr>
          </a:p>
        </p:txBody>
      </p:sp>
      <p:sp>
        <p:nvSpPr>
          <p:cNvPr id="308" name="Google Shape;308;p18"/>
          <p:cNvSpPr txBox="1"/>
          <p:nvPr/>
        </p:nvSpPr>
        <p:spPr>
          <a:xfrm>
            <a:off x="4572000" y="2233225"/>
            <a:ext cx="10179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Algoritma Dijkstra</a:t>
            </a:r>
            <a:endParaRPr b="1" sz="800">
              <a:latin typeface="Google Sans"/>
              <a:ea typeface="Google Sans"/>
              <a:cs typeface="Google Sans"/>
              <a:sym typeface="Google Sans"/>
            </a:endParaRPr>
          </a:p>
        </p:txBody>
      </p:sp>
      <p:sp>
        <p:nvSpPr>
          <p:cNvPr id="309" name="Google Shape;309;p18"/>
          <p:cNvSpPr txBox="1"/>
          <p:nvPr/>
        </p:nvSpPr>
        <p:spPr>
          <a:xfrm>
            <a:off x="3656451" y="2412875"/>
            <a:ext cx="1847700" cy="515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i="1" lang="id" sz="1000">
                <a:latin typeface="Google Sans"/>
                <a:ea typeface="Google Sans"/>
                <a:cs typeface="Google Sans"/>
                <a:sym typeface="Google Sans"/>
              </a:rPr>
              <a:t>Perhitungan jalur evakuasi adaptif</a:t>
            </a:r>
            <a:endParaRPr b="1" i="1" sz="1000">
              <a:latin typeface="Google Sans"/>
              <a:ea typeface="Google Sans"/>
              <a:cs typeface="Google Sans"/>
              <a:sym typeface="Google Sans"/>
            </a:endParaRPr>
          </a:p>
        </p:txBody>
      </p:sp>
      <p:pic>
        <p:nvPicPr>
          <p:cNvPr id="310" name="Google Shape;310;p18"/>
          <p:cNvPicPr preferRelativeResize="0"/>
          <p:nvPr/>
        </p:nvPicPr>
        <p:blipFill>
          <a:blip r:embed="rId9">
            <a:alphaModFix/>
          </a:blip>
          <a:stretch>
            <a:fillRect/>
          </a:stretch>
        </p:blipFill>
        <p:spPr>
          <a:xfrm>
            <a:off x="6584350" y="1380488"/>
            <a:ext cx="874550" cy="874550"/>
          </a:xfrm>
          <a:prstGeom prst="rect">
            <a:avLst/>
          </a:prstGeom>
          <a:noFill/>
          <a:ln>
            <a:noFill/>
          </a:ln>
        </p:spPr>
      </p:pic>
      <p:sp>
        <p:nvSpPr>
          <p:cNvPr id="311" name="Google Shape;311;p18"/>
          <p:cNvSpPr txBox="1"/>
          <p:nvPr/>
        </p:nvSpPr>
        <p:spPr>
          <a:xfrm>
            <a:off x="6548917" y="2283438"/>
            <a:ext cx="9486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LED WS281</a:t>
            </a:r>
            <a:r>
              <a:rPr lang="id" sz="800">
                <a:latin typeface="Google Sans"/>
                <a:ea typeface="Google Sans"/>
                <a:cs typeface="Google Sans"/>
                <a:sym typeface="Google Sans"/>
              </a:rPr>
              <a:t>2B</a:t>
            </a:r>
            <a:endParaRPr sz="800">
              <a:latin typeface="Google Sans"/>
              <a:ea typeface="Google Sans"/>
              <a:cs typeface="Google Sans"/>
              <a:sym typeface="Google Sans"/>
            </a:endParaRPr>
          </a:p>
        </p:txBody>
      </p:sp>
      <p:sp>
        <p:nvSpPr>
          <p:cNvPr id="312" name="Google Shape;312;p18"/>
          <p:cNvSpPr txBox="1"/>
          <p:nvPr/>
        </p:nvSpPr>
        <p:spPr>
          <a:xfrm>
            <a:off x="7592075" y="2285825"/>
            <a:ext cx="1017900" cy="307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d" sz="800">
                <a:latin typeface="Google Sans"/>
                <a:ea typeface="Google Sans"/>
                <a:cs typeface="Google Sans"/>
                <a:sym typeface="Google Sans"/>
              </a:rPr>
              <a:t>DFPlayer Mini</a:t>
            </a:r>
            <a:endParaRPr sz="800">
              <a:latin typeface="Google Sans"/>
              <a:ea typeface="Google Sans"/>
              <a:cs typeface="Google Sans"/>
              <a:sym typeface="Google Sans"/>
            </a:endParaRPr>
          </a:p>
        </p:txBody>
      </p:sp>
      <p:pic>
        <p:nvPicPr>
          <p:cNvPr id="313" name="Google Shape;313;p18"/>
          <p:cNvPicPr preferRelativeResize="0"/>
          <p:nvPr/>
        </p:nvPicPr>
        <p:blipFill rotWithShape="1">
          <a:blip r:embed="rId10">
            <a:alphaModFix/>
          </a:blip>
          <a:srcRect b="0" l="25328" r="23400" t="0"/>
          <a:stretch/>
        </p:blipFill>
        <p:spPr>
          <a:xfrm>
            <a:off x="7641975" y="1380500"/>
            <a:ext cx="948600" cy="971317"/>
          </a:xfrm>
          <a:prstGeom prst="rect">
            <a:avLst/>
          </a:prstGeom>
          <a:noFill/>
          <a:ln>
            <a:noFill/>
          </a:ln>
        </p:spPr>
      </p:pic>
      <p:sp>
        <p:nvSpPr>
          <p:cNvPr id="314" name="Google Shape;314;p18"/>
          <p:cNvSpPr txBox="1"/>
          <p:nvPr/>
        </p:nvSpPr>
        <p:spPr>
          <a:xfrm>
            <a:off x="6570350" y="2448325"/>
            <a:ext cx="2144700" cy="515700"/>
          </a:xfrm>
          <a:prstGeom prst="rect">
            <a:avLst/>
          </a:prstGeom>
          <a:noFill/>
          <a:ln>
            <a:noFill/>
          </a:ln>
        </p:spPr>
        <p:txBody>
          <a:bodyPr anchorCtr="0" anchor="t" bIns="91425" lIns="91425" spcFirstLastPara="1" rIns="91425" wrap="square" tIns="91425">
            <a:spAutoFit/>
          </a:bodyPr>
          <a:lstStyle/>
          <a:p>
            <a:pPr indent="0" lvl="0" marL="381000" marR="381000" rtl="0" algn="ctr">
              <a:lnSpc>
                <a:spcPct val="115000"/>
              </a:lnSpc>
              <a:spcBef>
                <a:spcPts val="1200"/>
              </a:spcBef>
              <a:spcAft>
                <a:spcPts val="1200"/>
              </a:spcAft>
              <a:buNone/>
            </a:pPr>
            <a:r>
              <a:rPr b="1" i="1" lang="id" sz="1000">
                <a:latin typeface="Google Sans"/>
                <a:ea typeface="Google Sans"/>
                <a:cs typeface="Google Sans"/>
                <a:sym typeface="Google Sans"/>
              </a:rPr>
              <a:t>Panduan evakuasi visual dan audio</a:t>
            </a:r>
            <a:endParaRPr b="1" i="1" sz="1000">
              <a:latin typeface="Google Sans"/>
              <a:ea typeface="Google Sans"/>
              <a:cs typeface="Google Sans"/>
              <a:sym typeface="Google Sans"/>
            </a:endParaRPr>
          </a:p>
        </p:txBody>
      </p:sp>
      <p:sp>
        <p:nvSpPr>
          <p:cNvPr id="315" name="Google Shape;315;p18"/>
          <p:cNvSpPr/>
          <p:nvPr/>
        </p:nvSpPr>
        <p:spPr>
          <a:xfrm>
            <a:off x="5845225" y="827700"/>
            <a:ext cx="469800" cy="2141400"/>
          </a:xfrm>
          <a:prstGeom prst="chevron">
            <a:avLst>
              <a:gd fmla="val 33754" name="adj"/>
            </a:avLst>
          </a:prstGeom>
          <a:gradFill>
            <a:gsLst>
              <a:gs pos="0">
                <a:srgbClr val="04153C"/>
              </a:gs>
              <a:gs pos="50000">
                <a:srgbClr val="1F3567"/>
              </a:gs>
              <a:gs pos="100000">
                <a:srgbClr val="AAC3FB"/>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18"/>
          <p:cNvSpPr/>
          <p:nvPr/>
        </p:nvSpPr>
        <p:spPr>
          <a:xfrm>
            <a:off x="460825" y="3811250"/>
            <a:ext cx="2227500" cy="290100"/>
          </a:xfrm>
          <a:prstGeom prst="roundRect">
            <a:avLst>
              <a:gd fmla="val 41291" name="adj"/>
            </a:avLst>
          </a:prstGeom>
          <a:solidFill>
            <a:srgbClr val="04153C"/>
          </a:solidFill>
          <a:ln>
            <a:noFill/>
          </a:ln>
          <a:effectLst>
            <a:outerShdw blurRad="46809" rotWithShape="0" algn="bl" dir="5400000" dist="15603">
              <a:srgbClr val="000000">
                <a:alpha val="50000"/>
              </a:srgbClr>
            </a:outerShdw>
          </a:effectLst>
        </p:spPr>
        <p:txBody>
          <a:bodyPr anchorCtr="0" anchor="ctr" bIns="74900" lIns="74900" spcFirstLastPara="1" rIns="74900" wrap="square" tIns="74900">
            <a:noAutofit/>
          </a:bodyPr>
          <a:lstStyle/>
          <a:p>
            <a:pPr indent="0" lvl="0" marL="0" rtl="0" algn="l">
              <a:spcBef>
                <a:spcPts val="0"/>
              </a:spcBef>
              <a:spcAft>
                <a:spcPts val="0"/>
              </a:spcAft>
              <a:buClr>
                <a:schemeClr val="dk1"/>
              </a:buClr>
              <a:buSzPts val="1100"/>
              <a:buFont typeface="Arial"/>
              <a:buNone/>
            </a:pPr>
            <a:r>
              <a:rPr lang="id" sz="1065">
                <a:solidFill>
                  <a:schemeClr val="lt1"/>
                </a:solidFill>
                <a:latin typeface="Inter"/>
                <a:ea typeface="Inter"/>
                <a:cs typeface="Inter"/>
                <a:sym typeface="Inter"/>
              </a:rPr>
              <a:t>     </a:t>
            </a:r>
            <a:r>
              <a:rPr lang="id" sz="1065">
                <a:solidFill>
                  <a:schemeClr val="lt1"/>
                </a:solidFill>
                <a:latin typeface="Inter"/>
                <a:ea typeface="Inter"/>
                <a:cs typeface="Inter"/>
                <a:sym typeface="Inter"/>
              </a:rPr>
              <a:t>Sistem Embedded</a:t>
            </a:r>
            <a:endParaRPr sz="1065">
              <a:solidFill>
                <a:schemeClr val="lt1"/>
              </a:solidFill>
              <a:latin typeface="Inter"/>
              <a:ea typeface="Inter"/>
              <a:cs typeface="Inter"/>
              <a:sym typeface="Inter"/>
            </a:endParaRPr>
          </a:p>
        </p:txBody>
      </p:sp>
      <p:sp>
        <p:nvSpPr>
          <p:cNvPr id="317" name="Google Shape;317;p18"/>
          <p:cNvSpPr/>
          <p:nvPr/>
        </p:nvSpPr>
        <p:spPr>
          <a:xfrm>
            <a:off x="460825" y="4151812"/>
            <a:ext cx="2227500" cy="290100"/>
          </a:xfrm>
          <a:prstGeom prst="roundRect">
            <a:avLst>
              <a:gd fmla="val 41291" name="adj"/>
            </a:avLst>
          </a:prstGeom>
          <a:solidFill>
            <a:srgbClr val="04153C"/>
          </a:solidFill>
          <a:ln>
            <a:noFill/>
          </a:ln>
          <a:effectLst>
            <a:outerShdw blurRad="46809" rotWithShape="0" algn="bl" dir="5400000" dist="15603">
              <a:srgbClr val="000000">
                <a:alpha val="50000"/>
              </a:srgbClr>
            </a:outerShdw>
          </a:effectLst>
        </p:spPr>
        <p:txBody>
          <a:bodyPr anchorCtr="0" anchor="ctr" bIns="74900" lIns="74900" spcFirstLastPara="1" rIns="74900" wrap="square" tIns="74900">
            <a:noAutofit/>
          </a:bodyPr>
          <a:lstStyle/>
          <a:p>
            <a:pPr indent="0" lvl="0" marL="0" rtl="0" algn="l">
              <a:spcBef>
                <a:spcPts val="0"/>
              </a:spcBef>
              <a:spcAft>
                <a:spcPts val="0"/>
              </a:spcAft>
              <a:buClr>
                <a:srgbClr val="000000"/>
              </a:buClr>
              <a:buSzPts val="901"/>
              <a:buFont typeface="Arial"/>
              <a:buNone/>
            </a:pPr>
            <a:r>
              <a:rPr lang="id" sz="1065">
                <a:solidFill>
                  <a:schemeClr val="lt1"/>
                </a:solidFill>
                <a:latin typeface="Inter"/>
                <a:ea typeface="Inter"/>
                <a:cs typeface="Inter"/>
                <a:sym typeface="Inter"/>
              </a:rPr>
              <a:t>     </a:t>
            </a:r>
            <a:r>
              <a:rPr lang="id" sz="1065">
                <a:solidFill>
                  <a:schemeClr val="lt1"/>
                </a:solidFill>
                <a:latin typeface="Inter"/>
                <a:ea typeface="Inter"/>
                <a:cs typeface="Inter"/>
                <a:sym typeface="Inter"/>
              </a:rPr>
              <a:t>Pemrosesan Real-time</a:t>
            </a:r>
            <a:endParaRPr sz="1065">
              <a:solidFill>
                <a:schemeClr val="lt1"/>
              </a:solidFill>
              <a:latin typeface="Inter"/>
              <a:ea typeface="Inter"/>
              <a:cs typeface="Inter"/>
              <a:sym typeface="Inter"/>
            </a:endParaRPr>
          </a:p>
        </p:txBody>
      </p:sp>
      <p:sp>
        <p:nvSpPr>
          <p:cNvPr id="318" name="Google Shape;318;p18"/>
          <p:cNvSpPr/>
          <p:nvPr/>
        </p:nvSpPr>
        <p:spPr>
          <a:xfrm>
            <a:off x="460825" y="3130125"/>
            <a:ext cx="2227500" cy="290100"/>
          </a:xfrm>
          <a:prstGeom prst="roundRect">
            <a:avLst>
              <a:gd fmla="val 41291" name="adj"/>
            </a:avLst>
          </a:prstGeom>
          <a:solidFill>
            <a:srgbClr val="04153C"/>
          </a:solidFill>
          <a:ln>
            <a:noFill/>
          </a:ln>
          <a:effectLst>
            <a:outerShdw blurRad="46809" rotWithShape="0" algn="bl" dir="5400000" dist="15603">
              <a:srgbClr val="000000">
                <a:alpha val="50000"/>
              </a:srgbClr>
            </a:outerShdw>
          </a:effectLst>
        </p:spPr>
        <p:txBody>
          <a:bodyPr anchorCtr="0" anchor="ctr" bIns="74900" lIns="74900" spcFirstLastPara="1" rIns="74900" wrap="square" tIns="74900">
            <a:noAutofit/>
          </a:bodyPr>
          <a:lstStyle/>
          <a:p>
            <a:pPr indent="0" lvl="0" marL="0" rtl="0" algn="l">
              <a:spcBef>
                <a:spcPts val="0"/>
              </a:spcBef>
              <a:spcAft>
                <a:spcPts val="0"/>
              </a:spcAft>
              <a:buClr>
                <a:srgbClr val="000000"/>
              </a:buClr>
              <a:buSzPts val="901"/>
              <a:buFont typeface="Arial"/>
              <a:buNone/>
            </a:pPr>
            <a:r>
              <a:rPr lang="id" sz="1065">
                <a:solidFill>
                  <a:schemeClr val="lt1"/>
                </a:solidFill>
                <a:latin typeface="Inter"/>
                <a:ea typeface="Inter"/>
                <a:cs typeface="Inter"/>
                <a:sym typeface="Inter"/>
              </a:rPr>
              <a:t>     Teori Graph</a:t>
            </a:r>
            <a:endParaRPr sz="1065">
              <a:solidFill>
                <a:schemeClr val="lt1"/>
              </a:solidFill>
              <a:latin typeface="Inter"/>
              <a:ea typeface="Inter"/>
              <a:cs typeface="Inter"/>
              <a:sym typeface="Inter"/>
            </a:endParaRPr>
          </a:p>
        </p:txBody>
      </p:sp>
      <p:sp>
        <p:nvSpPr>
          <p:cNvPr id="319" name="Google Shape;319;p18"/>
          <p:cNvSpPr/>
          <p:nvPr/>
        </p:nvSpPr>
        <p:spPr>
          <a:xfrm>
            <a:off x="460825" y="3470687"/>
            <a:ext cx="2227500" cy="290100"/>
          </a:xfrm>
          <a:prstGeom prst="roundRect">
            <a:avLst>
              <a:gd fmla="val 41291" name="adj"/>
            </a:avLst>
          </a:prstGeom>
          <a:solidFill>
            <a:srgbClr val="04153C"/>
          </a:solidFill>
          <a:ln>
            <a:noFill/>
          </a:ln>
          <a:effectLst>
            <a:outerShdw blurRad="46809" rotWithShape="0" algn="bl" dir="5400000" dist="15603">
              <a:srgbClr val="000000">
                <a:alpha val="50000"/>
              </a:srgbClr>
            </a:outerShdw>
          </a:effectLst>
        </p:spPr>
        <p:txBody>
          <a:bodyPr anchorCtr="0" anchor="ctr" bIns="74900" lIns="74900" spcFirstLastPara="1" rIns="74900" wrap="square" tIns="74900">
            <a:noAutofit/>
          </a:bodyPr>
          <a:lstStyle/>
          <a:p>
            <a:pPr indent="0" lvl="0" marL="0" rtl="0" algn="l">
              <a:spcBef>
                <a:spcPts val="0"/>
              </a:spcBef>
              <a:spcAft>
                <a:spcPts val="0"/>
              </a:spcAft>
              <a:buClr>
                <a:srgbClr val="000000"/>
              </a:buClr>
              <a:buSzPts val="901"/>
              <a:buFont typeface="Arial"/>
              <a:buNone/>
            </a:pPr>
            <a:r>
              <a:rPr lang="id" sz="1065">
                <a:solidFill>
                  <a:schemeClr val="lt1"/>
                </a:solidFill>
                <a:latin typeface="Inter"/>
                <a:ea typeface="Inter"/>
                <a:cs typeface="Inter"/>
                <a:sym typeface="Inter"/>
              </a:rPr>
              <a:t>     </a:t>
            </a:r>
            <a:r>
              <a:rPr lang="id" sz="1065">
                <a:solidFill>
                  <a:schemeClr val="lt1"/>
                </a:solidFill>
                <a:latin typeface="Inter"/>
                <a:ea typeface="Inter"/>
                <a:cs typeface="Inter"/>
                <a:sym typeface="Inter"/>
              </a:rPr>
              <a:t>Algoritma Dijkstra</a:t>
            </a:r>
            <a:endParaRPr sz="1065">
              <a:solidFill>
                <a:schemeClr val="lt1"/>
              </a:solidFill>
              <a:latin typeface="Inter"/>
              <a:ea typeface="Inter"/>
              <a:cs typeface="Inter"/>
              <a:sym typeface="Inter"/>
            </a:endParaRPr>
          </a:p>
        </p:txBody>
      </p:sp>
      <p:sp>
        <p:nvSpPr>
          <p:cNvPr id="320" name="Google Shape;320;p18"/>
          <p:cNvSpPr/>
          <p:nvPr/>
        </p:nvSpPr>
        <p:spPr>
          <a:xfrm>
            <a:off x="460825" y="4492375"/>
            <a:ext cx="2227500" cy="290100"/>
          </a:xfrm>
          <a:prstGeom prst="roundRect">
            <a:avLst>
              <a:gd fmla="val 41291" name="adj"/>
            </a:avLst>
          </a:prstGeom>
          <a:solidFill>
            <a:srgbClr val="04153C"/>
          </a:solidFill>
          <a:ln>
            <a:noFill/>
          </a:ln>
          <a:effectLst>
            <a:outerShdw blurRad="46809" rotWithShape="0" algn="bl" dir="5400000" dist="15603">
              <a:srgbClr val="000000">
                <a:alpha val="50000"/>
              </a:srgbClr>
            </a:outerShdw>
          </a:effectLst>
        </p:spPr>
        <p:txBody>
          <a:bodyPr anchorCtr="0" anchor="ctr" bIns="74900" lIns="74900" spcFirstLastPara="1" rIns="74900" wrap="square" tIns="74900">
            <a:noAutofit/>
          </a:bodyPr>
          <a:lstStyle/>
          <a:p>
            <a:pPr indent="0" lvl="0" marL="0" rtl="0" algn="l">
              <a:spcBef>
                <a:spcPts val="0"/>
              </a:spcBef>
              <a:spcAft>
                <a:spcPts val="0"/>
              </a:spcAft>
              <a:buClr>
                <a:srgbClr val="000000"/>
              </a:buClr>
              <a:buSzPts val="901"/>
              <a:buFont typeface="Arial"/>
              <a:buNone/>
            </a:pPr>
            <a:r>
              <a:rPr lang="id" sz="1065">
                <a:solidFill>
                  <a:schemeClr val="lt1"/>
                </a:solidFill>
                <a:latin typeface="Inter"/>
                <a:ea typeface="Inter"/>
                <a:cs typeface="Inter"/>
                <a:sym typeface="Inter"/>
              </a:rPr>
              <a:t>     </a:t>
            </a:r>
            <a:r>
              <a:rPr lang="id" sz="1065">
                <a:solidFill>
                  <a:schemeClr val="lt1"/>
                </a:solidFill>
                <a:latin typeface="Inter"/>
                <a:ea typeface="Inter"/>
                <a:cs typeface="Inter"/>
                <a:sym typeface="Inter"/>
              </a:rPr>
              <a:t>Sinkronisasi Audio dan         </a:t>
            </a:r>
            <a:endParaRPr sz="1065">
              <a:solidFill>
                <a:schemeClr val="lt1"/>
              </a:solidFill>
              <a:latin typeface="Inter"/>
              <a:ea typeface="Inter"/>
              <a:cs typeface="Inter"/>
              <a:sym typeface="Inter"/>
            </a:endParaRPr>
          </a:p>
          <a:p>
            <a:pPr indent="0" lvl="0" marL="0" rtl="0" algn="l">
              <a:spcBef>
                <a:spcPts val="0"/>
              </a:spcBef>
              <a:spcAft>
                <a:spcPts val="0"/>
              </a:spcAft>
              <a:buClr>
                <a:srgbClr val="000000"/>
              </a:buClr>
              <a:buSzPts val="901"/>
              <a:buFont typeface="Arial"/>
              <a:buNone/>
            </a:pPr>
            <a:r>
              <a:rPr lang="id" sz="1065">
                <a:solidFill>
                  <a:schemeClr val="lt1"/>
                </a:solidFill>
                <a:latin typeface="Inter"/>
                <a:ea typeface="Inter"/>
                <a:cs typeface="Inter"/>
                <a:sym typeface="Inter"/>
              </a:rPr>
              <a:t>     Visual</a:t>
            </a:r>
            <a:endParaRPr sz="1065">
              <a:solidFill>
                <a:schemeClr val="lt1"/>
              </a:solidFill>
              <a:latin typeface="Inter"/>
              <a:ea typeface="Inter"/>
              <a:cs typeface="Inter"/>
              <a:sym typeface="Inter"/>
            </a:endParaRPr>
          </a:p>
        </p:txBody>
      </p:sp>
      <p:pic>
        <p:nvPicPr>
          <p:cNvPr id="321" name="Google Shape;321;p18"/>
          <p:cNvPicPr preferRelativeResize="0"/>
          <p:nvPr/>
        </p:nvPicPr>
        <p:blipFill>
          <a:blip r:embed="rId11">
            <a:alphaModFix/>
          </a:blip>
          <a:stretch>
            <a:fillRect/>
          </a:stretch>
        </p:blipFill>
        <p:spPr>
          <a:xfrm>
            <a:off x="409025" y="3112400"/>
            <a:ext cx="307800" cy="307800"/>
          </a:xfrm>
          <a:prstGeom prst="rect">
            <a:avLst/>
          </a:prstGeom>
          <a:noFill/>
          <a:ln>
            <a:noFill/>
          </a:ln>
        </p:spPr>
      </p:pic>
      <p:pic>
        <p:nvPicPr>
          <p:cNvPr id="322" name="Google Shape;322;p18"/>
          <p:cNvPicPr preferRelativeResize="0"/>
          <p:nvPr/>
        </p:nvPicPr>
        <p:blipFill>
          <a:blip r:embed="rId11">
            <a:alphaModFix/>
          </a:blip>
          <a:stretch>
            <a:fillRect/>
          </a:stretch>
        </p:blipFill>
        <p:spPr>
          <a:xfrm>
            <a:off x="409025" y="3470675"/>
            <a:ext cx="307800" cy="307800"/>
          </a:xfrm>
          <a:prstGeom prst="rect">
            <a:avLst/>
          </a:prstGeom>
          <a:noFill/>
          <a:ln>
            <a:noFill/>
          </a:ln>
        </p:spPr>
      </p:pic>
      <p:pic>
        <p:nvPicPr>
          <p:cNvPr id="323" name="Google Shape;323;p18"/>
          <p:cNvPicPr preferRelativeResize="0"/>
          <p:nvPr/>
        </p:nvPicPr>
        <p:blipFill>
          <a:blip r:embed="rId11">
            <a:alphaModFix/>
          </a:blip>
          <a:stretch>
            <a:fillRect/>
          </a:stretch>
        </p:blipFill>
        <p:spPr>
          <a:xfrm>
            <a:off x="409025" y="3793537"/>
            <a:ext cx="307800" cy="307800"/>
          </a:xfrm>
          <a:prstGeom prst="rect">
            <a:avLst/>
          </a:prstGeom>
          <a:noFill/>
          <a:ln>
            <a:noFill/>
          </a:ln>
        </p:spPr>
      </p:pic>
      <p:pic>
        <p:nvPicPr>
          <p:cNvPr id="324" name="Google Shape;324;p18"/>
          <p:cNvPicPr preferRelativeResize="0"/>
          <p:nvPr/>
        </p:nvPicPr>
        <p:blipFill>
          <a:blip r:embed="rId11">
            <a:alphaModFix/>
          </a:blip>
          <a:stretch>
            <a:fillRect/>
          </a:stretch>
        </p:blipFill>
        <p:spPr>
          <a:xfrm>
            <a:off x="409025" y="4134137"/>
            <a:ext cx="307800" cy="307800"/>
          </a:xfrm>
          <a:prstGeom prst="rect">
            <a:avLst/>
          </a:prstGeom>
          <a:noFill/>
          <a:ln>
            <a:noFill/>
          </a:ln>
        </p:spPr>
      </p:pic>
      <p:pic>
        <p:nvPicPr>
          <p:cNvPr id="325" name="Google Shape;325;p18"/>
          <p:cNvPicPr preferRelativeResize="0"/>
          <p:nvPr/>
        </p:nvPicPr>
        <p:blipFill>
          <a:blip r:embed="rId11">
            <a:alphaModFix/>
          </a:blip>
          <a:stretch>
            <a:fillRect/>
          </a:stretch>
        </p:blipFill>
        <p:spPr>
          <a:xfrm>
            <a:off x="409025" y="4474737"/>
            <a:ext cx="307800" cy="307800"/>
          </a:xfrm>
          <a:prstGeom prst="rect">
            <a:avLst/>
          </a:prstGeom>
          <a:noFill/>
          <a:ln>
            <a:noFill/>
          </a:ln>
        </p:spPr>
      </p:pic>
      <p:pic>
        <p:nvPicPr>
          <p:cNvPr id="326" name="Google Shape;326;p18"/>
          <p:cNvPicPr preferRelativeResize="0"/>
          <p:nvPr/>
        </p:nvPicPr>
        <p:blipFill rotWithShape="1">
          <a:blip r:embed="rId12">
            <a:alphaModFix/>
          </a:blip>
          <a:srcRect b="0" l="0" r="0" t="25915"/>
          <a:stretch/>
        </p:blipFill>
        <p:spPr>
          <a:xfrm>
            <a:off x="4959307" y="3527350"/>
            <a:ext cx="3742648" cy="1334650"/>
          </a:xfrm>
          <a:prstGeom prst="rect">
            <a:avLst/>
          </a:prstGeom>
          <a:noFill/>
          <a:ln>
            <a:noFill/>
          </a:ln>
        </p:spPr>
      </p:pic>
      <p:sp>
        <p:nvSpPr>
          <p:cNvPr id="327" name="Google Shape;327;p18"/>
          <p:cNvSpPr/>
          <p:nvPr/>
        </p:nvSpPr>
        <p:spPr>
          <a:xfrm>
            <a:off x="4959450" y="3121250"/>
            <a:ext cx="3742800" cy="290100"/>
          </a:xfrm>
          <a:prstGeom prst="roundRect">
            <a:avLst>
              <a:gd fmla="val 41291" name="adj"/>
            </a:avLst>
          </a:prstGeom>
          <a:solidFill>
            <a:srgbClr val="04153C"/>
          </a:solidFill>
          <a:ln>
            <a:noFill/>
          </a:ln>
          <a:effectLst>
            <a:outerShdw blurRad="83155" rotWithShape="0" algn="bl" dir="5400000" dist="27718">
              <a:srgbClr val="000000">
                <a:alpha val="50000"/>
              </a:srgbClr>
            </a:outerShdw>
          </a:effectLst>
        </p:spPr>
        <p:txBody>
          <a:bodyPr anchorCtr="0" anchor="ctr" bIns="133025" lIns="133025" spcFirstLastPara="1" rIns="133025" wrap="square" tIns="133025">
            <a:noAutofit/>
          </a:bodyPr>
          <a:lstStyle/>
          <a:p>
            <a:pPr indent="0" lvl="0" marL="0" rtl="0" algn="ctr">
              <a:spcBef>
                <a:spcPts val="0"/>
              </a:spcBef>
              <a:spcAft>
                <a:spcPts val="0"/>
              </a:spcAft>
              <a:buClr>
                <a:srgbClr val="000000"/>
              </a:buClr>
              <a:buSzPts val="1601"/>
              <a:buFont typeface="Arial"/>
              <a:buNone/>
            </a:pPr>
            <a:r>
              <a:rPr b="1" lang="id" sz="1246">
                <a:solidFill>
                  <a:srgbClr val="AAC3FB"/>
                </a:solidFill>
                <a:latin typeface="Inter"/>
                <a:ea typeface="Inter"/>
                <a:cs typeface="Inter"/>
                <a:sym typeface="Inter"/>
              </a:rPr>
              <a:t>Diagram Sederhana</a:t>
            </a:r>
            <a:endParaRPr sz="1246">
              <a:solidFill>
                <a:srgbClr val="AAC3FB"/>
              </a:solidFill>
              <a:latin typeface="Inter"/>
              <a:ea typeface="Inter"/>
              <a:cs typeface="Inter"/>
              <a:sym typeface="Inter"/>
            </a:endParaRPr>
          </a:p>
        </p:txBody>
      </p:sp>
      <p:cxnSp>
        <p:nvCxnSpPr>
          <p:cNvPr id="328" name="Google Shape;328;p18"/>
          <p:cNvCxnSpPr/>
          <p:nvPr/>
        </p:nvCxnSpPr>
        <p:spPr>
          <a:xfrm flipH="1">
            <a:off x="4793250" y="3399825"/>
            <a:ext cx="8700" cy="1389300"/>
          </a:xfrm>
          <a:prstGeom prst="straightConnector1">
            <a:avLst/>
          </a:prstGeom>
          <a:noFill/>
          <a:ln cap="flat" cmpd="sng" w="19050">
            <a:solidFill>
              <a:schemeClr val="dk1"/>
            </a:solidFill>
            <a:prstDash val="lgDash"/>
            <a:round/>
            <a:headEnd len="med" w="med" type="none"/>
            <a:tailEnd len="med" w="med" type="none"/>
          </a:ln>
        </p:spPr>
      </p:cxnSp>
      <p:sp>
        <p:nvSpPr>
          <p:cNvPr id="329" name="Google Shape;329;p18"/>
          <p:cNvSpPr txBox="1"/>
          <p:nvPr/>
        </p:nvSpPr>
        <p:spPr>
          <a:xfrm>
            <a:off x="2688325" y="3069050"/>
            <a:ext cx="2040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700">
                <a:latin typeface="Google Sans"/>
                <a:ea typeface="Google Sans"/>
                <a:cs typeface="Google Sans"/>
                <a:sym typeface="Google Sans"/>
              </a:rPr>
              <a:t>Menggunakan representasi graf (node dan edge) untuk memodelkan denah gedung.</a:t>
            </a:r>
            <a:endParaRPr sz="700">
              <a:latin typeface="Google Sans"/>
              <a:ea typeface="Google Sans"/>
              <a:cs typeface="Google Sans"/>
              <a:sym typeface="Google Sans"/>
            </a:endParaRPr>
          </a:p>
        </p:txBody>
      </p:sp>
      <p:sp>
        <p:nvSpPr>
          <p:cNvPr id="330" name="Google Shape;330;p18"/>
          <p:cNvSpPr txBox="1"/>
          <p:nvPr/>
        </p:nvSpPr>
        <p:spPr>
          <a:xfrm>
            <a:off x="2688337" y="3422150"/>
            <a:ext cx="2040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700">
                <a:latin typeface="Google Sans"/>
                <a:ea typeface="Google Sans"/>
                <a:cs typeface="Google Sans"/>
                <a:sym typeface="Google Sans"/>
              </a:rPr>
              <a:t>Mencari rute terpendek dengan memperbarui bobot jalur secara dinamis saat ada bahaya.</a:t>
            </a:r>
            <a:endParaRPr sz="700">
              <a:latin typeface="Google Sans"/>
              <a:ea typeface="Google Sans"/>
              <a:cs typeface="Google Sans"/>
              <a:sym typeface="Google Sans"/>
            </a:endParaRPr>
          </a:p>
        </p:txBody>
      </p:sp>
      <p:sp>
        <p:nvSpPr>
          <p:cNvPr id="331" name="Google Shape;331;p18"/>
          <p:cNvSpPr txBox="1"/>
          <p:nvPr/>
        </p:nvSpPr>
        <p:spPr>
          <a:xfrm>
            <a:off x="2688325" y="3736622"/>
            <a:ext cx="2040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700">
                <a:latin typeface="Google Sans"/>
                <a:ea typeface="Google Sans"/>
                <a:cs typeface="Google Sans"/>
                <a:sym typeface="Google Sans"/>
              </a:rPr>
              <a:t>Mikrokontroler ESP32 sebagai pusat kendali sistem yang bekerja mandiri (stand-alone).</a:t>
            </a:r>
            <a:endParaRPr sz="700">
              <a:latin typeface="Google Sans"/>
              <a:ea typeface="Google Sans"/>
              <a:cs typeface="Google Sans"/>
              <a:sym typeface="Google Sans"/>
            </a:endParaRPr>
          </a:p>
        </p:txBody>
      </p:sp>
      <p:sp>
        <p:nvSpPr>
          <p:cNvPr id="332" name="Google Shape;332;p18"/>
          <p:cNvSpPr txBox="1"/>
          <p:nvPr/>
        </p:nvSpPr>
        <p:spPr>
          <a:xfrm>
            <a:off x="2688337" y="4081115"/>
            <a:ext cx="2040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700">
                <a:latin typeface="Google Sans"/>
                <a:ea typeface="Google Sans"/>
                <a:cs typeface="Google Sans"/>
                <a:sym typeface="Google Sans"/>
              </a:rPr>
              <a:t>Siklus pembacaan sensor dan kalkulasi rute dilakukan setiap 1000 ms (real-time).</a:t>
            </a:r>
            <a:endParaRPr sz="700">
              <a:latin typeface="Google Sans"/>
              <a:ea typeface="Google Sans"/>
              <a:cs typeface="Google Sans"/>
              <a:sym typeface="Google Sans"/>
            </a:endParaRPr>
          </a:p>
        </p:txBody>
      </p:sp>
      <p:sp>
        <p:nvSpPr>
          <p:cNvPr id="333" name="Google Shape;333;p18"/>
          <p:cNvSpPr txBox="1"/>
          <p:nvPr/>
        </p:nvSpPr>
        <p:spPr>
          <a:xfrm>
            <a:off x="2688325" y="4431083"/>
            <a:ext cx="20406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700">
                <a:latin typeface="Google Sans"/>
                <a:ea typeface="Google Sans"/>
                <a:cs typeface="Google Sans"/>
                <a:sym typeface="Google Sans"/>
              </a:rPr>
              <a:t>Instruksi suara dan arah LED berjalan bersama secara real-time untuk mengurangi kepanikan.</a:t>
            </a:r>
            <a:endParaRPr sz="700">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19"/>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339" name="Google Shape;339;p19"/>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19"/>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19"/>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19"/>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19"/>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19"/>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2</a:t>
            </a:r>
            <a:endParaRPr b="1" i="1" sz="1500">
              <a:solidFill>
                <a:srgbClr val="20124D"/>
              </a:solidFill>
              <a:latin typeface="Inter"/>
              <a:ea typeface="Inter"/>
              <a:cs typeface="Inter"/>
              <a:sym typeface="Inter"/>
            </a:endParaRPr>
          </a:p>
        </p:txBody>
      </p:sp>
      <p:sp>
        <p:nvSpPr>
          <p:cNvPr id="345" name="Google Shape;345;p19"/>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19"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347" name="Google Shape;347;p19"/>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348" name="Google Shape;348;p19"/>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Alternatif Solusi</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graphicFrame>
        <p:nvGraphicFramePr>
          <p:cNvPr id="349" name="Google Shape;349;p19"/>
          <p:cNvGraphicFramePr/>
          <p:nvPr/>
        </p:nvGraphicFramePr>
        <p:xfrm>
          <a:off x="316425" y="860288"/>
          <a:ext cx="3000000" cy="3000000"/>
        </p:xfrm>
        <a:graphic>
          <a:graphicData uri="http://schemas.openxmlformats.org/drawingml/2006/table">
            <a:tbl>
              <a:tblPr>
                <a:noFill/>
                <a:tableStyleId>{4CCED307-4028-4AF0-AD7A-AA683F458566}</a:tableStyleId>
              </a:tblPr>
              <a:tblGrid>
                <a:gridCol w="3091075"/>
                <a:gridCol w="2505550"/>
                <a:gridCol w="3021375"/>
              </a:tblGrid>
              <a:tr h="341975">
                <a:tc>
                  <a:txBody>
                    <a:bodyPr/>
                    <a:lstStyle/>
                    <a:p>
                      <a:pPr indent="0" lvl="0" marL="0" rtl="0" algn="ctr">
                        <a:lnSpc>
                          <a:spcPct val="115000"/>
                        </a:lnSpc>
                        <a:spcBef>
                          <a:spcPts val="0"/>
                        </a:spcBef>
                        <a:spcAft>
                          <a:spcPts val="0"/>
                        </a:spcAft>
                        <a:buNone/>
                      </a:pPr>
                      <a:r>
                        <a:rPr b="1" lang="id">
                          <a:solidFill>
                            <a:schemeClr val="lt1"/>
                          </a:solidFill>
                        </a:rPr>
                        <a:t>Sistem</a:t>
                      </a:r>
                      <a:endParaRPr b="1">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04153C"/>
                    </a:solidFill>
                  </a:tcPr>
                </a:tc>
                <a:tc>
                  <a:txBody>
                    <a:bodyPr/>
                    <a:lstStyle/>
                    <a:p>
                      <a:pPr indent="0" lvl="0" marL="0" rtl="0" algn="ctr">
                        <a:spcBef>
                          <a:spcPts val="0"/>
                        </a:spcBef>
                        <a:spcAft>
                          <a:spcPts val="0"/>
                        </a:spcAft>
                        <a:buNone/>
                      </a:pPr>
                      <a:r>
                        <a:rPr b="1" lang="id">
                          <a:solidFill>
                            <a:schemeClr val="lt1"/>
                          </a:solidFill>
                        </a:rPr>
                        <a:t>Kekurangan </a:t>
                      </a:r>
                      <a:endParaRPr b="1">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04153C"/>
                    </a:solidFill>
                  </a:tcPr>
                </a:tc>
                <a:tc>
                  <a:txBody>
                    <a:bodyPr/>
                    <a:lstStyle/>
                    <a:p>
                      <a:pPr indent="0" lvl="0" marL="0" rtl="0" algn="ctr">
                        <a:spcBef>
                          <a:spcPts val="0"/>
                        </a:spcBef>
                        <a:spcAft>
                          <a:spcPts val="0"/>
                        </a:spcAft>
                        <a:buNone/>
                      </a:pPr>
                      <a:r>
                        <a:rPr b="1" lang="id">
                          <a:solidFill>
                            <a:schemeClr val="lt1"/>
                          </a:solidFill>
                        </a:rPr>
                        <a:t>Solusi SAFE-EXIT </a:t>
                      </a:r>
                      <a:endParaRPr b="1">
                        <a:solidFill>
                          <a:schemeClr val="lt1"/>
                        </a:solidFill>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04153C"/>
                    </a:solidFill>
                  </a:tcPr>
                </a:tc>
              </a:tr>
              <a:tr h="715275">
                <a:tc>
                  <a:txBody>
                    <a:bodyPr/>
                    <a:lstStyle/>
                    <a:p>
                      <a:pPr indent="0" lvl="0" marL="0" rtl="0" algn="l">
                        <a:spcBef>
                          <a:spcPts val="0"/>
                        </a:spcBef>
                        <a:spcAft>
                          <a:spcPts val="0"/>
                        </a:spcAft>
                        <a:buNone/>
                      </a:pPr>
                      <a:r>
                        <a:rPr lang="id">
                          <a:latin typeface="Inter"/>
                          <a:ea typeface="Inter"/>
                          <a:cs typeface="Inter"/>
                          <a:sym typeface="Inter"/>
                        </a:rPr>
                        <a:t>Eaton Adaptive Evacuation System </a:t>
                      </a:r>
                      <a:endParaRPr>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Rambu dipasang di atas sehingga mudah tertutup asap saat kebakaran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SAFE-EXIT memasang LED di lantai agar tetap terlihat saat korban merangkak menghindari asap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87025">
                <a:tc>
                  <a:txBody>
                    <a:bodyPr/>
                    <a:lstStyle/>
                    <a:p>
                      <a:pPr indent="0" lvl="0" marL="0" rtl="0" algn="l">
                        <a:spcBef>
                          <a:spcPts val="0"/>
                        </a:spcBef>
                        <a:spcAft>
                          <a:spcPts val="0"/>
                        </a:spcAft>
                        <a:buNone/>
                      </a:pPr>
                      <a:r>
                        <a:rPr lang="id">
                          <a:latin typeface="Inter"/>
                          <a:ea typeface="Inter"/>
                          <a:cs typeface="Inter"/>
                          <a:sym typeface="Inter"/>
                        </a:rPr>
                        <a:t>Evaclite Dynamic Exit Signage </a:t>
                      </a:r>
                      <a:endParaRPr>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Bergantung pada panel alarm sentral dan jaringan gedung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SAFE-EXIT menggunakan mikrokontroler lokal sehingga dapat bekerja mandiri tanpa sistem pusat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837600">
                <a:tc>
                  <a:txBody>
                    <a:bodyPr/>
                    <a:lstStyle/>
                    <a:p>
                      <a:pPr indent="0" lvl="0" marL="0" rtl="0" algn="l">
                        <a:spcBef>
                          <a:spcPts val="0"/>
                        </a:spcBef>
                        <a:spcAft>
                          <a:spcPts val="0"/>
                        </a:spcAft>
                        <a:buNone/>
                      </a:pPr>
                      <a:r>
                        <a:rPr lang="id">
                          <a:latin typeface="Inter"/>
                          <a:ea typeface="Inter"/>
                          <a:cs typeface="Inter"/>
                          <a:sym typeface="Inter"/>
                        </a:rPr>
                        <a:t>Floor Proximity Emergency Path Marking </a:t>
                      </a:r>
                      <a:endParaRPr>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Jalur evakuasi bersifat statis dan tidak dapat berubah saat jalur terblokir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id" sz="1100">
                          <a:latin typeface="Inter"/>
                          <a:ea typeface="Inter"/>
                          <a:cs typeface="Inter"/>
                          <a:sym typeface="Inter"/>
                        </a:rPr>
                        <a:t>SAFE-EXIT menggunakan navigasi dinamis berbasis algoritma Dijkstra untuk mencari jalur aman alternatif secara real-time </a:t>
                      </a:r>
                      <a:endParaRPr sz="1100">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id="350" name="Google Shape;350;p19"/>
          <p:cNvPicPr preferRelativeResize="0"/>
          <p:nvPr/>
        </p:nvPicPr>
        <p:blipFill>
          <a:blip r:embed="rId5">
            <a:alphaModFix/>
          </a:blip>
          <a:stretch>
            <a:fillRect/>
          </a:stretch>
        </p:blipFill>
        <p:spPr>
          <a:xfrm>
            <a:off x="774950" y="3561032"/>
            <a:ext cx="2257956" cy="903175"/>
          </a:xfrm>
          <a:prstGeom prst="rect">
            <a:avLst/>
          </a:prstGeom>
          <a:noFill/>
          <a:ln>
            <a:noFill/>
          </a:ln>
        </p:spPr>
      </p:pic>
      <p:pic>
        <p:nvPicPr>
          <p:cNvPr id="351" name="Google Shape;351;p19"/>
          <p:cNvPicPr preferRelativeResize="0"/>
          <p:nvPr/>
        </p:nvPicPr>
        <p:blipFill>
          <a:blip r:embed="rId6">
            <a:alphaModFix/>
          </a:blip>
          <a:stretch>
            <a:fillRect/>
          </a:stretch>
        </p:blipFill>
        <p:spPr>
          <a:xfrm>
            <a:off x="3583888" y="3561025"/>
            <a:ext cx="1976225" cy="903175"/>
          </a:xfrm>
          <a:prstGeom prst="rect">
            <a:avLst/>
          </a:prstGeom>
          <a:noFill/>
          <a:ln cap="flat" cmpd="sng" w="19050">
            <a:solidFill>
              <a:schemeClr val="dk1"/>
            </a:solidFill>
            <a:prstDash val="solid"/>
            <a:round/>
            <a:headEnd len="sm" w="sm" type="none"/>
            <a:tailEnd len="sm" w="sm" type="none"/>
          </a:ln>
        </p:spPr>
      </p:pic>
      <p:pic>
        <p:nvPicPr>
          <p:cNvPr id="352" name="Google Shape;352;p19"/>
          <p:cNvPicPr preferRelativeResize="0"/>
          <p:nvPr/>
        </p:nvPicPr>
        <p:blipFill>
          <a:blip r:embed="rId7">
            <a:alphaModFix/>
          </a:blip>
          <a:stretch>
            <a:fillRect/>
          </a:stretch>
        </p:blipFill>
        <p:spPr>
          <a:xfrm>
            <a:off x="6378600" y="3561025"/>
            <a:ext cx="2113850" cy="903175"/>
          </a:xfrm>
          <a:prstGeom prst="rect">
            <a:avLst/>
          </a:prstGeom>
          <a:noFill/>
          <a:ln cap="flat" cmpd="sng" w="19050">
            <a:solidFill>
              <a:schemeClr val="dk1"/>
            </a:solidFill>
            <a:prstDash val="solid"/>
            <a:round/>
            <a:headEnd len="sm" w="sm" type="none"/>
            <a:tailEnd len="sm" w="sm" type="none"/>
          </a:ln>
        </p:spPr>
      </p:pic>
      <p:sp>
        <p:nvSpPr>
          <p:cNvPr id="353" name="Google Shape;353;p19"/>
          <p:cNvSpPr txBox="1"/>
          <p:nvPr/>
        </p:nvSpPr>
        <p:spPr>
          <a:xfrm>
            <a:off x="775025" y="4451000"/>
            <a:ext cx="22578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100">
                <a:solidFill>
                  <a:schemeClr val="dk1"/>
                </a:solidFill>
                <a:latin typeface="Inter"/>
                <a:ea typeface="Inter"/>
                <a:cs typeface="Inter"/>
                <a:sym typeface="Inter"/>
              </a:rPr>
              <a:t>Eaton Adaptive Evacuation System</a:t>
            </a:r>
            <a:endParaRPr b="1" sz="1100">
              <a:solidFill>
                <a:schemeClr val="dk1"/>
              </a:solidFill>
              <a:latin typeface="Inter"/>
              <a:ea typeface="Inter"/>
              <a:cs typeface="Inter"/>
              <a:sym typeface="Inter"/>
            </a:endParaRPr>
          </a:p>
        </p:txBody>
      </p:sp>
      <p:sp>
        <p:nvSpPr>
          <p:cNvPr id="354" name="Google Shape;354;p19"/>
          <p:cNvSpPr txBox="1"/>
          <p:nvPr/>
        </p:nvSpPr>
        <p:spPr>
          <a:xfrm>
            <a:off x="3537600" y="4451000"/>
            <a:ext cx="20688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100">
                <a:solidFill>
                  <a:schemeClr val="dk1"/>
                </a:solidFill>
                <a:latin typeface="Inter"/>
                <a:ea typeface="Inter"/>
                <a:cs typeface="Inter"/>
                <a:sym typeface="Inter"/>
              </a:rPr>
              <a:t>Evaclite Dynamic Exit Signage</a:t>
            </a:r>
            <a:endParaRPr b="1" sz="1100">
              <a:solidFill>
                <a:schemeClr val="dk1"/>
              </a:solidFill>
              <a:latin typeface="Inter"/>
              <a:ea typeface="Inter"/>
              <a:cs typeface="Inter"/>
              <a:sym typeface="Inter"/>
            </a:endParaRPr>
          </a:p>
        </p:txBody>
      </p:sp>
      <p:sp>
        <p:nvSpPr>
          <p:cNvPr id="355" name="Google Shape;355;p19"/>
          <p:cNvSpPr txBox="1"/>
          <p:nvPr/>
        </p:nvSpPr>
        <p:spPr>
          <a:xfrm>
            <a:off x="6378600" y="4466300"/>
            <a:ext cx="2113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1000">
                <a:solidFill>
                  <a:schemeClr val="dk1"/>
                </a:solidFill>
                <a:latin typeface="Inter"/>
                <a:ea typeface="Inter"/>
                <a:cs typeface="Inter"/>
                <a:sym typeface="Inter"/>
              </a:rPr>
              <a:t>Floor Proximity Emergency Pat</a:t>
            </a:r>
            <a:r>
              <a:rPr b="1" lang="id" sz="1000">
                <a:solidFill>
                  <a:schemeClr val="dk1"/>
                </a:solidFill>
                <a:latin typeface="Inter"/>
                <a:ea typeface="Inter"/>
                <a:cs typeface="Inter"/>
                <a:sym typeface="Inter"/>
              </a:rPr>
              <a:t>h</a:t>
            </a:r>
            <a:r>
              <a:rPr b="1" lang="id" sz="1000">
                <a:solidFill>
                  <a:schemeClr val="dk1"/>
                </a:solidFill>
                <a:latin typeface="Inter"/>
                <a:ea typeface="Inter"/>
                <a:cs typeface="Inter"/>
                <a:sym typeface="Inter"/>
              </a:rPr>
              <a:t> Marking </a:t>
            </a:r>
            <a:endParaRPr b="1" sz="1000">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20"/>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361" name="Google Shape;361;p20"/>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20"/>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20"/>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20"/>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20"/>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0"/>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2</a:t>
            </a:r>
            <a:endParaRPr b="1" i="1" sz="1500">
              <a:solidFill>
                <a:srgbClr val="20124D"/>
              </a:solidFill>
              <a:latin typeface="Inter"/>
              <a:ea typeface="Inter"/>
              <a:cs typeface="Inter"/>
              <a:sym typeface="Inter"/>
            </a:endParaRPr>
          </a:p>
        </p:txBody>
      </p:sp>
      <p:sp>
        <p:nvSpPr>
          <p:cNvPr id="367" name="Google Shape;367;p20"/>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8" name="Google Shape;368;p20"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369" name="Google Shape;369;p20"/>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370" name="Google Shape;370;p20"/>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Alternatif Solusi</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sp>
        <p:nvSpPr>
          <p:cNvPr id="371" name="Google Shape;371;p20"/>
          <p:cNvSpPr/>
          <p:nvPr/>
        </p:nvSpPr>
        <p:spPr>
          <a:xfrm>
            <a:off x="189425" y="785450"/>
            <a:ext cx="4497300" cy="317700"/>
          </a:xfrm>
          <a:prstGeom prst="roundRect">
            <a:avLst>
              <a:gd fmla="val 41291" name="adj"/>
            </a:avLst>
          </a:prstGeom>
          <a:solidFill>
            <a:srgbClr val="04153C"/>
          </a:solidFill>
          <a:ln>
            <a:noFill/>
          </a:ln>
          <a:effectLst>
            <a:outerShdw blurRad="71883" rotWithShape="0" algn="bl" dir="5400000" dist="23961">
              <a:srgbClr val="000000">
                <a:alpha val="50000"/>
              </a:srgbClr>
            </a:outerShdw>
          </a:effectLst>
        </p:spPr>
        <p:txBody>
          <a:bodyPr anchorCtr="0" anchor="ctr" bIns="115000" lIns="115000" spcFirstLastPara="1" rIns="115000" wrap="square" tIns="115000">
            <a:noAutofit/>
          </a:bodyPr>
          <a:lstStyle/>
          <a:p>
            <a:pPr indent="0" lvl="0" marL="0" rtl="0" algn="ctr">
              <a:spcBef>
                <a:spcPts val="0"/>
              </a:spcBef>
              <a:spcAft>
                <a:spcPts val="0"/>
              </a:spcAft>
              <a:buClr>
                <a:srgbClr val="000000"/>
              </a:buClr>
              <a:buSzPts val="1384"/>
              <a:buFont typeface="Arial"/>
              <a:buNone/>
            </a:pPr>
            <a:r>
              <a:rPr b="1" lang="id" sz="1509">
                <a:solidFill>
                  <a:srgbClr val="AAC3FB"/>
                </a:solidFill>
                <a:latin typeface="Inter"/>
                <a:ea typeface="Inter"/>
                <a:cs typeface="Inter"/>
                <a:sym typeface="Inter"/>
              </a:rPr>
              <a:t>Diagram Sederhana</a:t>
            </a:r>
            <a:endParaRPr sz="1509">
              <a:solidFill>
                <a:srgbClr val="AAC3FB"/>
              </a:solidFill>
              <a:latin typeface="Inter"/>
              <a:ea typeface="Inter"/>
              <a:cs typeface="Inter"/>
              <a:sym typeface="Inter"/>
            </a:endParaRPr>
          </a:p>
        </p:txBody>
      </p:sp>
      <p:pic>
        <p:nvPicPr>
          <p:cNvPr id="372" name="Google Shape;372;p20"/>
          <p:cNvPicPr preferRelativeResize="0"/>
          <p:nvPr/>
        </p:nvPicPr>
        <p:blipFill>
          <a:blip r:embed="rId5">
            <a:alphaModFix/>
          </a:blip>
          <a:stretch>
            <a:fillRect/>
          </a:stretch>
        </p:blipFill>
        <p:spPr>
          <a:xfrm>
            <a:off x="255145" y="1103168"/>
            <a:ext cx="4365715" cy="3785232"/>
          </a:xfrm>
          <a:prstGeom prst="rect">
            <a:avLst/>
          </a:prstGeom>
          <a:noFill/>
          <a:ln>
            <a:noFill/>
          </a:ln>
          <a:effectLst>
            <a:outerShdw blurRad="71883" rotWithShape="0" algn="bl" dir="5400000" dist="23961">
              <a:srgbClr val="000000">
                <a:alpha val="50000"/>
              </a:srgbClr>
            </a:outerShdw>
          </a:effectLst>
        </p:spPr>
      </p:pic>
      <p:sp>
        <p:nvSpPr>
          <p:cNvPr id="373" name="Google Shape;373;p20"/>
          <p:cNvSpPr/>
          <p:nvPr/>
        </p:nvSpPr>
        <p:spPr>
          <a:xfrm>
            <a:off x="4975150" y="1147382"/>
            <a:ext cx="295800" cy="4002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1</a:t>
            </a:r>
            <a:endParaRPr b="1" sz="1200">
              <a:solidFill>
                <a:srgbClr val="FFFFFF"/>
              </a:solidFill>
              <a:latin typeface="Inter"/>
              <a:ea typeface="Inter"/>
              <a:cs typeface="Inter"/>
              <a:sym typeface="Inter"/>
            </a:endParaRPr>
          </a:p>
        </p:txBody>
      </p:sp>
      <p:sp>
        <p:nvSpPr>
          <p:cNvPr id="374" name="Google Shape;374;p20"/>
          <p:cNvSpPr/>
          <p:nvPr/>
        </p:nvSpPr>
        <p:spPr>
          <a:xfrm>
            <a:off x="4954450" y="2289467"/>
            <a:ext cx="2958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2</a:t>
            </a:r>
            <a:endParaRPr b="1" sz="1200">
              <a:solidFill>
                <a:srgbClr val="FFFFFF"/>
              </a:solidFill>
              <a:latin typeface="Inter"/>
              <a:ea typeface="Inter"/>
              <a:cs typeface="Inter"/>
              <a:sym typeface="Inter"/>
            </a:endParaRPr>
          </a:p>
        </p:txBody>
      </p:sp>
      <p:sp>
        <p:nvSpPr>
          <p:cNvPr id="375" name="Google Shape;375;p20"/>
          <p:cNvSpPr/>
          <p:nvPr/>
        </p:nvSpPr>
        <p:spPr>
          <a:xfrm>
            <a:off x="4975150" y="3800881"/>
            <a:ext cx="295800" cy="4155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3</a:t>
            </a:r>
            <a:endParaRPr b="1" sz="1200">
              <a:solidFill>
                <a:srgbClr val="FFFFFF"/>
              </a:solidFill>
              <a:latin typeface="Inter"/>
              <a:ea typeface="Inter"/>
              <a:cs typeface="Inter"/>
              <a:sym typeface="Inter"/>
            </a:endParaRPr>
          </a:p>
        </p:txBody>
      </p:sp>
      <p:sp>
        <p:nvSpPr>
          <p:cNvPr id="376" name="Google Shape;376;p20"/>
          <p:cNvSpPr txBox="1"/>
          <p:nvPr/>
        </p:nvSpPr>
        <p:spPr>
          <a:xfrm>
            <a:off x="5300326" y="1038050"/>
            <a:ext cx="35073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id">
                <a:solidFill>
                  <a:schemeClr val="dk1"/>
                </a:solidFill>
                <a:latin typeface="Google Sans"/>
                <a:ea typeface="Google Sans"/>
                <a:cs typeface="Google Sans"/>
                <a:sym typeface="Google Sans"/>
              </a:rPr>
              <a:t>Visibilitas Asap:</a:t>
            </a:r>
            <a:r>
              <a:rPr lang="id">
                <a:solidFill>
                  <a:schemeClr val="dk1"/>
                </a:solidFill>
                <a:latin typeface="Google Sans"/>
                <a:ea typeface="Google Sans"/>
                <a:cs typeface="Google Sans"/>
                <a:sym typeface="Google Sans"/>
              </a:rPr>
              <a:t> Memindahkan instalasi rambu dari langit-langit ke </a:t>
            </a:r>
            <a:r>
              <a:rPr b="1" lang="id">
                <a:solidFill>
                  <a:schemeClr val="dk1"/>
                </a:solidFill>
                <a:latin typeface="Google Sans"/>
                <a:ea typeface="Google Sans"/>
                <a:cs typeface="Google Sans"/>
                <a:sym typeface="Google Sans"/>
              </a:rPr>
              <a:t>lantai</a:t>
            </a:r>
            <a:r>
              <a:rPr lang="id">
                <a:solidFill>
                  <a:schemeClr val="dk1"/>
                </a:solidFill>
                <a:latin typeface="Google Sans"/>
                <a:ea typeface="Google Sans"/>
                <a:cs typeface="Google Sans"/>
                <a:sym typeface="Google Sans"/>
              </a:rPr>
              <a:t> agar tetap terlihat jelas saat korban merangkak menghindari asap tebal.</a:t>
            </a:r>
            <a:endParaRPr>
              <a:latin typeface="Inter"/>
              <a:ea typeface="Inter"/>
              <a:cs typeface="Inter"/>
              <a:sym typeface="Inter"/>
            </a:endParaRPr>
          </a:p>
        </p:txBody>
      </p:sp>
      <p:sp>
        <p:nvSpPr>
          <p:cNvPr id="377" name="Google Shape;377;p20"/>
          <p:cNvSpPr txBox="1"/>
          <p:nvPr/>
        </p:nvSpPr>
        <p:spPr>
          <a:xfrm>
            <a:off x="5344783" y="2135300"/>
            <a:ext cx="32052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id">
                <a:solidFill>
                  <a:schemeClr val="dk1"/>
                </a:solidFill>
                <a:latin typeface="Google Sans"/>
                <a:ea typeface="Google Sans"/>
                <a:cs typeface="Google Sans"/>
                <a:sym typeface="Google Sans"/>
              </a:rPr>
              <a:t>Kemandirian Sistem:</a:t>
            </a:r>
            <a:r>
              <a:rPr lang="id">
                <a:solidFill>
                  <a:schemeClr val="dk1"/>
                </a:solidFill>
                <a:latin typeface="Google Sans"/>
                <a:ea typeface="Google Sans"/>
                <a:cs typeface="Google Sans"/>
                <a:sym typeface="Google Sans"/>
              </a:rPr>
              <a:t> Menggunakan </a:t>
            </a:r>
            <a:r>
              <a:rPr b="1" lang="id">
                <a:solidFill>
                  <a:schemeClr val="dk1"/>
                </a:solidFill>
                <a:latin typeface="Google Sans"/>
                <a:ea typeface="Google Sans"/>
                <a:cs typeface="Google Sans"/>
                <a:sym typeface="Google Sans"/>
              </a:rPr>
              <a:t>mikrokontroler </a:t>
            </a:r>
            <a:r>
              <a:rPr lang="id">
                <a:solidFill>
                  <a:schemeClr val="dk1"/>
                </a:solidFill>
                <a:latin typeface="Google Sans"/>
                <a:ea typeface="Google Sans"/>
                <a:cs typeface="Google Sans"/>
                <a:sym typeface="Google Sans"/>
              </a:rPr>
              <a:t>sehingga dapat beroperasi mandiri dan menghitung rute sendiri, tanpa takut jaringan terputus atau panel sentral rusak akibat gempa.</a:t>
            </a:r>
            <a:endParaRPr>
              <a:latin typeface="Inter"/>
              <a:ea typeface="Inter"/>
              <a:cs typeface="Inter"/>
              <a:sym typeface="Inter"/>
            </a:endParaRPr>
          </a:p>
        </p:txBody>
      </p:sp>
      <p:sp>
        <p:nvSpPr>
          <p:cNvPr id="378" name="Google Shape;378;p20"/>
          <p:cNvSpPr txBox="1"/>
          <p:nvPr/>
        </p:nvSpPr>
        <p:spPr>
          <a:xfrm>
            <a:off x="5280582" y="3663350"/>
            <a:ext cx="33336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id">
                <a:solidFill>
                  <a:schemeClr val="dk1"/>
                </a:solidFill>
                <a:latin typeface="Google Sans"/>
                <a:ea typeface="Google Sans"/>
                <a:cs typeface="Google Sans"/>
                <a:sym typeface="Google Sans"/>
              </a:rPr>
              <a:t>Navigasi Dinamis:</a:t>
            </a:r>
            <a:r>
              <a:rPr lang="id">
                <a:solidFill>
                  <a:schemeClr val="dk1"/>
                </a:solidFill>
                <a:latin typeface="Google Sans"/>
                <a:ea typeface="Google Sans"/>
                <a:cs typeface="Google Sans"/>
                <a:sym typeface="Google Sans"/>
              </a:rPr>
              <a:t> Mampu </a:t>
            </a:r>
            <a:r>
              <a:rPr b="1" lang="id">
                <a:solidFill>
                  <a:schemeClr val="dk1"/>
                </a:solidFill>
                <a:latin typeface="Google Sans"/>
                <a:ea typeface="Google Sans"/>
                <a:cs typeface="Google Sans"/>
                <a:sym typeface="Google Sans"/>
              </a:rPr>
              <a:t>mengubah arah panah secara </a:t>
            </a:r>
            <a:r>
              <a:rPr b="1" i="1" lang="id">
                <a:solidFill>
                  <a:schemeClr val="dk1"/>
                </a:solidFill>
                <a:latin typeface="Google Sans"/>
                <a:ea typeface="Google Sans"/>
                <a:cs typeface="Google Sans"/>
                <a:sym typeface="Google Sans"/>
              </a:rPr>
              <a:t>real-time</a:t>
            </a:r>
            <a:r>
              <a:rPr lang="id">
                <a:solidFill>
                  <a:schemeClr val="dk1"/>
                </a:solidFill>
                <a:latin typeface="Google Sans"/>
                <a:ea typeface="Google Sans"/>
                <a:cs typeface="Google Sans"/>
                <a:sym typeface="Google Sans"/>
              </a:rPr>
              <a:t> untuk menuntun korban ke rute alternatif yang aman jika jalur utama terblokir oleh api atau bahaya lainnya.</a:t>
            </a:r>
            <a:endParaRPr b="1">
              <a:solidFill>
                <a:schemeClr val="dk1"/>
              </a:solidFill>
              <a:latin typeface="Inter"/>
              <a:ea typeface="Inter"/>
              <a:cs typeface="Inter"/>
              <a:sym typeface="Inter"/>
            </a:endParaRPr>
          </a:p>
        </p:txBody>
      </p:sp>
      <p:sp>
        <p:nvSpPr>
          <p:cNvPr id="379" name="Google Shape;379;p20"/>
          <p:cNvSpPr txBox="1"/>
          <p:nvPr/>
        </p:nvSpPr>
        <p:spPr>
          <a:xfrm>
            <a:off x="5315248" y="2673950"/>
            <a:ext cx="21180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21"/>
          <p:cNvPicPr preferRelativeResize="0"/>
          <p:nvPr/>
        </p:nvPicPr>
        <p:blipFill>
          <a:blip r:embed="rId3">
            <a:alphaModFix/>
          </a:blip>
          <a:stretch>
            <a:fillRect/>
          </a:stretch>
        </p:blipFill>
        <p:spPr>
          <a:xfrm>
            <a:off x="-1350150" y="2289475"/>
            <a:ext cx="1317900" cy="2854025"/>
          </a:xfrm>
          <a:prstGeom prst="rect">
            <a:avLst/>
          </a:prstGeom>
          <a:noFill/>
          <a:ln>
            <a:noFill/>
          </a:ln>
        </p:spPr>
      </p:pic>
      <p:sp>
        <p:nvSpPr>
          <p:cNvPr id="385" name="Google Shape;385;p21"/>
          <p:cNvSpPr/>
          <p:nvPr/>
        </p:nvSpPr>
        <p:spPr>
          <a:xfrm>
            <a:off x="-13293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21"/>
          <p:cNvSpPr/>
          <p:nvPr/>
        </p:nvSpPr>
        <p:spPr>
          <a:xfrm>
            <a:off x="-13293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21"/>
          <p:cNvSpPr/>
          <p:nvPr/>
        </p:nvSpPr>
        <p:spPr>
          <a:xfrm>
            <a:off x="-13501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21"/>
          <p:cNvSpPr/>
          <p:nvPr/>
        </p:nvSpPr>
        <p:spPr>
          <a:xfrm>
            <a:off x="-13501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21"/>
          <p:cNvSpPr/>
          <p:nvPr/>
        </p:nvSpPr>
        <p:spPr>
          <a:xfrm>
            <a:off x="-13293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21"/>
          <p:cNvSpPr txBox="1"/>
          <p:nvPr/>
        </p:nvSpPr>
        <p:spPr>
          <a:xfrm>
            <a:off x="4552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2</a:t>
            </a:r>
            <a:endParaRPr b="1" i="1" sz="1500">
              <a:solidFill>
                <a:srgbClr val="20124D"/>
              </a:solidFill>
              <a:latin typeface="Inter"/>
              <a:ea typeface="Inter"/>
              <a:cs typeface="Inter"/>
              <a:sym typeface="Inter"/>
            </a:endParaRPr>
          </a:p>
        </p:txBody>
      </p:sp>
      <p:sp>
        <p:nvSpPr>
          <p:cNvPr id="391" name="Google Shape;391;p21"/>
          <p:cNvSpPr/>
          <p:nvPr/>
        </p:nvSpPr>
        <p:spPr>
          <a:xfrm>
            <a:off x="73395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2" name="Google Shape;392;p21" title="logo elektro.png"/>
          <p:cNvPicPr preferRelativeResize="0"/>
          <p:nvPr/>
        </p:nvPicPr>
        <p:blipFill>
          <a:blip r:embed="rId4">
            <a:alphaModFix/>
          </a:blip>
          <a:stretch>
            <a:fillRect/>
          </a:stretch>
        </p:blipFill>
        <p:spPr>
          <a:xfrm>
            <a:off x="7339579" y="9898"/>
            <a:ext cx="1514048" cy="638064"/>
          </a:xfrm>
          <a:prstGeom prst="rect">
            <a:avLst/>
          </a:prstGeom>
          <a:noFill/>
          <a:ln>
            <a:noFill/>
          </a:ln>
        </p:spPr>
      </p:pic>
      <p:sp>
        <p:nvSpPr>
          <p:cNvPr id="393" name="Google Shape;393;p21"/>
          <p:cNvSpPr/>
          <p:nvPr/>
        </p:nvSpPr>
        <p:spPr>
          <a:xfrm>
            <a:off x="2356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394" name="Google Shape;394;p21"/>
          <p:cNvSpPr txBox="1"/>
          <p:nvPr/>
        </p:nvSpPr>
        <p:spPr>
          <a:xfrm>
            <a:off x="4552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Standard &amp; Realistic Constraint</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sp>
        <p:nvSpPr>
          <p:cNvPr id="395" name="Google Shape;395;p21"/>
          <p:cNvSpPr/>
          <p:nvPr/>
        </p:nvSpPr>
        <p:spPr>
          <a:xfrm>
            <a:off x="235625" y="1044965"/>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304800" lvl="0" marL="457200" rtl="0" algn="just">
              <a:spcBef>
                <a:spcPts val="0"/>
              </a:spcBef>
              <a:spcAft>
                <a:spcPts val="0"/>
              </a:spcAft>
              <a:buSzPts val="1200"/>
              <a:buFont typeface="Inter"/>
              <a:buChar char="●"/>
            </a:pPr>
            <a:r>
              <a:rPr lang="id" sz="1200">
                <a:latin typeface="Inter"/>
                <a:ea typeface="Inter"/>
                <a:cs typeface="Inter"/>
                <a:sym typeface="Inter"/>
              </a:rPr>
              <a:t>Sensor asap dan api harus sensitif namun minim false alarm</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Volume audio harus cukup keras dan jelas</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LED harus tetap terlihat dalam kondisi asap tebal</a:t>
            </a:r>
            <a:endParaRPr sz="1200">
              <a:latin typeface="Inter"/>
              <a:ea typeface="Inter"/>
              <a:cs typeface="Inter"/>
              <a:sym typeface="Inter"/>
            </a:endParaRPr>
          </a:p>
          <a:p>
            <a:pPr indent="0" lvl="0" marL="0" rtl="0" algn="just">
              <a:spcBef>
                <a:spcPts val="0"/>
              </a:spcBef>
              <a:spcAft>
                <a:spcPts val="0"/>
              </a:spcAft>
              <a:buNone/>
            </a:pPr>
            <a:r>
              <a:t/>
            </a:r>
            <a:endParaRPr sz="1200">
              <a:latin typeface="Inter"/>
              <a:ea typeface="Inter"/>
              <a:cs typeface="Inter"/>
              <a:sym typeface="Inter"/>
            </a:endParaRPr>
          </a:p>
        </p:txBody>
      </p:sp>
      <p:cxnSp>
        <p:nvCxnSpPr>
          <p:cNvPr id="396" name="Google Shape;396;p21"/>
          <p:cNvCxnSpPr/>
          <p:nvPr/>
        </p:nvCxnSpPr>
        <p:spPr>
          <a:xfrm>
            <a:off x="235636" y="2571750"/>
            <a:ext cx="8615700" cy="0"/>
          </a:xfrm>
          <a:prstGeom prst="straightConnector1">
            <a:avLst/>
          </a:prstGeom>
          <a:noFill/>
          <a:ln cap="flat" cmpd="sng" w="19050">
            <a:solidFill>
              <a:schemeClr val="dk1"/>
            </a:solidFill>
            <a:prstDash val="solid"/>
            <a:round/>
            <a:headEnd len="med" w="med" type="none"/>
            <a:tailEnd len="med" w="med" type="none"/>
          </a:ln>
        </p:spPr>
      </p:cxnSp>
      <p:cxnSp>
        <p:nvCxnSpPr>
          <p:cNvPr id="397" name="Google Shape;397;p21"/>
          <p:cNvCxnSpPr/>
          <p:nvPr/>
        </p:nvCxnSpPr>
        <p:spPr>
          <a:xfrm>
            <a:off x="4569950" y="780450"/>
            <a:ext cx="4800" cy="3582600"/>
          </a:xfrm>
          <a:prstGeom prst="straightConnector1">
            <a:avLst/>
          </a:prstGeom>
          <a:noFill/>
          <a:ln cap="flat" cmpd="sng" w="19050">
            <a:solidFill>
              <a:schemeClr val="dk1"/>
            </a:solidFill>
            <a:prstDash val="solid"/>
            <a:round/>
            <a:headEnd len="med" w="med" type="none"/>
            <a:tailEnd len="med" w="med" type="none"/>
          </a:ln>
        </p:spPr>
      </p:cxnSp>
      <p:sp>
        <p:nvSpPr>
          <p:cNvPr id="398" name="Google Shape;398;p21"/>
          <p:cNvSpPr/>
          <p:nvPr/>
        </p:nvSpPr>
        <p:spPr>
          <a:xfrm>
            <a:off x="235625" y="780439"/>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Standar Target Solusi </a:t>
            </a:r>
            <a:endParaRPr sz="1200">
              <a:solidFill>
                <a:srgbClr val="AAC3FB"/>
              </a:solidFill>
              <a:latin typeface="Inter"/>
              <a:ea typeface="Inter"/>
              <a:cs typeface="Inter"/>
              <a:sym typeface="Inter"/>
            </a:endParaRPr>
          </a:p>
        </p:txBody>
      </p:sp>
      <p:sp>
        <p:nvSpPr>
          <p:cNvPr id="399" name="Google Shape;399;p21"/>
          <p:cNvSpPr/>
          <p:nvPr/>
        </p:nvSpPr>
        <p:spPr>
          <a:xfrm>
            <a:off x="235625" y="2959540"/>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304800" lvl="0" marL="457200" rtl="0" algn="just">
              <a:spcBef>
                <a:spcPts val="0"/>
              </a:spcBef>
              <a:spcAft>
                <a:spcPts val="0"/>
              </a:spcAft>
              <a:buSzPts val="1200"/>
              <a:buFont typeface="Inter"/>
              <a:buChar char="●"/>
            </a:pPr>
            <a:r>
              <a:rPr lang="id" sz="1200">
                <a:latin typeface="Inter"/>
                <a:ea typeface="Inter"/>
                <a:cs typeface="Inter"/>
                <a:sym typeface="Inter"/>
              </a:rPr>
              <a:t>Tidak menggunakan protoboard atau jumper</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Semua komponen disolder permanen pada PCB</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Menggunakan resistor 100Ω, 220Ω, 330Ω, dan 1000Ω</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Dioda Zener digunakan sebagai penstabil tegangan</a:t>
            </a:r>
            <a:endParaRPr sz="1200">
              <a:latin typeface="Inter"/>
              <a:ea typeface="Inter"/>
              <a:cs typeface="Inter"/>
              <a:sym typeface="Inter"/>
            </a:endParaRPr>
          </a:p>
        </p:txBody>
      </p:sp>
      <p:sp>
        <p:nvSpPr>
          <p:cNvPr id="400" name="Google Shape;400;p21"/>
          <p:cNvSpPr/>
          <p:nvPr/>
        </p:nvSpPr>
        <p:spPr>
          <a:xfrm>
            <a:off x="235625" y="2695014"/>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Standar Perancangan Sistem </a:t>
            </a:r>
            <a:endParaRPr sz="1200">
              <a:solidFill>
                <a:srgbClr val="AAC3FB"/>
              </a:solidFill>
              <a:latin typeface="Inter"/>
              <a:ea typeface="Inter"/>
              <a:cs typeface="Inter"/>
              <a:sym typeface="Inter"/>
            </a:endParaRPr>
          </a:p>
        </p:txBody>
      </p:sp>
      <p:sp>
        <p:nvSpPr>
          <p:cNvPr id="401" name="Google Shape;401;p21"/>
          <p:cNvSpPr/>
          <p:nvPr/>
        </p:nvSpPr>
        <p:spPr>
          <a:xfrm>
            <a:off x="4721075" y="1058527"/>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304800" lvl="0" marL="457200" rtl="0" algn="just">
              <a:spcBef>
                <a:spcPts val="0"/>
              </a:spcBef>
              <a:spcAft>
                <a:spcPts val="0"/>
              </a:spcAft>
              <a:buSzPts val="1200"/>
              <a:buFont typeface="Inter"/>
              <a:buChar char="●"/>
            </a:pPr>
            <a:r>
              <a:rPr lang="id" sz="1200">
                <a:latin typeface="Inter"/>
                <a:ea typeface="Inter"/>
                <a:cs typeface="Inter"/>
                <a:sym typeface="Inter"/>
              </a:rPr>
              <a:t>Sistem wajib memperbarui rute setiap 1000 ms</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Sinkronisasi LED dan audio harus tanpa delay</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Jalur data LED rentan rusak jika terlalu panjang</a:t>
            </a:r>
            <a:endParaRPr sz="1200">
              <a:latin typeface="Inter"/>
              <a:ea typeface="Inter"/>
              <a:cs typeface="Inter"/>
              <a:sym typeface="Inter"/>
            </a:endParaRPr>
          </a:p>
          <a:p>
            <a:pPr indent="0" lvl="0" marL="0" rtl="0" algn="just">
              <a:spcBef>
                <a:spcPts val="0"/>
              </a:spcBef>
              <a:spcAft>
                <a:spcPts val="0"/>
              </a:spcAft>
              <a:buNone/>
            </a:pPr>
            <a:r>
              <a:t/>
            </a:r>
            <a:endParaRPr sz="1200">
              <a:latin typeface="Inter"/>
              <a:ea typeface="Inter"/>
              <a:cs typeface="Inter"/>
              <a:sym typeface="Inter"/>
            </a:endParaRPr>
          </a:p>
        </p:txBody>
      </p:sp>
      <p:sp>
        <p:nvSpPr>
          <p:cNvPr id="402" name="Google Shape;402;p21"/>
          <p:cNvSpPr/>
          <p:nvPr/>
        </p:nvSpPr>
        <p:spPr>
          <a:xfrm>
            <a:off x="4721075" y="794002"/>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Kendala Teknis </a:t>
            </a:r>
            <a:endParaRPr sz="1200">
              <a:solidFill>
                <a:srgbClr val="AAC3FB"/>
              </a:solidFill>
              <a:latin typeface="Inter"/>
              <a:ea typeface="Inter"/>
              <a:cs typeface="Inter"/>
              <a:sym typeface="Inter"/>
            </a:endParaRPr>
          </a:p>
        </p:txBody>
      </p:sp>
      <p:sp>
        <p:nvSpPr>
          <p:cNvPr id="403" name="Google Shape;403;p21"/>
          <p:cNvSpPr/>
          <p:nvPr/>
        </p:nvSpPr>
        <p:spPr>
          <a:xfrm>
            <a:off x="4721075" y="2959540"/>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304800" lvl="0" marL="457200" rtl="0" algn="just">
              <a:spcBef>
                <a:spcPts val="0"/>
              </a:spcBef>
              <a:spcAft>
                <a:spcPts val="0"/>
              </a:spcAft>
              <a:buSzPts val="1200"/>
              <a:buFont typeface="Inter"/>
              <a:buChar char="●"/>
            </a:pPr>
            <a:r>
              <a:rPr lang="id" sz="1200">
                <a:latin typeface="Inter"/>
                <a:ea typeface="Inter"/>
                <a:cs typeface="Inter"/>
                <a:sym typeface="Inter"/>
              </a:rPr>
              <a:t>Material harus tahan api dan anti licin</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Audio dirancang untuk mengurangi kepanikan</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Biaya sistem harus lebih ekonomis dibanding solusi komersial</a:t>
            </a:r>
            <a:endParaRPr sz="1200">
              <a:latin typeface="Inter"/>
              <a:ea typeface="Inter"/>
              <a:cs typeface="Inter"/>
              <a:sym typeface="Inter"/>
            </a:endParaRPr>
          </a:p>
          <a:p>
            <a:pPr indent="0" lvl="0" marL="0" rtl="0" algn="just">
              <a:spcBef>
                <a:spcPts val="0"/>
              </a:spcBef>
              <a:spcAft>
                <a:spcPts val="0"/>
              </a:spcAft>
              <a:buNone/>
            </a:pPr>
            <a:r>
              <a:t/>
            </a:r>
            <a:endParaRPr sz="1200">
              <a:latin typeface="Inter"/>
              <a:ea typeface="Inter"/>
              <a:cs typeface="Inter"/>
              <a:sym typeface="Inter"/>
            </a:endParaRPr>
          </a:p>
        </p:txBody>
      </p:sp>
      <p:sp>
        <p:nvSpPr>
          <p:cNvPr id="404" name="Google Shape;404;p21"/>
          <p:cNvSpPr/>
          <p:nvPr/>
        </p:nvSpPr>
        <p:spPr>
          <a:xfrm>
            <a:off x="4721075" y="2695014"/>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Kendala Non-Teknis </a:t>
            </a:r>
            <a:endParaRPr sz="1200">
              <a:solidFill>
                <a:srgbClr val="AAC3FB"/>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22"/>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410" name="Google Shape;410;p22"/>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2"/>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22"/>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22"/>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22"/>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2"/>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416" name="Google Shape;416;p22"/>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7" name="Google Shape;417;p22"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418" name="Google Shape;418;p22"/>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419" name="Google Shape;419;p22"/>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Deskripsi Sistem &amp; Kebutuhan</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sp>
        <p:nvSpPr>
          <p:cNvPr id="420" name="Google Shape;420;p22"/>
          <p:cNvSpPr/>
          <p:nvPr/>
        </p:nvSpPr>
        <p:spPr>
          <a:xfrm>
            <a:off x="234600" y="976375"/>
            <a:ext cx="8674800" cy="1038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2"/>
          <p:cNvSpPr/>
          <p:nvPr/>
        </p:nvSpPr>
        <p:spPr>
          <a:xfrm>
            <a:off x="189425" y="821375"/>
            <a:ext cx="8811600" cy="2526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Deskripsi Sistem</a:t>
            </a:r>
            <a:endParaRPr sz="1300">
              <a:solidFill>
                <a:schemeClr val="lt1"/>
              </a:solidFill>
              <a:latin typeface="Inter"/>
              <a:ea typeface="Inter"/>
              <a:cs typeface="Inter"/>
              <a:sym typeface="Inter"/>
            </a:endParaRPr>
          </a:p>
        </p:txBody>
      </p:sp>
      <p:sp>
        <p:nvSpPr>
          <p:cNvPr id="422" name="Google Shape;422;p22"/>
          <p:cNvSpPr txBox="1"/>
          <p:nvPr/>
        </p:nvSpPr>
        <p:spPr>
          <a:xfrm>
            <a:off x="344975" y="1144750"/>
            <a:ext cx="8462400" cy="869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i="1" lang="id" sz="1000">
                <a:solidFill>
                  <a:schemeClr val="lt1"/>
                </a:solidFill>
                <a:highlight>
                  <a:srgbClr val="04153C"/>
                </a:highlight>
                <a:latin typeface="Google Sans"/>
                <a:ea typeface="Google Sans"/>
                <a:cs typeface="Google Sans"/>
                <a:sym typeface="Google Sans"/>
              </a:rPr>
              <a:t>SAFE-EXIT</a:t>
            </a:r>
            <a:r>
              <a:rPr lang="id" sz="1000">
                <a:latin typeface="Google Sans"/>
                <a:ea typeface="Google Sans"/>
                <a:cs typeface="Google Sans"/>
                <a:sym typeface="Google Sans"/>
              </a:rPr>
              <a:t> adalah sistem panduan </a:t>
            </a:r>
            <a:r>
              <a:rPr b="1" lang="id" sz="1000">
                <a:latin typeface="Google Sans"/>
                <a:ea typeface="Google Sans"/>
                <a:cs typeface="Google Sans"/>
                <a:sym typeface="Google Sans"/>
              </a:rPr>
              <a:t>evakuasi cerdas</a:t>
            </a:r>
            <a:r>
              <a:rPr lang="id" sz="1000">
                <a:latin typeface="Google Sans"/>
                <a:ea typeface="Google Sans"/>
                <a:cs typeface="Google Sans"/>
                <a:sym typeface="Google Sans"/>
              </a:rPr>
              <a:t> untuk keadaan darurat di dalam gedung. Sistem ini </a:t>
            </a:r>
            <a:r>
              <a:rPr b="1" lang="id" sz="1000">
                <a:latin typeface="Google Sans"/>
                <a:ea typeface="Google Sans"/>
                <a:cs typeface="Google Sans"/>
                <a:sym typeface="Google Sans"/>
              </a:rPr>
              <a:t>menggabungkan sensor </a:t>
            </a:r>
            <a:r>
              <a:rPr lang="id" sz="1000">
                <a:latin typeface="Google Sans"/>
                <a:ea typeface="Google Sans"/>
                <a:cs typeface="Google Sans"/>
                <a:sym typeface="Google Sans"/>
              </a:rPr>
              <a:t>dan </a:t>
            </a:r>
            <a:r>
              <a:rPr b="1" lang="id" sz="1000">
                <a:latin typeface="Google Sans"/>
                <a:ea typeface="Google Sans"/>
                <a:cs typeface="Google Sans"/>
                <a:sym typeface="Google Sans"/>
              </a:rPr>
              <a:t>mikrokontroler </a:t>
            </a:r>
            <a:r>
              <a:rPr lang="id" sz="1000">
                <a:latin typeface="Google Sans"/>
                <a:ea typeface="Google Sans"/>
                <a:cs typeface="Google Sans"/>
                <a:sym typeface="Google Sans"/>
              </a:rPr>
              <a:t>dengan </a:t>
            </a:r>
            <a:r>
              <a:rPr b="1" lang="id" sz="1000">
                <a:latin typeface="Google Sans"/>
                <a:ea typeface="Google Sans"/>
                <a:cs typeface="Google Sans"/>
                <a:sym typeface="Google Sans"/>
              </a:rPr>
              <a:t>perangkat lunak</a:t>
            </a:r>
            <a:r>
              <a:rPr lang="id" sz="1000">
                <a:latin typeface="Google Sans"/>
                <a:ea typeface="Google Sans"/>
                <a:cs typeface="Google Sans"/>
                <a:sym typeface="Google Sans"/>
              </a:rPr>
              <a:t> pencari jalur terpendek. Fungsinya adalah </a:t>
            </a:r>
            <a:r>
              <a:rPr b="1" lang="id" sz="1000">
                <a:latin typeface="Google Sans"/>
                <a:ea typeface="Google Sans"/>
                <a:cs typeface="Google Sans"/>
                <a:sym typeface="Google Sans"/>
              </a:rPr>
              <a:t>mendeteksi bahaya secara langsung </a:t>
            </a:r>
            <a:r>
              <a:rPr lang="id" sz="1000">
                <a:latin typeface="Google Sans"/>
                <a:ea typeface="Google Sans"/>
                <a:cs typeface="Google Sans"/>
                <a:sym typeface="Google Sans"/>
              </a:rPr>
              <a:t>dan </a:t>
            </a:r>
            <a:r>
              <a:rPr b="1" lang="id" sz="1000">
                <a:latin typeface="Google Sans"/>
                <a:ea typeface="Google Sans"/>
                <a:cs typeface="Google Sans"/>
                <a:sym typeface="Google Sans"/>
              </a:rPr>
              <a:t>menghitung rute keluar yang paling aman</a:t>
            </a:r>
            <a:r>
              <a:rPr lang="id" sz="1000">
                <a:latin typeface="Google Sans"/>
                <a:ea typeface="Google Sans"/>
                <a:cs typeface="Google Sans"/>
                <a:sym typeface="Google Sans"/>
              </a:rPr>
              <a:t>. Arah evakuasi kemudian </a:t>
            </a:r>
            <a:r>
              <a:rPr b="1" lang="id" sz="1000">
                <a:latin typeface="Google Sans"/>
                <a:ea typeface="Google Sans"/>
                <a:cs typeface="Google Sans"/>
                <a:sym typeface="Google Sans"/>
              </a:rPr>
              <a:t>ditampilkan melalui lampu LED strip</a:t>
            </a:r>
            <a:r>
              <a:rPr lang="id" sz="1000">
                <a:latin typeface="Google Sans"/>
                <a:ea typeface="Google Sans"/>
                <a:cs typeface="Google Sans"/>
                <a:sym typeface="Google Sans"/>
              </a:rPr>
              <a:t> yang menyala secara berurutan. Hal ini bertujuan untuk </a:t>
            </a:r>
            <a:r>
              <a:rPr b="1" lang="id" sz="1000">
                <a:latin typeface="Google Sans"/>
                <a:ea typeface="Google Sans"/>
                <a:cs typeface="Google Sans"/>
                <a:sym typeface="Google Sans"/>
              </a:rPr>
              <a:t>mencegah kepanikan, menghindari jalan buntu, dan mengarahkan penghuni menjauh dari sumber bahaya.</a:t>
            </a:r>
            <a:endParaRPr b="1" sz="1000">
              <a:latin typeface="Google Sans"/>
              <a:ea typeface="Google Sans"/>
              <a:cs typeface="Google Sans"/>
              <a:sym typeface="Google Sans"/>
            </a:endParaRPr>
          </a:p>
        </p:txBody>
      </p:sp>
      <p:sp>
        <p:nvSpPr>
          <p:cNvPr id="423" name="Google Shape;423;p22"/>
          <p:cNvSpPr/>
          <p:nvPr/>
        </p:nvSpPr>
        <p:spPr>
          <a:xfrm>
            <a:off x="234600" y="2103811"/>
            <a:ext cx="87663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Spesifikasi Kebutuhan</a:t>
            </a:r>
            <a:endParaRPr sz="1300">
              <a:solidFill>
                <a:schemeClr val="lt1"/>
              </a:solidFill>
              <a:latin typeface="Inter"/>
              <a:ea typeface="Inter"/>
              <a:cs typeface="Inter"/>
              <a:sym typeface="Inter"/>
            </a:endParaRPr>
          </a:p>
        </p:txBody>
      </p:sp>
      <p:sp>
        <p:nvSpPr>
          <p:cNvPr id="424" name="Google Shape;424;p22"/>
          <p:cNvSpPr/>
          <p:nvPr/>
        </p:nvSpPr>
        <p:spPr>
          <a:xfrm>
            <a:off x="211953" y="2823475"/>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1</a:t>
            </a:r>
            <a:endParaRPr b="1" sz="1200">
              <a:solidFill>
                <a:srgbClr val="FFFFFF"/>
              </a:solidFill>
              <a:latin typeface="Inter"/>
              <a:ea typeface="Inter"/>
              <a:cs typeface="Inter"/>
              <a:sym typeface="Inter"/>
            </a:endParaRPr>
          </a:p>
        </p:txBody>
      </p:sp>
      <p:sp>
        <p:nvSpPr>
          <p:cNvPr id="425" name="Google Shape;425;p22"/>
          <p:cNvSpPr/>
          <p:nvPr/>
        </p:nvSpPr>
        <p:spPr>
          <a:xfrm>
            <a:off x="211953" y="3348037"/>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2</a:t>
            </a:r>
            <a:endParaRPr b="1" sz="1200">
              <a:solidFill>
                <a:srgbClr val="FFFFFF"/>
              </a:solidFill>
              <a:latin typeface="Inter"/>
              <a:ea typeface="Inter"/>
              <a:cs typeface="Inter"/>
              <a:sym typeface="Inter"/>
            </a:endParaRPr>
          </a:p>
        </p:txBody>
      </p:sp>
      <p:sp>
        <p:nvSpPr>
          <p:cNvPr id="426" name="Google Shape;426;p22"/>
          <p:cNvSpPr/>
          <p:nvPr/>
        </p:nvSpPr>
        <p:spPr>
          <a:xfrm>
            <a:off x="211962" y="3909917"/>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3</a:t>
            </a:r>
            <a:endParaRPr b="1" sz="1200">
              <a:solidFill>
                <a:srgbClr val="FFFFFF"/>
              </a:solidFill>
              <a:latin typeface="Inter"/>
              <a:ea typeface="Inter"/>
              <a:cs typeface="Inter"/>
              <a:sym typeface="Inter"/>
            </a:endParaRPr>
          </a:p>
        </p:txBody>
      </p:sp>
      <p:sp>
        <p:nvSpPr>
          <p:cNvPr id="427" name="Google Shape;427;p22"/>
          <p:cNvSpPr txBox="1"/>
          <p:nvPr/>
        </p:nvSpPr>
        <p:spPr>
          <a:xfrm>
            <a:off x="517589" y="2701675"/>
            <a:ext cx="2603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Deteksi Bahaya</a:t>
            </a:r>
            <a:r>
              <a:rPr b="1" lang="id" sz="900">
                <a:solidFill>
                  <a:schemeClr val="dk1"/>
                </a:solidFill>
                <a:latin typeface="Inter"/>
                <a:ea typeface="Inter"/>
                <a:cs typeface="Inter"/>
                <a:sym typeface="Inter"/>
              </a:rPr>
              <a:t>:</a:t>
            </a:r>
            <a:r>
              <a:rPr lang="id" sz="900">
                <a:solidFill>
                  <a:schemeClr val="dk1"/>
                </a:solidFill>
                <a:latin typeface="Inter"/>
                <a:ea typeface="Inter"/>
                <a:cs typeface="Inter"/>
                <a:sym typeface="Inter"/>
              </a:rPr>
              <a:t> </a:t>
            </a:r>
            <a:r>
              <a:rPr lang="id" sz="900">
                <a:solidFill>
                  <a:schemeClr val="dk1"/>
                </a:solidFill>
                <a:latin typeface="Inter"/>
                <a:ea typeface="Inter"/>
                <a:cs typeface="Inter"/>
                <a:sym typeface="Inter"/>
              </a:rPr>
              <a:t>Sistem secara otomatis mendeteksi awal keadaan darurat menggunakan sensor asap dan sensor api.</a:t>
            </a:r>
            <a:endParaRPr sz="900">
              <a:latin typeface="Inter"/>
              <a:ea typeface="Inter"/>
              <a:cs typeface="Inter"/>
              <a:sym typeface="Inter"/>
            </a:endParaRPr>
          </a:p>
        </p:txBody>
      </p:sp>
      <p:sp>
        <p:nvSpPr>
          <p:cNvPr id="428" name="Google Shape;428;p22"/>
          <p:cNvSpPr txBox="1"/>
          <p:nvPr/>
        </p:nvSpPr>
        <p:spPr>
          <a:xfrm>
            <a:off x="510400" y="3137400"/>
            <a:ext cx="2603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Pemrosesan Rute Evakuasi</a:t>
            </a:r>
            <a:r>
              <a:rPr b="1" lang="id" sz="900">
                <a:solidFill>
                  <a:schemeClr val="dk1"/>
                </a:solidFill>
                <a:latin typeface="Inter"/>
                <a:ea typeface="Inter"/>
                <a:cs typeface="Inter"/>
                <a:sym typeface="Inter"/>
              </a:rPr>
              <a:t>:</a:t>
            </a:r>
            <a:r>
              <a:rPr lang="id" sz="900">
                <a:solidFill>
                  <a:schemeClr val="dk1"/>
                </a:solidFill>
                <a:latin typeface="Inter"/>
                <a:ea typeface="Inter"/>
                <a:cs typeface="Inter"/>
                <a:sym typeface="Inter"/>
              </a:rPr>
              <a:t> </a:t>
            </a:r>
            <a:r>
              <a:rPr lang="id" sz="900">
                <a:solidFill>
                  <a:schemeClr val="dk1"/>
                </a:solidFill>
                <a:latin typeface="Inter"/>
                <a:ea typeface="Inter"/>
                <a:cs typeface="Inter"/>
                <a:sym typeface="Inter"/>
              </a:rPr>
              <a:t>Mikrokontroler menjalankan algoritma Dijkstra untuk menghitung rute evakuasi teraman secara dinamis.</a:t>
            </a:r>
            <a:endParaRPr sz="900">
              <a:latin typeface="Inter"/>
              <a:ea typeface="Inter"/>
              <a:cs typeface="Inter"/>
              <a:sym typeface="Inter"/>
            </a:endParaRPr>
          </a:p>
        </p:txBody>
      </p:sp>
      <p:sp>
        <p:nvSpPr>
          <p:cNvPr id="429" name="Google Shape;429;p22"/>
          <p:cNvSpPr txBox="1"/>
          <p:nvPr/>
        </p:nvSpPr>
        <p:spPr>
          <a:xfrm>
            <a:off x="522701" y="3737400"/>
            <a:ext cx="2499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Visualisasi Panduan</a:t>
            </a:r>
            <a:r>
              <a:rPr b="1" lang="id" sz="900">
                <a:solidFill>
                  <a:schemeClr val="dk1"/>
                </a:solidFill>
                <a:latin typeface="Inter"/>
                <a:ea typeface="Inter"/>
                <a:cs typeface="Inter"/>
                <a:sym typeface="Inter"/>
              </a:rPr>
              <a:t>:</a:t>
            </a:r>
            <a:r>
              <a:rPr lang="id" sz="900">
                <a:solidFill>
                  <a:schemeClr val="dk1"/>
                </a:solidFill>
                <a:latin typeface="Inter"/>
                <a:ea typeface="Inter"/>
                <a:cs typeface="Inter"/>
                <a:sym typeface="Inter"/>
              </a:rPr>
              <a:t> </a:t>
            </a:r>
            <a:r>
              <a:rPr lang="id" sz="900">
                <a:solidFill>
                  <a:schemeClr val="dk1"/>
                </a:solidFill>
                <a:latin typeface="Inter"/>
                <a:ea typeface="Inter"/>
                <a:cs typeface="Inter"/>
                <a:sym typeface="Inter"/>
              </a:rPr>
              <a:t>Sistem mengendalikan LED strip agar menyala berurutan sebagai petunjuk arah ke pintu keluar.</a:t>
            </a:r>
            <a:endParaRPr sz="900">
              <a:latin typeface="Inter"/>
              <a:ea typeface="Inter"/>
              <a:cs typeface="Inter"/>
              <a:sym typeface="Inter"/>
            </a:endParaRPr>
          </a:p>
        </p:txBody>
      </p:sp>
      <p:sp>
        <p:nvSpPr>
          <p:cNvPr id="430" name="Google Shape;430;p22"/>
          <p:cNvSpPr/>
          <p:nvPr/>
        </p:nvSpPr>
        <p:spPr>
          <a:xfrm>
            <a:off x="234602" y="2431059"/>
            <a:ext cx="26034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Kebutuhan Fungsional </a:t>
            </a:r>
            <a:endParaRPr sz="1300">
              <a:solidFill>
                <a:schemeClr val="dk1"/>
              </a:solidFill>
              <a:latin typeface="Inter"/>
              <a:ea typeface="Inter"/>
              <a:cs typeface="Inter"/>
              <a:sym typeface="Inter"/>
            </a:endParaRPr>
          </a:p>
        </p:txBody>
      </p:sp>
      <p:sp>
        <p:nvSpPr>
          <p:cNvPr id="431" name="Google Shape;431;p22"/>
          <p:cNvSpPr/>
          <p:nvPr/>
        </p:nvSpPr>
        <p:spPr>
          <a:xfrm>
            <a:off x="3316052" y="2441734"/>
            <a:ext cx="26034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Kebutuhan Non-Fungsional </a:t>
            </a:r>
            <a:endParaRPr sz="1300">
              <a:solidFill>
                <a:schemeClr val="dk1"/>
              </a:solidFill>
              <a:latin typeface="Inter"/>
              <a:ea typeface="Inter"/>
              <a:cs typeface="Inter"/>
              <a:sym typeface="Inter"/>
            </a:endParaRPr>
          </a:p>
        </p:txBody>
      </p:sp>
      <p:sp>
        <p:nvSpPr>
          <p:cNvPr id="432" name="Google Shape;432;p22"/>
          <p:cNvSpPr/>
          <p:nvPr/>
        </p:nvSpPr>
        <p:spPr>
          <a:xfrm>
            <a:off x="6397502" y="2441697"/>
            <a:ext cx="26034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Spesifikasi Kinerja Awal</a:t>
            </a:r>
            <a:endParaRPr sz="1300">
              <a:solidFill>
                <a:schemeClr val="dk1"/>
              </a:solidFill>
              <a:latin typeface="Inter"/>
              <a:ea typeface="Inter"/>
              <a:cs typeface="Inter"/>
              <a:sym typeface="Inter"/>
            </a:endParaRPr>
          </a:p>
        </p:txBody>
      </p:sp>
      <p:sp>
        <p:nvSpPr>
          <p:cNvPr id="433" name="Google Shape;433;p22"/>
          <p:cNvSpPr txBox="1"/>
          <p:nvPr/>
        </p:nvSpPr>
        <p:spPr>
          <a:xfrm>
            <a:off x="535125" y="4337575"/>
            <a:ext cx="2486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Simulasi Pemicu Darurat</a:t>
            </a:r>
            <a:r>
              <a:rPr b="1" lang="id" sz="900">
                <a:solidFill>
                  <a:schemeClr val="dk1"/>
                </a:solidFill>
                <a:latin typeface="Inter"/>
                <a:ea typeface="Inter"/>
                <a:cs typeface="Inter"/>
                <a:sym typeface="Inter"/>
              </a:rPr>
              <a:t>:</a:t>
            </a:r>
            <a:r>
              <a:rPr lang="id" sz="900">
                <a:solidFill>
                  <a:schemeClr val="dk1"/>
                </a:solidFill>
                <a:latin typeface="Inter"/>
                <a:ea typeface="Inter"/>
                <a:cs typeface="Inter"/>
                <a:sym typeface="Inter"/>
              </a:rPr>
              <a:t> </a:t>
            </a:r>
            <a:r>
              <a:rPr lang="id" sz="900">
                <a:solidFill>
                  <a:schemeClr val="dk1"/>
                </a:solidFill>
                <a:latin typeface="Inter"/>
                <a:ea typeface="Inter"/>
                <a:cs typeface="Inter"/>
                <a:sym typeface="Inter"/>
              </a:rPr>
              <a:t>Mikrokontroler otomatis mengirim sinyal pemutus arus saat bahaya terdeteksi sebagai tanda sistem aktif mengambil alih.</a:t>
            </a:r>
            <a:endParaRPr sz="900">
              <a:latin typeface="Inter"/>
              <a:ea typeface="Inter"/>
              <a:cs typeface="Inter"/>
              <a:sym typeface="Inter"/>
            </a:endParaRPr>
          </a:p>
        </p:txBody>
      </p:sp>
      <p:sp>
        <p:nvSpPr>
          <p:cNvPr id="434" name="Google Shape;434;p22"/>
          <p:cNvSpPr/>
          <p:nvPr/>
        </p:nvSpPr>
        <p:spPr>
          <a:xfrm>
            <a:off x="3307291" y="2807608"/>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1</a:t>
            </a:r>
            <a:endParaRPr b="1" sz="1200">
              <a:solidFill>
                <a:srgbClr val="FFFFFF"/>
              </a:solidFill>
              <a:latin typeface="Inter"/>
              <a:ea typeface="Inter"/>
              <a:cs typeface="Inter"/>
              <a:sym typeface="Inter"/>
            </a:endParaRPr>
          </a:p>
        </p:txBody>
      </p:sp>
      <p:sp>
        <p:nvSpPr>
          <p:cNvPr id="435" name="Google Shape;435;p22"/>
          <p:cNvSpPr/>
          <p:nvPr/>
        </p:nvSpPr>
        <p:spPr>
          <a:xfrm>
            <a:off x="3307291" y="3520914"/>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2</a:t>
            </a:r>
            <a:endParaRPr b="1" sz="1200">
              <a:solidFill>
                <a:srgbClr val="FFFFFF"/>
              </a:solidFill>
              <a:latin typeface="Inter"/>
              <a:ea typeface="Inter"/>
              <a:cs typeface="Inter"/>
              <a:sym typeface="Inter"/>
            </a:endParaRPr>
          </a:p>
        </p:txBody>
      </p:sp>
      <p:sp>
        <p:nvSpPr>
          <p:cNvPr id="436" name="Google Shape;436;p22"/>
          <p:cNvSpPr/>
          <p:nvPr/>
        </p:nvSpPr>
        <p:spPr>
          <a:xfrm>
            <a:off x="3307300" y="4284241"/>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3</a:t>
            </a:r>
            <a:endParaRPr b="1" sz="1200">
              <a:solidFill>
                <a:srgbClr val="FFFFFF"/>
              </a:solidFill>
              <a:latin typeface="Inter"/>
              <a:ea typeface="Inter"/>
              <a:cs typeface="Inter"/>
              <a:sym typeface="Inter"/>
            </a:endParaRPr>
          </a:p>
        </p:txBody>
      </p:sp>
      <p:sp>
        <p:nvSpPr>
          <p:cNvPr id="437" name="Google Shape;437;p22"/>
          <p:cNvSpPr txBox="1"/>
          <p:nvPr/>
        </p:nvSpPr>
        <p:spPr>
          <a:xfrm>
            <a:off x="3612912" y="2685808"/>
            <a:ext cx="2327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Keandalan (Reliability):</a:t>
            </a:r>
            <a:r>
              <a:rPr lang="id" sz="900">
                <a:solidFill>
                  <a:schemeClr val="dk1"/>
                </a:solidFill>
                <a:latin typeface="Inter"/>
                <a:ea typeface="Inter"/>
                <a:cs typeface="Inter"/>
                <a:sym typeface="Inter"/>
              </a:rPr>
              <a:t> Stabilitas tinggi dan bebas </a:t>
            </a:r>
            <a:r>
              <a:rPr i="1" lang="id" sz="900">
                <a:solidFill>
                  <a:schemeClr val="dk1"/>
                </a:solidFill>
                <a:latin typeface="Inter"/>
                <a:ea typeface="Inter"/>
                <a:cs typeface="Inter"/>
                <a:sym typeface="Inter"/>
              </a:rPr>
              <a:t>crash</a:t>
            </a:r>
            <a:r>
              <a:rPr lang="id" sz="900">
                <a:solidFill>
                  <a:schemeClr val="dk1"/>
                </a:solidFill>
                <a:latin typeface="Inter"/>
                <a:ea typeface="Inter"/>
                <a:cs typeface="Inter"/>
                <a:sym typeface="Inter"/>
              </a:rPr>
              <a:t> pada operasi </a:t>
            </a:r>
            <a:r>
              <a:rPr i="1" lang="id" sz="900">
                <a:solidFill>
                  <a:schemeClr val="dk1"/>
                </a:solidFill>
                <a:latin typeface="Inter"/>
                <a:ea typeface="Inter"/>
                <a:cs typeface="Inter"/>
                <a:sym typeface="Inter"/>
              </a:rPr>
              <a:t>real-time</a:t>
            </a:r>
            <a:r>
              <a:rPr lang="id" sz="900">
                <a:solidFill>
                  <a:schemeClr val="dk1"/>
                </a:solidFill>
                <a:latin typeface="Inter"/>
                <a:ea typeface="Inter"/>
                <a:cs typeface="Inter"/>
                <a:sym typeface="Inter"/>
              </a:rPr>
              <a:t> dalam kondisi kritis. </a:t>
            </a:r>
            <a:endParaRPr sz="800">
              <a:latin typeface="Inter"/>
              <a:ea typeface="Inter"/>
              <a:cs typeface="Inter"/>
              <a:sym typeface="Inter"/>
            </a:endParaRPr>
          </a:p>
        </p:txBody>
      </p:sp>
      <p:sp>
        <p:nvSpPr>
          <p:cNvPr id="438" name="Google Shape;438;p22"/>
          <p:cNvSpPr txBox="1"/>
          <p:nvPr/>
        </p:nvSpPr>
        <p:spPr>
          <a:xfrm>
            <a:off x="3605738" y="3254678"/>
            <a:ext cx="22632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Kemudahan Pemeliharaan (Maintainability):</a:t>
            </a:r>
            <a:r>
              <a:rPr lang="id" sz="900">
                <a:solidFill>
                  <a:schemeClr val="dk1"/>
                </a:solidFill>
                <a:latin typeface="Inter"/>
                <a:ea typeface="Inter"/>
                <a:cs typeface="Inter"/>
                <a:sym typeface="Inter"/>
              </a:rPr>
              <a:t> Desain modular untuk akses cepat dalam </a:t>
            </a:r>
            <a:r>
              <a:rPr i="1" lang="id" sz="900">
                <a:solidFill>
                  <a:schemeClr val="dk1"/>
                </a:solidFill>
                <a:latin typeface="Inter"/>
                <a:ea typeface="Inter"/>
                <a:cs typeface="Inter"/>
                <a:sym typeface="Inter"/>
              </a:rPr>
              <a:t>troubleshooting</a:t>
            </a:r>
            <a:r>
              <a:rPr lang="id" sz="900">
                <a:solidFill>
                  <a:schemeClr val="dk1"/>
                </a:solidFill>
                <a:latin typeface="Inter"/>
                <a:ea typeface="Inter"/>
                <a:cs typeface="Inter"/>
                <a:sym typeface="Inter"/>
              </a:rPr>
              <a:t> dan penggantian komponen. </a:t>
            </a:r>
            <a:endParaRPr sz="900">
              <a:latin typeface="Inter"/>
              <a:ea typeface="Inter"/>
              <a:cs typeface="Inter"/>
              <a:sym typeface="Inter"/>
            </a:endParaRPr>
          </a:p>
        </p:txBody>
      </p:sp>
      <p:sp>
        <p:nvSpPr>
          <p:cNvPr id="439" name="Google Shape;439;p22"/>
          <p:cNvSpPr txBox="1"/>
          <p:nvPr/>
        </p:nvSpPr>
        <p:spPr>
          <a:xfrm>
            <a:off x="3618025" y="4065635"/>
            <a:ext cx="2238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Keselamatan (Safety):</a:t>
            </a:r>
            <a:r>
              <a:rPr lang="id" sz="900">
                <a:solidFill>
                  <a:schemeClr val="dk1"/>
                </a:solidFill>
                <a:latin typeface="Inter"/>
                <a:ea typeface="Inter"/>
                <a:cs typeface="Inter"/>
                <a:sym typeface="Inter"/>
              </a:rPr>
              <a:t> Penggunaan tegangan rendah (5V DC) guna meminimalisasi </a:t>
            </a:r>
            <a:r>
              <a:rPr lang="id" sz="900">
                <a:solidFill>
                  <a:schemeClr val="dk1"/>
                </a:solidFill>
                <a:latin typeface="Inter"/>
                <a:ea typeface="Inter"/>
                <a:cs typeface="Inter"/>
                <a:sym typeface="Inter"/>
              </a:rPr>
              <a:t>resiko</a:t>
            </a:r>
            <a:r>
              <a:rPr lang="id" sz="900">
                <a:solidFill>
                  <a:schemeClr val="dk1"/>
                </a:solidFill>
                <a:latin typeface="Inter"/>
                <a:ea typeface="Inter"/>
                <a:cs typeface="Inter"/>
                <a:sym typeface="Inter"/>
              </a:rPr>
              <a:t> sengatan listrik dan korsleting. </a:t>
            </a:r>
            <a:endParaRPr sz="900">
              <a:latin typeface="Inter"/>
              <a:ea typeface="Inter"/>
              <a:cs typeface="Inter"/>
              <a:sym typeface="Inter"/>
            </a:endParaRPr>
          </a:p>
        </p:txBody>
      </p:sp>
      <p:sp>
        <p:nvSpPr>
          <p:cNvPr id="440" name="Google Shape;440;p22"/>
          <p:cNvSpPr/>
          <p:nvPr/>
        </p:nvSpPr>
        <p:spPr>
          <a:xfrm>
            <a:off x="6379991" y="2806617"/>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1</a:t>
            </a:r>
            <a:endParaRPr b="1" sz="1200">
              <a:solidFill>
                <a:srgbClr val="FFFFFF"/>
              </a:solidFill>
              <a:latin typeface="Inter"/>
              <a:ea typeface="Inter"/>
              <a:cs typeface="Inter"/>
              <a:sym typeface="Inter"/>
            </a:endParaRPr>
          </a:p>
        </p:txBody>
      </p:sp>
      <p:sp>
        <p:nvSpPr>
          <p:cNvPr id="441" name="Google Shape;441;p22"/>
          <p:cNvSpPr/>
          <p:nvPr/>
        </p:nvSpPr>
        <p:spPr>
          <a:xfrm>
            <a:off x="6379991" y="3576302"/>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2</a:t>
            </a:r>
            <a:endParaRPr b="1" sz="1200">
              <a:solidFill>
                <a:srgbClr val="FFFFFF"/>
              </a:solidFill>
              <a:latin typeface="Inter"/>
              <a:ea typeface="Inter"/>
              <a:cs typeface="Inter"/>
              <a:sym typeface="Inter"/>
            </a:endParaRPr>
          </a:p>
        </p:txBody>
      </p:sp>
      <p:sp>
        <p:nvSpPr>
          <p:cNvPr id="442" name="Google Shape;442;p22"/>
          <p:cNvSpPr/>
          <p:nvPr/>
        </p:nvSpPr>
        <p:spPr>
          <a:xfrm>
            <a:off x="6380000" y="4324926"/>
            <a:ext cx="295800" cy="2490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3</a:t>
            </a:r>
            <a:endParaRPr b="1" sz="1200">
              <a:solidFill>
                <a:srgbClr val="FFFFFF"/>
              </a:solidFill>
              <a:latin typeface="Inter"/>
              <a:ea typeface="Inter"/>
              <a:cs typeface="Inter"/>
              <a:sym typeface="Inter"/>
            </a:endParaRPr>
          </a:p>
        </p:txBody>
      </p:sp>
      <p:sp>
        <p:nvSpPr>
          <p:cNvPr id="443" name="Google Shape;443;p22"/>
          <p:cNvSpPr txBox="1"/>
          <p:nvPr/>
        </p:nvSpPr>
        <p:spPr>
          <a:xfrm>
            <a:off x="6685612" y="2684817"/>
            <a:ext cx="2327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Waktu Respons (Response Time): </a:t>
            </a:r>
            <a:r>
              <a:rPr lang="id" sz="900">
                <a:solidFill>
                  <a:schemeClr val="dk1"/>
                </a:solidFill>
                <a:latin typeface="Inter"/>
                <a:ea typeface="Inter"/>
                <a:cs typeface="Inter"/>
                <a:sym typeface="Inter"/>
              </a:rPr>
              <a:t>Latensi maksimal 2 detik dari deteksi anomali hingga pemutusan sirkuit dan aktivasi rute evakuasi pada LED strip.</a:t>
            </a:r>
            <a:endParaRPr sz="900">
              <a:latin typeface="Inter"/>
              <a:ea typeface="Inter"/>
              <a:cs typeface="Inter"/>
              <a:sym typeface="Inter"/>
            </a:endParaRPr>
          </a:p>
        </p:txBody>
      </p:sp>
      <p:sp>
        <p:nvSpPr>
          <p:cNvPr id="444" name="Google Shape;444;p22"/>
          <p:cNvSpPr txBox="1"/>
          <p:nvPr/>
        </p:nvSpPr>
        <p:spPr>
          <a:xfrm>
            <a:off x="6678438" y="3405935"/>
            <a:ext cx="2263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Kapasitas Daya: </a:t>
            </a:r>
            <a:r>
              <a:rPr lang="id" sz="900">
                <a:solidFill>
                  <a:schemeClr val="dk1"/>
                </a:solidFill>
                <a:latin typeface="Inter"/>
                <a:ea typeface="Inter"/>
                <a:cs typeface="Inter"/>
                <a:sym typeface="Inter"/>
              </a:rPr>
              <a:t>Menggunakan catu daya 5V 30A untuk menyuplai beban puncak ESP32 danLED strip secara stabil.</a:t>
            </a:r>
            <a:endParaRPr sz="900">
              <a:latin typeface="Inter"/>
              <a:ea typeface="Inter"/>
              <a:cs typeface="Inter"/>
              <a:sym typeface="Inter"/>
            </a:endParaRPr>
          </a:p>
        </p:txBody>
      </p:sp>
      <p:sp>
        <p:nvSpPr>
          <p:cNvPr id="445" name="Google Shape;445;p22"/>
          <p:cNvSpPr txBox="1"/>
          <p:nvPr/>
        </p:nvSpPr>
        <p:spPr>
          <a:xfrm>
            <a:off x="6690725" y="4127487"/>
            <a:ext cx="2238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Akurasi Pathfinding: </a:t>
            </a:r>
            <a:r>
              <a:rPr lang="id" sz="900">
                <a:solidFill>
                  <a:schemeClr val="dk1"/>
                </a:solidFill>
                <a:latin typeface="Inter"/>
                <a:ea typeface="Inter"/>
                <a:cs typeface="Inter"/>
                <a:sym typeface="Inter"/>
              </a:rPr>
              <a:t>Akurasi rute 100% dengan Algoritma Dijkstra dalam memblokir area bahaya dan menentukan jalur alternatif terdekat yang aman.</a:t>
            </a:r>
            <a:endParaRPr sz="900">
              <a:latin typeface="Inter"/>
              <a:ea typeface="Inter"/>
              <a:cs typeface="Inter"/>
              <a:sym typeface="Inter"/>
            </a:endParaRPr>
          </a:p>
        </p:txBody>
      </p:sp>
      <p:sp>
        <p:nvSpPr>
          <p:cNvPr id="446" name="Google Shape;446;p22"/>
          <p:cNvSpPr/>
          <p:nvPr/>
        </p:nvSpPr>
        <p:spPr>
          <a:xfrm>
            <a:off x="211962" y="4618465"/>
            <a:ext cx="295800" cy="237900"/>
          </a:xfrm>
          <a:prstGeom prst="roundRect">
            <a:avLst>
              <a:gd fmla="val 16667" name="adj"/>
            </a:avLst>
          </a:prstGeom>
          <a:gradFill>
            <a:gsLst>
              <a:gs pos="0">
                <a:srgbClr val="AAC3FB"/>
              </a:gs>
              <a:gs pos="50000">
                <a:srgbClr val="3A6D8C"/>
              </a:gs>
              <a:gs pos="100000">
                <a:srgbClr val="04153C"/>
              </a:gs>
            </a:gsLst>
            <a:path path="circle">
              <a:fillToRect b="50%" l="50%" r="50%" t="50%"/>
            </a:path>
            <a:tileRect/>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d" sz="1200">
                <a:solidFill>
                  <a:srgbClr val="FFFFFF"/>
                </a:solidFill>
                <a:latin typeface="Inter"/>
                <a:ea typeface="Inter"/>
                <a:cs typeface="Inter"/>
                <a:sym typeface="Inter"/>
              </a:rPr>
              <a:t>4</a:t>
            </a:r>
            <a:endParaRPr b="1" sz="1200">
              <a:solidFill>
                <a:srgbClr val="FFFFFF"/>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23"/>
          <p:cNvPicPr preferRelativeResize="0"/>
          <p:nvPr/>
        </p:nvPicPr>
        <p:blipFill>
          <a:blip r:embed="rId3">
            <a:alphaModFix/>
          </a:blip>
          <a:stretch>
            <a:fillRect/>
          </a:stretch>
        </p:blipFill>
        <p:spPr>
          <a:xfrm>
            <a:off x="-1396350" y="2289475"/>
            <a:ext cx="1317900" cy="2854025"/>
          </a:xfrm>
          <a:prstGeom prst="rect">
            <a:avLst/>
          </a:prstGeom>
          <a:noFill/>
          <a:ln>
            <a:noFill/>
          </a:ln>
        </p:spPr>
      </p:pic>
      <p:sp>
        <p:nvSpPr>
          <p:cNvPr id="452" name="Google Shape;452;p23"/>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23"/>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23"/>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23"/>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23"/>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23"/>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458" name="Google Shape;458;p23"/>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9" name="Google Shape;459;p23" title="logo elektro.png"/>
          <p:cNvPicPr preferRelativeResize="0"/>
          <p:nvPr/>
        </p:nvPicPr>
        <p:blipFill>
          <a:blip r:embed="rId4">
            <a:alphaModFix/>
          </a:blip>
          <a:stretch>
            <a:fillRect/>
          </a:stretch>
        </p:blipFill>
        <p:spPr>
          <a:xfrm>
            <a:off x="7293379" y="9898"/>
            <a:ext cx="1514048" cy="638064"/>
          </a:xfrm>
          <a:prstGeom prst="rect">
            <a:avLst/>
          </a:prstGeom>
          <a:noFill/>
          <a:ln>
            <a:noFill/>
          </a:ln>
        </p:spPr>
      </p:pic>
      <p:sp>
        <p:nvSpPr>
          <p:cNvPr id="460" name="Google Shape;460;p23"/>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461" name="Google Shape;461;p23"/>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Gambaran Umum SAFE-EXIT</a:t>
            </a:r>
            <a:endParaRPr sz="1200">
              <a:solidFill>
                <a:srgbClr val="3A6D8C"/>
              </a:solidFill>
              <a:latin typeface="Inter"/>
              <a:ea typeface="Inter"/>
              <a:cs typeface="Inter"/>
              <a:sym typeface="Inter"/>
            </a:endParaRPr>
          </a:p>
        </p:txBody>
      </p:sp>
      <p:pic>
        <p:nvPicPr>
          <p:cNvPr descr="Proyek SAFE-EXIT adalah sistem navigasi evakuasi darurat cerdas berbasis lantai yang dirancang untuk mengatasi masalah rendahnya visibilitas akibat kepulan asap tebal dan kelemahan rambu evakuasi statis saat terjadi kebakaran atau gempa bumi di dalam gedung. Sistem ini beroperasi secara mandiri menggunakan mikrokontroler ESP32 yang terintegrasi dengan puluhan pasang sensor asap (MQ-2) dan sensor api untuk memantau kondisi lingkungan secara real-time. Dengan mengimplementasikan algoritma pencarian rute dinamis Dijkstra, sistem secara otomatis memblokir lorong yang terdeteksi bahaya dan langsung menghitung ulang jalur evakuasi alternatif terpendek menuju pintu keluar. Hasil perhitungan rute ini kemudian dieksekusi secara instan untuk menuntun pengguna menjauhi titik api melalui sinkronisasi arah pendaran cahaya dari Addressable LED Strip dan instruksi vokal dari modul panduan suara, menjadikannya solusi keselamatan yang sangat adaptif, andal, dan efisien." id="462" name="Google Shape;462;p23"/>
          <p:cNvPicPr preferRelativeResize="0"/>
          <p:nvPr/>
        </p:nvPicPr>
        <p:blipFill rotWithShape="1">
          <a:blip r:embed="rId5">
            <a:alphaModFix/>
          </a:blip>
          <a:srcRect b="7832" l="0" r="0" t="14079"/>
          <a:stretch/>
        </p:blipFill>
        <p:spPr>
          <a:xfrm>
            <a:off x="1953749" y="724150"/>
            <a:ext cx="5236498" cy="40891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4"/>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468" name="Google Shape;468;p24"/>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9" name="Google Shape;469;p24"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470" name="Google Shape;470;p24"/>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471" name="Google Shape;471;p24"/>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Arsitektur</a:t>
            </a:r>
            <a:endParaRPr sz="1200">
              <a:solidFill>
                <a:srgbClr val="3A6D8C"/>
              </a:solidFill>
              <a:latin typeface="Inter"/>
              <a:ea typeface="Inter"/>
              <a:cs typeface="Inter"/>
              <a:sym typeface="Inter"/>
            </a:endParaRPr>
          </a:p>
        </p:txBody>
      </p:sp>
      <p:pic>
        <p:nvPicPr>
          <p:cNvPr id="472" name="Google Shape;472;p24"/>
          <p:cNvPicPr preferRelativeResize="0"/>
          <p:nvPr/>
        </p:nvPicPr>
        <p:blipFill rotWithShape="1">
          <a:blip r:embed="rId4">
            <a:alphaModFix/>
          </a:blip>
          <a:srcRect b="5159" l="0" r="0" t="0"/>
          <a:stretch/>
        </p:blipFill>
        <p:spPr>
          <a:xfrm>
            <a:off x="72829" y="1080975"/>
            <a:ext cx="2948774" cy="3796125"/>
          </a:xfrm>
          <a:prstGeom prst="rect">
            <a:avLst/>
          </a:prstGeom>
          <a:noFill/>
          <a:ln>
            <a:noFill/>
          </a:ln>
        </p:spPr>
      </p:pic>
      <p:sp>
        <p:nvSpPr>
          <p:cNvPr id="473" name="Google Shape;473;p24"/>
          <p:cNvSpPr/>
          <p:nvPr/>
        </p:nvSpPr>
        <p:spPr>
          <a:xfrm>
            <a:off x="250350" y="786525"/>
            <a:ext cx="1365984" cy="369306"/>
          </a:xfrm>
          <a:prstGeom prst="flowChartTerminator">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24"/>
          <p:cNvSpPr/>
          <p:nvPr/>
        </p:nvSpPr>
        <p:spPr>
          <a:xfrm>
            <a:off x="304825" y="822950"/>
            <a:ext cx="364500" cy="295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24"/>
          <p:cNvSpPr/>
          <p:nvPr/>
        </p:nvSpPr>
        <p:spPr>
          <a:xfrm>
            <a:off x="854325" y="786525"/>
            <a:ext cx="2294244" cy="369306"/>
          </a:xfrm>
          <a:prstGeom prst="flowChartTerminator">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24"/>
          <p:cNvSpPr txBox="1"/>
          <p:nvPr/>
        </p:nvSpPr>
        <p:spPr>
          <a:xfrm>
            <a:off x="669325" y="763425"/>
            <a:ext cx="1955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AAC3FB"/>
                </a:solidFill>
                <a:latin typeface="Google Sans"/>
                <a:ea typeface="Google Sans"/>
                <a:cs typeface="Google Sans"/>
                <a:sym typeface="Google Sans"/>
              </a:rPr>
              <a:t>Arsitektur</a:t>
            </a:r>
            <a:endParaRPr b="1" i="1" sz="1500">
              <a:solidFill>
                <a:srgbClr val="AAC3FB"/>
              </a:solidFill>
              <a:latin typeface="Google Sans"/>
              <a:ea typeface="Google Sans"/>
              <a:cs typeface="Google Sans"/>
              <a:sym typeface="Google Sans"/>
            </a:endParaRPr>
          </a:p>
        </p:txBody>
      </p:sp>
      <p:pic>
        <p:nvPicPr>
          <p:cNvPr id="477" name="Google Shape;477;p24"/>
          <p:cNvPicPr preferRelativeResize="0"/>
          <p:nvPr/>
        </p:nvPicPr>
        <p:blipFill>
          <a:blip r:embed="rId5">
            <a:alphaModFix/>
          </a:blip>
          <a:stretch>
            <a:fillRect/>
          </a:stretch>
        </p:blipFill>
        <p:spPr>
          <a:xfrm>
            <a:off x="377274" y="861374"/>
            <a:ext cx="219600" cy="219600"/>
          </a:xfrm>
          <a:prstGeom prst="rect">
            <a:avLst/>
          </a:prstGeom>
          <a:noFill/>
          <a:ln>
            <a:noFill/>
          </a:ln>
        </p:spPr>
      </p:pic>
      <p:cxnSp>
        <p:nvCxnSpPr>
          <p:cNvPr id="478" name="Google Shape;478;p24"/>
          <p:cNvCxnSpPr/>
          <p:nvPr/>
        </p:nvCxnSpPr>
        <p:spPr>
          <a:xfrm>
            <a:off x="3148575" y="1294500"/>
            <a:ext cx="4800" cy="3582600"/>
          </a:xfrm>
          <a:prstGeom prst="straightConnector1">
            <a:avLst/>
          </a:prstGeom>
          <a:noFill/>
          <a:ln cap="flat" cmpd="sng" w="19050">
            <a:solidFill>
              <a:schemeClr val="dk1"/>
            </a:solidFill>
            <a:prstDash val="lgDash"/>
            <a:round/>
            <a:headEnd len="med" w="med" type="none"/>
            <a:tailEnd len="med" w="med" type="none"/>
          </a:ln>
        </p:spPr>
      </p:cxnSp>
      <p:sp>
        <p:nvSpPr>
          <p:cNvPr id="479" name="Google Shape;479;p24"/>
          <p:cNvSpPr/>
          <p:nvPr/>
        </p:nvSpPr>
        <p:spPr>
          <a:xfrm rot="5400000">
            <a:off x="3003213" y="2826188"/>
            <a:ext cx="295500" cy="295500"/>
          </a:xfrm>
          <a:prstGeom prst="ellipse">
            <a:avLst/>
          </a:prstGeom>
          <a:solidFill>
            <a:srgbClr val="04153C"/>
          </a:solidFill>
          <a:ln>
            <a:noFill/>
          </a:ln>
          <a:effectLst>
            <a:outerShdw blurRad="40645" rotWithShape="0" algn="bl" dir="5400000" dist="13548">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p>
        </p:txBody>
      </p:sp>
      <p:sp>
        <p:nvSpPr>
          <p:cNvPr id="480" name="Google Shape;480;p24"/>
          <p:cNvSpPr/>
          <p:nvPr/>
        </p:nvSpPr>
        <p:spPr>
          <a:xfrm rot="5400000">
            <a:off x="3072675" y="2897975"/>
            <a:ext cx="181800" cy="160200"/>
          </a:xfrm>
          <a:prstGeom prst="triangle">
            <a:avLst>
              <a:gd fmla="val 50000" name="adj"/>
            </a:avLst>
          </a:prstGeom>
          <a:solidFill>
            <a:schemeClr val="lt1"/>
          </a:solidFill>
          <a:ln>
            <a:noFill/>
          </a:ln>
          <a:effectLst>
            <a:outerShdw blurRad="13295" rotWithShape="0" algn="bl" dir="5400000" dist="6774">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solidFill>
                <a:schemeClr val="lt1"/>
              </a:solidFill>
            </a:endParaRPr>
          </a:p>
        </p:txBody>
      </p:sp>
      <p:sp>
        <p:nvSpPr>
          <p:cNvPr id="481" name="Google Shape;481;p24"/>
          <p:cNvSpPr/>
          <p:nvPr/>
        </p:nvSpPr>
        <p:spPr>
          <a:xfrm>
            <a:off x="3361025" y="822950"/>
            <a:ext cx="5446500" cy="4054200"/>
          </a:xfrm>
          <a:prstGeom prst="rect">
            <a:avLst/>
          </a:prstGeom>
          <a:solidFill>
            <a:srgbClr val="EEEEEE"/>
          </a:solidFill>
          <a:ln cap="flat" cmpd="sng" w="9525">
            <a:solidFill>
              <a:srgbClr val="F3F3F3"/>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lt1"/>
              </a:solidFill>
              <a:latin typeface="Google Sans"/>
              <a:ea typeface="Google Sans"/>
              <a:cs typeface="Google Sans"/>
              <a:sym typeface="Google Sans"/>
            </a:endParaRPr>
          </a:p>
        </p:txBody>
      </p:sp>
      <p:sp>
        <p:nvSpPr>
          <p:cNvPr id="482" name="Google Shape;482;p24"/>
          <p:cNvSpPr txBox="1"/>
          <p:nvPr/>
        </p:nvSpPr>
        <p:spPr>
          <a:xfrm>
            <a:off x="3479075" y="1172000"/>
            <a:ext cx="364500" cy="326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d" sz="2000">
                <a:solidFill>
                  <a:srgbClr val="1F3567"/>
                </a:solidFill>
                <a:latin typeface="Inter"/>
                <a:ea typeface="Inter"/>
                <a:cs typeface="Inter"/>
                <a:sym typeface="Inter"/>
              </a:rPr>
              <a:t>S</a:t>
            </a:r>
            <a:r>
              <a:rPr b="1" lang="id" sz="2000">
                <a:solidFill>
                  <a:srgbClr val="1F3567"/>
                </a:solidFill>
                <a:latin typeface="Inter"/>
                <a:ea typeface="Inter"/>
                <a:cs typeface="Inter"/>
                <a:sym typeface="Inter"/>
              </a:rPr>
              <a:t>UB-S</a:t>
            </a:r>
            <a:endParaRPr b="1" sz="2000">
              <a:solidFill>
                <a:srgbClr val="1F3567"/>
              </a:solidFill>
              <a:latin typeface="Inter"/>
              <a:ea typeface="Inter"/>
              <a:cs typeface="Inter"/>
              <a:sym typeface="Inter"/>
            </a:endParaRPr>
          </a:p>
          <a:p>
            <a:pPr indent="0" lvl="0" marL="0" rtl="0" algn="ctr">
              <a:spcBef>
                <a:spcPts val="0"/>
              </a:spcBef>
              <a:spcAft>
                <a:spcPts val="0"/>
              </a:spcAft>
              <a:buNone/>
            </a:pPr>
            <a:r>
              <a:rPr b="1" lang="id" sz="2000">
                <a:solidFill>
                  <a:srgbClr val="1F3567"/>
                </a:solidFill>
                <a:latin typeface="Inter"/>
                <a:ea typeface="Inter"/>
                <a:cs typeface="Inter"/>
                <a:sym typeface="Inter"/>
              </a:rPr>
              <a:t>I</a:t>
            </a:r>
            <a:endParaRPr b="1" sz="2000">
              <a:solidFill>
                <a:srgbClr val="1F3567"/>
              </a:solidFill>
              <a:latin typeface="Inter"/>
              <a:ea typeface="Inter"/>
              <a:cs typeface="Inter"/>
              <a:sym typeface="Inter"/>
            </a:endParaRPr>
          </a:p>
          <a:p>
            <a:pPr indent="0" lvl="0" marL="0" rtl="0" algn="ctr">
              <a:spcBef>
                <a:spcPts val="0"/>
              </a:spcBef>
              <a:spcAft>
                <a:spcPts val="0"/>
              </a:spcAft>
              <a:buNone/>
            </a:pPr>
            <a:r>
              <a:rPr b="1" lang="id" sz="2000">
                <a:solidFill>
                  <a:srgbClr val="1F3567"/>
                </a:solidFill>
                <a:latin typeface="Inter"/>
                <a:ea typeface="Inter"/>
                <a:cs typeface="Inter"/>
                <a:sym typeface="Inter"/>
              </a:rPr>
              <a:t>STEM</a:t>
            </a:r>
            <a:endParaRPr b="1" sz="2000">
              <a:solidFill>
                <a:srgbClr val="1F3567"/>
              </a:solidFill>
              <a:latin typeface="Inter"/>
              <a:ea typeface="Inter"/>
              <a:cs typeface="Inter"/>
              <a:sym typeface="Inter"/>
            </a:endParaRPr>
          </a:p>
        </p:txBody>
      </p:sp>
      <p:sp>
        <p:nvSpPr>
          <p:cNvPr id="483" name="Google Shape;483;p24"/>
          <p:cNvSpPr/>
          <p:nvPr/>
        </p:nvSpPr>
        <p:spPr>
          <a:xfrm>
            <a:off x="3971875" y="1106250"/>
            <a:ext cx="2294400" cy="159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rPr lang="id" sz="800">
                <a:latin typeface="Inter"/>
                <a:ea typeface="Inter"/>
                <a:cs typeface="Inter"/>
                <a:sym typeface="Inter"/>
              </a:rPr>
              <a:t>Memantau kondisi secara real-time melalui sensor MQ-2 untuk mendeteksi asap dan sensor api untuk mendeteksi nyala api.</a:t>
            </a:r>
            <a:endParaRPr sz="800">
              <a:latin typeface="Inter"/>
              <a:ea typeface="Inter"/>
              <a:cs typeface="Inter"/>
              <a:sym typeface="Inter"/>
            </a:endParaRPr>
          </a:p>
        </p:txBody>
      </p:sp>
      <p:sp>
        <p:nvSpPr>
          <p:cNvPr id="484" name="Google Shape;484;p24"/>
          <p:cNvSpPr/>
          <p:nvPr/>
        </p:nvSpPr>
        <p:spPr>
          <a:xfrm>
            <a:off x="6394575" y="3122450"/>
            <a:ext cx="2294400" cy="159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rPr lang="id" sz="800">
                <a:latin typeface="Inter"/>
                <a:ea typeface="Inter"/>
                <a:cs typeface="Inter"/>
                <a:sym typeface="Inter"/>
              </a:rPr>
              <a:t>Menyediakan listrik DC stabil berkapasitas 10A untuk mencegah penurunan tegangan saat mikrokontroler dan LED strip beroperasi penuh.</a:t>
            </a:r>
            <a:endParaRPr sz="800">
              <a:latin typeface="Inter"/>
              <a:ea typeface="Inter"/>
              <a:cs typeface="Inter"/>
              <a:sym typeface="Inter"/>
            </a:endParaRPr>
          </a:p>
        </p:txBody>
      </p:sp>
      <p:sp>
        <p:nvSpPr>
          <p:cNvPr id="485" name="Google Shape;485;p24"/>
          <p:cNvSpPr/>
          <p:nvPr/>
        </p:nvSpPr>
        <p:spPr>
          <a:xfrm>
            <a:off x="3971875" y="834557"/>
            <a:ext cx="2294400" cy="3693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Subsistem Input</a:t>
            </a:r>
            <a:endParaRPr sz="1300">
              <a:solidFill>
                <a:schemeClr val="lt1"/>
              </a:solidFill>
              <a:latin typeface="Inter"/>
              <a:ea typeface="Inter"/>
              <a:cs typeface="Inter"/>
              <a:sym typeface="Inter"/>
            </a:endParaRPr>
          </a:p>
        </p:txBody>
      </p:sp>
      <p:sp>
        <p:nvSpPr>
          <p:cNvPr id="486" name="Google Shape;486;p24"/>
          <p:cNvSpPr/>
          <p:nvPr/>
        </p:nvSpPr>
        <p:spPr>
          <a:xfrm>
            <a:off x="6394575" y="1106251"/>
            <a:ext cx="2294400" cy="159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rPr lang="id" sz="800">
                <a:latin typeface="Inter"/>
                <a:ea typeface="Inter"/>
                <a:cs typeface="Inter"/>
                <a:sym typeface="Inter"/>
              </a:rPr>
              <a:t>Berfungsi sebagai otak utama untuk memvalidasi data sensor dan menjalankan algoritma Dijkstra </a:t>
            </a:r>
            <a:r>
              <a:rPr lang="id" sz="800">
                <a:latin typeface="Inter"/>
                <a:ea typeface="Inter"/>
                <a:cs typeface="Inter"/>
                <a:sym typeface="Inter"/>
              </a:rPr>
              <a:t>untuk menentukan</a:t>
            </a:r>
            <a:r>
              <a:rPr lang="id" sz="800">
                <a:latin typeface="Inter"/>
                <a:ea typeface="Inter"/>
                <a:cs typeface="Inter"/>
                <a:sym typeface="Inter"/>
              </a:rPr>
              <a:t> rute evakuasi teraman.</a:t>
            </a:r>
            <a:endParaRPr sz="800">
              <a:latin typeface="Inter"/>
              <a:ea typeface="Inter"/>
              <a:cs typeface="Inter"/>
              <a:sym typeface="Inter"/>
            </a:endParaRPr>
          </a:p>
        </p:txBody>
      </p:sp>
      <p:sp>
        <p:nvSpPr>
          <p:cNvPr id="487" name="Google Shape;487;p24"/>
          <p:cNvSpPr/>
          <p:nvPr/>
        </p:nvSpPr>
        <p:spPr>
          <a:xfrm>
            <a:off x="3971875" y="3119275"/>
            <a:ext cx="2294400" cy="159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Inter"/>
              <a:ea typeface="Inter"/>
              <a:cs typeface="Inter"/>
              <a:sym typeface="Inter"/>
            </a:endParaRPr>
          </a:p>
          <a:p>
            <a:pPr indent="0" lvl="0" marL="0" rtl="0" algn="ctr">
              <a:spcBef>
                <a:spcPts val="0"/>
              </a:spcBef>
              <a:spcAft>
                <a:spcPts val="0"/>
              </a:spcAft>
              <a:buNone/>
            </a:pPr>
            <a:r>
              <a:t/>
            </a:r>
            <a:endParaRPr sz="1000">
              <a:latin typeface="Inter"/>
              <a:ea typeface="Inter"/>
              <a:cs typeface="Inter"/>
              <a:sym typeface="Inter"/>
            </a:endParaRPr>
          </a:p>
          <a:p>
            <a:pPr indent="0" lvl="0" marL="0" rtl="0" algn="ctr">
              <a:spcBef>
                <a:spcPts val="0"/>
              </a:spcBef>
              <a:spcAft>
                <a:spcPts val="0"/>
              </a:spcAft>
              <a:buNone/>
            </a:pPr>
            <a:r>
              <a:t/>
            </a:r>
            <a:endParaRPr sz="1000">
              <a:latin typeface="Inter"/>
              <a:ea typeface="Inter"/>
              <a:cs typeface="Inter"/>
              <a:sym typeface="Inter"/>
            </a:endParaRPr>
          </a:p>
          <a:p>
            <a:pPr indent="0" lvl="0" marL="0" rtl="0" algn="ctr">
              <a:spcBef>
                <a:spcPts val="0"/>
              </a:spcBef>
              <a:spcAft>
                <a:spcPts val="0"/>
              </a:spcAft>
              <a:buNone/>
            </a:pPr>
            <a:r>
              <a:t/>
            </a:r>
            <a:endParaRPr sz="1000">
              <a:latin typeface="Inter"/>
              <a:ea typeface="Inter"/>
              <a:cs typeface="Inter"/>
              <a:sym typeface="Inter"/>
            </a:endParaRPr>
          </a:p>
          <a:p>
            <a:pPr indent="0" lvl="0" marL="0" rtl="0" algn="l">
              <a:spcBef>
                <a:spcPts val="0"/>
              </a:spcBef>
              <a:spcAft>
                <a:spcPts val="0"/>
              </a:spcAft>
              <a:buNone/>
            </a:pPr>
            <a:r>
              <a:t/>
            </a:r>
            <a:endParaRPr sz="1000">
              <a:latin typeface="Inter"/>
              <a:ea typeface="Inter"/>
              <a:cs typeface="Inter"/>
              <a:sym typeface="Inter"/>
            </a:endParaRPr>
          </a:p>
          <a:p>
            <a:pPr indent="0" lvl="0" marL="0" rtl="0" algn="just">
              <a:spcBef>
                <a:spcPts val="0"/>
              </a:spcBef>
              <a:spcAft>
                <a:spcPts val="0"/>
              </a:spcAft>
              <a:buNone/>
            </a:pPr>
            <a:r>
              <a:rPr lang="id" sz="800">
                <a:latin typeface="Inter"/>
                <a:ea typeface="Inter"/>
                <a:cs typeface="Inter"/>
                <a:sym typeface="Inter"/>
              </a:rPr>
              <a:t>Mengeksekusi respons keselamatan dengan memutus listrik utama melalui relay dan menyalakan LED strip sebagai petunjuk arah evakuasi.</a:t>
            </a:r>
            <a:endParaRPr sz="800">
              <a:latin typeface="Inter"/>
              <a:ea typeface="Inter"/>
              <a:cs typeface="Inter"/>
              <a:sym typeface="Inter"/>
            </a:endParaRPr>
          </a:p>
        </p:txBody>
      </p:sp>
      <p:sp>
        <p:nvSpPr>
          <p:cNvPr id="488" name="Google Shape;488;p24"/>
          <p:cNvSpPr/>
          <p:nvPr/>
        </p:nvSpPr>
        <p:spPr>
          <a:xfrm>
            <a:off x="6394575" y="834570"/>
            <a:ext cx="2294400" cy="3693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Subsistem Pemrosesan Pusat</a:t>
            </a:r>
            <a:endParaRPr sz="1300">
              <a:solidFill>
                <a:schemeClr val="lt1"/>
              </a:solidFill>
              <a:latin typeface="Inter"/>
              <a:ea typeface="Inter"/>
              <a:cs typeface="Inter"/>
              <a:sym typeface="Inter"/>
            </a:endParaRPr>
          </a:p>
        </p:txBody>
      </p:sp>
      <p:sp>
        <p:nvSpPr>
          <p:cNvPr id="489" name="Google Shape;489;p24"/>
          <p:cNvSpPr/>
          <p:nvPr/>
        </p:nvSpPr>
        <p:spPr>
          <a:xfrm>
            <a:off x="3971875" y="2874451"/>
            <a:ext cx="2294400" cy="3585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Subsistem Output</a:t>
            </a:r>
            <a:endParaRPr sz="1300">
              <a:solidFill>
                <a:schemeClr val="lt1"/>
              </a:solidFill>
              <a:latin typeface="Inter"/>
              <a:ea typeface="Inter"/>
              <a:cs typeface="Inter"/>
              <a:sym typeface="Inter"/>
            </a:endParaRPr>
          </a:p>
        </p:txBody>
      </p:sp>
      <p:sp>
        <p:nvSpPr>
          <p:cNvPr id="490" name="Google Shape;490;p24"/>
          <p:cNvSpPr/>
          <p:nvPr/>
        </p:nvSpPr>
        <p:spPr>
          <a:xfrm>
            <a:off x="6398824" y="2885325"/>
            <a:ext cx="2294400" cy="3585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Subsistem Catu Daya</a:t>
            </a:r>
            <a:endParaRPr sz="1300">
              <a:solidFill>
                <a:schemeClr val="lt1"/>
              </a:solidFill>
              <a:latin typeface="Inter"/>
              <a:ea typeface="Inter"/>
              <a:cs typeface="Inter"/>
              <a:sym typeface="Inter"/>
            </a:endParaRPr>
          </a:p>
        </p:txBody>
      </p:sp>
      <p:sp>
        <p:nvSpPr>
          <p:cNvPr id="491" name="Google Shape;491;p24"/>
          <p:cNvSpPr/>
          <p:nvPr/>
        </p:nvSpPr>
        <p:spPr>
          <a:xfrm>
            <a:off x="4060225" y="1294500"/>
            <a:ext cx="2117700" cy="638100"/>
          </a:xfrm>
          <a:prstGeom prst="roundRect">
            <a:avLst>
              <a:gd fmla="val 16667" name="adj"/>
            </a:avLst>
          </a:prstGeom>
          <a:solidFill>
            <a:srgbClr val="C8DEE9"/>
          </a:solidFill>
          <a:ln cap="flat" cmpd="sng" w="9525">
            <a:solidFill>
              <a:srgbClr val="ACC8D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d" sz="900">
                <a:solidFill>
                  <a:schemeClr val="dk1"/>
                </a:solidFill>
                <a:latin typeface="Inter"/>
                <a:ea typeface="Inter"/>
                <a:cs typeface="Inter"/>
                <a:sym typeface="Inter"/>
              </a:rPr>
              <a:t>Komponen Utama : </a:t>
            </a:r>
            <a:endParaRPr b="1" sz="900">
              <a:solidFill>
                <a:schemeClr val="dk1"/>
              </a:solidFill>
              <a:latin typeface="Inter"/>
              <a:ea typeface="Inter"/>
              <a:cs typeface="Inter"/>
              <a:sym typeface="Inter"/>
            </a:endParaRPr>
          </a:p>
          <a:p>
            <a:pPr indent="-285750" lvl="0" marL="457200" rtl="0" algn="just">
              <a:spcBef>
                <a:spcPts val="0"/>
              </a:spcBef>
              <a:spcAft>
                <a:spcPts val="0"/>
              </a:spcAft>
              <a:buClr>
                <a:schemeClr val="dk1"/>
              </a:buClr>
              <a:buSzPts val="900"/>
              <a:buFont typeface="Inter"/>
              <a:buChar char="●"/>
            </a:pPr>
            <a:r>
              <a:rPr lang="id" sz="900">
                <a:solidFill>
                  <a:schemeClr val="dk1"/>
                </a:solidFill>
                <a:latin typeface="Inter"/>
                <a:ea typeface="Inter"/>
                <a:cs typeface="Inter"/>
                <a:sym typeface="Inter"/>
              </a:rPr>
              <a:t>Sensor Asap (MQ-2)</a:t>
            </a:r>
            <a:endParaRPr sz="900">
              <a:solidFill>
                <a:schemeClr val="dk1"/>
              </a:solidFill>
              <a:latin typeface="Inter"/>
              <a:ea typeface="Inter"/>
              <a:cs typeface="Inter"/>
              <a:sym typeface="Inter"/>
            </a:endParaRPr>
          </a:p>
          <a:p>
            <a:pPr indent="-285750" lvl="0" marL="457200" rtl="0" algn="just">
              <a:spcBef>
                <a:spcPts val="0"/>
              </a:spcBef>
              <a:spcAft>
                <a:spcPts val="0"/>
              </a:spcAft>
              <a:buClr>
                <a:schemeClr val="dk1"/>
              </a:buClr>
              <a:buSzPts val="900"/>
              <a:buFont typeface="Inter"/>
              <a:buChar char="●"/>
            </a:pPr>
            <a:r>
              <a:rPr lang="id" sz="900">
                <a:solidFill>
                  <a:schemeClr val="dk1"/>
                </a:solidFill>
                <a:latin typeface="Inter"/>
                <a:ea typeface="Inter"/>
                <a:cs typeface="Inter"/>
                <a:sym typeface="Inter"/>
              </a:rPr>
              <a:t>Sensor Api (Flame Sensor)</a:t>
            </a:r>
            <a:endParaRPr b="1" sz="900">
              <a:solidFill>
                <a:schemeClr val="lt1"/>
              </a:solidFill>
              <a:latin typeface="Google Sans"/>
              <a:ea typeface="Google Sans"/>
              <a:cs typeface="Google Sans"/>
              <a:sym typeface="Google Sans"/>
            </a:endParaRPr>
          </a:p>
        </p:txBody>
      </p:sp>
      <p:pic>
        <p:nvPicPr>
          <p:cNvPr id="492" name="Google Shape;492;p24"/>
          <p:cNvPicPr preferRelativeResize="0"/>
          <p:nvPr/>
        </p:nvPicPr>
        <p:blipFill>
          <a:blip r:embed="rId6">
            <a:alphaModFix/>
          </a:blip>
          <a:stretch>
            <a:fillRect/>
          </a:stretch>
        </p:blipFill>
        <p:spPr>
          <a:xfrm>
            <a:off x="-1396350" y="2289475"/>
            <a:ext cx="1317900" cy="2854025"/>
          </a:xfrm>
          <a:prstGeom prst="rect">
            <a:avLst/>
          </a:prstGeom>
          <a:noFill/>
          <a:ln>
            <a:noFill/>
          </a:ln>
        </p:spPr>
      </p:pic>
      <p:sp>
        <p:nvSpPr>
          <p:cNvPr id="493" name="Google Shape;493;p24"/>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24"/>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24"/>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24"/>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24"/>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24"/>
          <p:cNvSpPr/>
          <p:nvPr/>
        </p:nvSpPr>
        <p:spPr>
          <a:xfrm>
            <a:off x="6487175" y="1294500"/>
            <a:ext cx="2117700" cy="638100"/>
          </a:xfrm>
          <a:prstGeom prst="roundRect">
            <a:avLst>
              <a:gd fmla="val 16667" name="adj"/>
            </a:avLst>
          </a:prstGeom>
          <a:solidFill>
            <a:srgbClr val="C8DE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Komponen Utama : </a:t>
            </a:r>
            <a:endParaRPr b="1" sz="900">
              <a:solidFill>
                <a:schemeClr val="dk1"/>
              </a:solidFill>
              <a:latin typeface="Inter"/>
              <a:ea typeface="Inter"/>
              <a:cs typeface="Inter"/>
              <a:sym typeface="Inter"/>
            </a:endParaRPr>
          </a:p>
          <a:p>
            <a:pPr indent="0" lvl="0" marL="0" rtl="0" algn="just">
              <a:spcBef>
                <a:spcPts val="0"/>
              </a:spcBef>
              <a:spcAft>
                <a:spcPts val="0"/>
              </a:spcAft>
              <a:buNone/>
            </a:pPr>
            <a:r>
              <a:rPr lang="id" sz="900">
                <a:solidFill>
                  <a:schemeClr val="dk1"/>
                </a:solidFill>
                <a:latin typeface="Inter"/>
                <a:ea typeface="Inter"/>
                <a:cs typeface="Inter"/>
                <a:sym typeface="Inter"/>
              </a:rPr>
              <a:t>Mikrokontroler (ESP32/NodeMCU)</a:t>
            </a:r>
            <a:endParaRPr b="1" sz="900">
              <a:solidFill>
                <a:schemeClr val="lt1"/>
              </a:solidFill>
              <a:latin typeface="Inter"/>
              <a:ea typeface="Inter"/>
              <a:cs typeface="Inter"/>
              <a:sym typeface="Inter"/>
            </a:endParaRPr>
          </a:p>
        </p:txBody>
      </p:sp>
      <p:sp>
        <p:nvSpPr>
          <p:cNvPr id="499" name="Google Shape;499;p24"/>
          <p:cNvSpPr/>
          <p:nvPr/>
        </p:nvSpPr>
        <p:spPr>
          <a:xfrm>
            <a:off x="4060225" y="3306383"/>
            <a:ext cx="2117700" cy="638100"/>
          </a:xfrm>
          <a:prstGeom prst="roundRect">
            <a:avLst>
              <a:gd fmla="val 16667" name="adj"/>
            </a:avLst>
          </a:prstGeom>
          <a:solidFill>
            <a:srgbClr val="C8DE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Komponen Utama : </a:t>
            </a:r>
            <a:endParaRPr b="1" sz="900">
              <a:solidFill>
                <a:schemeClr val="dk1"/>
              </a:solidFill>
              <a:latin typeface="Inter"/>
              <a:ea typeface="Inter"/>
              <a:cs typeface="Inter"/>
              <a:sym typeface="Inter"/>
            </a:endParaRPr>
          </a:p>
          <a:p>
            <a:pPr indent="-285750" lvl="0" marL="457200" rtl="0" algn="just">
              <a:spcBef>
                <a:spcPts val="0"/>
              </a:spcBef>
              <a:spcAft>
                <a:spcPts val="0"/>
              </a:spcAft>
              <a:buClr>
                <a:schemeClr val="dk1"/>
              </a:buClr>
              <a:buSzPts val="900"/>
              <a:buFont typeface="Inter"/>
              <a:buChar char="●"/>
            </a:pPr>
            <a:r>
              <a:rPr lang="id" sz="900">
                <a:solidFill>
                  <a:schemeClr val="dk1"/>
                </a:solidFill>
                <a:latin typeface="Inter"/>
                <a:ea typeface="Inter"/>
                <a:cs typeface="Inter"/>
                <a:sym typeface="Inter"/>
              </a:rPr>
              <a:t>Modul Relay</a:t>
            </a:r>
            <a:endParaRPr sz="900">
              <a:solidFill>
                <a:schemeClr val="dk1"/>
              </a:solidFill>
              <a:latin typeface="Inter"/>
              <a:ea typeface="Inter"/>
              <a:cs typeface="Inter"/>
              <a:sym typeface="Inter"/>
            </a:endParaRPr>
          </a:p>
          <a:p>
            <a:pPr indent="-285750" lvl="0" marL="457200" rtl="0" algn="just">
              <a:spcBef>
                <a:spcPts val="0"/>
              </a:spcBef>
              <a:spcAft>
                <a:spcPts val="0"/>
              </a:spcAft>
              <a:buClr>
                <a:schemeClr val="dk1"/>
              </a:buClr>
              <a:buSzPts val="900"/>
              <a:buFont typeface="Inter"/>
              <a:buChar char="●"/>
            </a:pPr>
            <a:r>
              <a:rPr lang="id" sz="900">
                <a:solidFill>
                  <a:schemeClr val="dk1"/>
                </a:solidFill>
                <a:latin typeface="Inter"/>
                <a:ea typeface="Inter"/>
                <a:cs typeface="Inter"/>
                <a:sym typeface="Inter"/>
              </a:rPr>
              <a:t>LED Strip WS2812B</a:t>
            </a:r>
            <a:endParaRPr sz="900">
              <a:solidFill>
                <a:schemeClr val="dk1"/>
              </a:solidFill>
              <a:latin typeface="Inter"/>
              <a:ea typeface="Inter"/>
              <a:cs typeface="Inter"/>
              <a:sym typeface="Inter"/>
            </a:endParaRPr>
          </a:p>
        </p:txBody>
      </p:sp>
      <p:sp>
        <p:nvSpPr>
          <p:cNvPr id="500" name="Google Shape;500;p24"/>
          <p:cNvSpPr/>
          <p:nvPr/>
        </p:nvSpPr>
        <p:spPr>
          <a:xfrm>
            <a:off x="6487175" y="3299708"/>
            <a:ext cx="2117700" cy="638100"/>
          </a:xfrm>
          <a:prstGeom prst="roundRect">
            <a:avLst>
              <a:gd fmla="val 16667" name="adj"/>
            </a:avLst>
          </a:prstGeom>
          <a:solidFill>
            <a:srgbClr val="C8DEE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id" sz="900">
                <a:solidFill>
                  <a:schemeClr val="dk1"/>
                </a:solidFill>
                <a:latin typeface="Inter"/>
                <a:ea typeface="Inter"/>
                <a:cs typeface="Inter"/>
                <a:sym typeface="Inter"/>
              </a:rPr>
              <a:t>Komponen Utama : </a:t>
            </a:r>
            <a:endParaRPr b="1" sz="900">
              <a:solidFill>
                <a:schemeClr val="dk1"/>
              </a:solidFill>
              <a:latin typeface="Inter"/>
              <a:ea typeface="Inter"/>
              <a:cs typeface="Inter"/>
              <a:sym typeface="Inter"/>
            </a:endParaRPr>
          </a:p>
          <a:p>
            <a:pPr indent="0" lvl="0" marL="0" rtl="0" algn="just">
              <a:spcBef>
                <a:spcPts val="0"/>
              </a:spcBef>
              <a:spcAft>
                <a:spcPts val="0"/>
              </a:spcAft>
              <a:buNone/>
            </a:pPr>
            <a:r>
              <a:rPr lang="id" sz="900">
                <a:solidFill>
                  <a:schemeClr val="dk1"/>
                </a:solidFill>
                <a:latin typeface="Inter"/>
                <a:ea typeface="Inter"/>
                <a:cs typeface="Inter"/>
                <a:sym typeface="Inter"/>
              </a:rPr>
              <a:t>Subsistem Catu Daya</a:t>
            </a:r>
            <a:endParaRPr sz="900">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5"/>
          <p:cNvSpPr/>
          <p:nvPr/>
        </p:nvSpPr>
        <p:spPr>
          <a:xfrm>
            <a:off x="325650" y="3215955"/>
            <a:ext cx="2934000" cy="8505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800">
              <a:latin typeface="Inter"/>
              <a:ea typeface="Inter"/>
              <a:cs typeface="Inter"/>
              <a:sym typeface="Inter"/>
            </a:endParaRPr>
          </a:p>
        </p:txBody>
      </p:sp>
      <p:sp>
        <p:nvSpPr>
          <p:cNvPr id="506" name="Google Shape;506;p25"/>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507" name="Google Shape;507;p25"/>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8" name="Google Shape;508;p25"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509" name="Google Shape;509;p25"/>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510" name="Google Shape;510;p25"/>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Rancangan Teknis</a:t>
            </a:r>
            <a:endParaRPr sz="1200">
              <a:solidFill>
                <a:srgbClr val="3A6D8C"/>
              </a:solidFill>
              <a:latin typeface="Inter"/>
              <a:ea typeface="Inter"/>
              <a:cs typeface="Inter"/>
              <a:sym typeface="Inter"/>
            </a:endParaRPr>
          </a:p>
        </p:txBody>
      </p:sp>
      <p:pic>
        <p:nvPicPr>
          <p:cNvPr id="511" name="Google Shape;511;p25"/>
          <p:cNvPicPr preferRelativeResize="0"/>
          <p:nvPr/>
        </p:nvPicPr>
        <p:blipFill>
          <a:blip r:embed="rId4">
            <a:alphaModFix/>
          </a:blip>
          <a:stretch>
            <a:fillRect/>
          </a:stretch>
        </p:blipFill>
        <p:spPr>
          <a:xfrm>
            <a:off x="-1396350" y="2289475"/>
            <a:ext cx="1317900" cy="2854025"/>
          </a:xfrm>
          <a:prstGeom prst="rect">
            <a:avLst/>
          </a:prstGeom>
          <a:noFill/>
          <a:ln>
            <a:noFill/>
          </a:ln>
        </p:spPr>
      </p:pic>
      <p:sp>
        <p:nvSpPr>
          <p:cNvPr id="512" name="Google Shape;512;p25"/>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25"/>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25"/>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25"/>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25"/>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17" name="Google Shape;517;p25"/>
          <p:cNvCxnSpPr/>
          <p:nvPr/>
        </p:nvCxnSpPr>
        <p:spPr>
          <a:xfrm rot="10800000">
            <a:off x="3799575" y="3043638"/>
            <a:ext cx="5269500" cy="8100"/>
          </a:xfrm>
          <a:prstGeom prst="straightConnector1">
            <a:avLst/>
          </a:prstGeom>
          <a:noFill/>
          <a:ln cap="flat" cmpd="sng" w="19050">
            <a:solidFill>
              <a:schemeClr val="dk1"/>
            </a:solidFill>
            <a:prstDash val="lgDash"/>
            <a:round/>
            <a:headEnd len="med" w="med" type="none"/>
            <a:tailEnd len="med" w="med" type="none"/>
          </a:ln>
        </p:spPr>
      </p:cxnSp>
      <p:cxnSp>
        <p:nvCxnSpPr>
          <p:cNvPr id="518" name="Google Shape;518;p25"/>
          <p:cNvCxnSpPr/>
          <p:nvPr/>
        </p:nvCxnSpPr>
        <p:spPr>
          <a:xfrm flipH="1">
            <a:off x="3663750" y="902375"/>
            <a:ext cx="8400" cy="4082400"/>
          </a:xfrm>
          <a:prstGeom prst="straightConnector1">
            <a:avLst/>
          </a:prstGeom>
          <a:noFill/>
          <a:ln cap="flat" cmpd="sng" w="19050">
            <a:solidFill>
              <a:schemeClr val="dk1"/>
            </a:solidFill>
            <a:prstDash val="lgDash"/>
            <a:round/>
            <a:headEnd len="med" w="med" type="none"/>
            <a:tailEnd len="med" w="med" type="none"/>
          </a:ln>
        </p:spPr>
      </p:cxnSp>
      <p:sp>
        <p:nvSpPr>
          <p:cNvPr id="519" name="Google Shape;519;p25"/>
          <p:cNvSpPr/>
          <p:nvPr/>
        </p:nvSpPr>
        <p:spPr>
          <a:xfrm>
            <a:off x="325650" y="2241855"/>
            <a:ext cx="2934000" cy="8505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800">
              <a:latin typeface="Inter"/>
              <a:ea typeface="Inter"/>
              <a:cs typeface="Inter"/>
              <a:sym typeface="Inter"/>
            </a:endParaRPr>
          </a:p>
        </p:txBody>
      </p:sp>
      <p:pic>
        <p:nvPicPr>
          <p:cNvPr id="520" name="Google Shape;520;p25"/>
          <p:cNvPicPr preferRelativeResize="0"/>
          <p:nvPr/>
        </p:nvPicPr>
        <p:blipFill>
          <a:blip r:embed="rId5">
            <a:alphaModFix/>
          </a:blip>
          <a:stretch>
            <a:fillRect/>
          </a:stretch>
        </p:blipFill>
        <p:spPr>
          <a:xfrm>
            <a:off x="315300" y="3212199"/>
            <a:ext cx="476651" cy="476651"/>
          </a:xfrm>
          <a:prstGeom prst="rect">
            <a:avLst/>
          </a:prstGeom>
          <a:noFill/>
          <a:ln>
            <a:noFill/>
          </a:ln>
        </p:spPr>
      </p:pic>
      <p:sp>
        <p:nvSpPr>
          <p:cNvPr id="521" name="Google Shape;521;p25"/>
          <p:cNvSpPr/>
          <p:nvPr/>
        </p:nvSpPr>
        <p:spPr>
          <a:xfrm>
            <a:off x="315300" y="1267755"/>
            <a:ext cx="2934000" cy="8505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800">
              <a:latin typeface="Inter"/>
              <a:ea typeface="Inter"/>
              <a:cs typeface="Inter"/>
              <a:sym typeface="Inter"/>
            </a:endParaRPr>
          </a:p>
        </p:txBody>
      </p:sp>
      <p:sp>
        <p:nvSpPr>
          <p:cNvPr id="522" name="Google Shape;522;p25"/>
          <p:cNvSpPr/>
          <p:nvPr/>
        </p:nvSpPr>
        <p:spPr>
          <a:xfrm>
            <a:off x="325650" y="4190055"/>
            <a:ext cx="2934000" cy="8505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800">
              <a:latin typeface="Inter"/>
              <a:ea typeface="Inter"/>
              <a:cs typeface="Inter"/>
              <a:sym typeface="Inter"/>
            </a:endParaRPr>
          </a:p>
        </p:txBody>
      </p:sp>
      <p:pic>
        <p:nvPicPr>
          <p:cNvPr id="523" name="Google Shape;523;p25"/>
          <p:cNvPicPr preferRelativeResize="0"/>
          <p:nvPr/>
        </p:nvPicPr>
        <p:blipFill>
          <a:blip r:embed="rId6">
            <a:alphaModFix/>
          </a:blip>
          <a:stretch>
            <a:fillRect/>
          </a:stretch>
        </p:blipFill>
        <p:spPr>
          <a:xfrm>
            <a:off x="409023" y="3650958"/>
            <a:ext cx="433696" cy="415500"/>
          </a:xfrm>
          <a:prstGeom prst="rect">
            <a:avLst/>
          </a:prstGeom>
          <a:noFill/>
          <a:ln>
            <a:noFill/>
          </a:ln>
        </p:spPr>
      </p:pic>
      <p:pic>
        <p:nvPicPr>
          <p:cNvPr id="524" name="Google Shape;524;p25"/>
          <p:cNvPicPr preferRelativeResize="0"/>
          <p:nvPr/>
        </p:nvPicPr>
        <p:blipFill>
          <a:blip r:embed="rId7">
            <a:alphaModFix/>
          </a:blip>
          <a:stretch>
            <a:fillRect/>
          </a:stretch>
        </p:blipFill>
        <p:spPr>
          <a:xfrm>
            <a:off x="325650" y="2205111"/>
            <a:ext cx="505876" cy="505876"/>
          </a:xfrm>
          <a:prstGeom prst="rect">
            <a:avLst/>
          </a:prstGeom>
          <a:noFill/>
          <a:ln>
            <a:noFill/>
          </a:ln>
        </p:spPr>
      </p:pic>
      <p:pic>
        <p:nvPicPr>
          <p:cNvPr id="525" name="Google Shape;525;p25"/>
          <p:cNvPicPr preferRelativeResize="0"/>
          <p:nvPr/>
        </p:nvPicPr>
        <p:blipFill rotWithShape="1">
          <a:blip r:embed="rId8">
            <a:alphaModFix/>
          </a:blip>
          <a:srcRect b="0" l="-33166" r="-23279" t="0"/>
          <a:stretch/>
        </p:blipFill>
        <p:spPr>
          <a:xfrm>
            <a:off x="285850" y="2582762"/>
            <a:ext cx="791433" cy="415501"/>
          </a:xfrm>
          <a:prstGeom prst="rect">
            <a:avLst/>
          </a:prstGeom>
          <a:noFill/>
          <a:ln>
            <a:noFill/>
          </a:ln>
        </p:spPr>
      </p:pic>
      <p:sp>
        <p:nvSpPr>
          <p:cNvPr id="526" name="Google Shape;526;p25"/>
          <p:cNvSpPr txBox="1"/>
          <p:nvPr/>
        </p:nvSpPr>
        <p:spPr>
          <a:xfrm>
            <a:off x="945400" y="2241850"/>
            <a:ext cx="2234100" cy="850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id" sz="800">
                <a:solidFill>
                  <a:schemeClr val="dk1"/>
                </a:solidFill>
                <a:latin typeface="Inter"/>
                <a:ea typeface="Inter"/>
                <a:cs typeface="Inter"/>
                <a:sym typeface="Inter"/>
              </a:rPr>
              <a:t>Unit Pemrosesan dan Audio</a:t>
            </a:r>
            <a:endParaRPr b="1" sz="800">
              <a:solidFill>
                <a:schemeClr val="dk1"/>
              </a:solidFill>
              <a:latin typeface="Inter"/>
              <a:ea typeface="Inter"/>
              <a:cs typeface="Inter"/>
              <a:sym typeface="Inter"/>
            </a:endParaRPr>
          </a:p>
          <a:p>
            <a:pPr indent="0" lvl="0" marL="0" rtl="0" algn="just">
              <a:spcBef>
                <a:spcPts val="0"/>
              </a:spcBef>
              <a:spcAft>
                <a:spcPts val="0"/>
              </a:spcAft>
              <a:buNone/>
            </a:pPr>
            <a:r>
              <a:rPr lang="id" sz="700">
                <a:solidFill>
                  <a:schemeClr val="dk1"/>
                </a:solidFill>
                <a:latin typeface="Inter"/>
                <a:ea typeface="Inter"/>
                <a:cs typeface="Inter"/>
                <a:sym typeface="Inter"/>
              </a:rPr>
              <a:t>Komputasi utama dan kendali audio menggunakan ESP32 yang terintegrasi dengan modul suara DFPlayer Mini melalui komunikasi serial (Pin 8 dan 10).</a:t>
            </a:r>
            <a:endParaRPr sz="700">
              <a:solidFill>
                <a:schemeClr val="dk1"/>
              </a:solidFill>
              <a:latin typeface="Inter"/>
              <a:ea typeface="Inter"/>
              <a:cs typeface="Inter"/>
              <a:sym typeface="Inter"/>
            </a:endParaRPr>
          </a:p>
        </p:txBody>
      </p:sp>
      <p:sp>
        <p:nvSpPr>
          <p:cNvPr id="527" name="Google Shape;527;p25"/>
          <p:cNvSpPr txBox="1"/>
          <p:nvPr/>
        </p:nvSpPr>
        <p:spPr>
          <a:xfrm>
            <a:off x="945400" y="3216000"/>
            <a:ext cx="2234100" cy="850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id" sz="800">
                <a:solidFill>
                  <a:schemeClr val="dk1"/>
                </a:solidFill>
                <a:latin typeface="Inter"/>
                <a:ea typeface="Inter"/>
                <a:cs typeface="Inter"/>
                <a:sym typeface="Inter"/>
              </a:rPr>
              <a:t>Integrasi Sensor dan Visual</a:t>
            </a:r>
            <a:endParaRPr b="1" sz="800">
              <a:solidFill>
                <a:schemeClr val="dk1"/>
              </a:solidFill>
              <a:latin typeface="Inter"/>
              <a:ea typeface="Inter"/>
              <a:cs typeface="Inter"/>
              <a:sym typeface="Inter"/>
            </a:endParaRPr>
          </a:p>
          <a:p>
            <a:pPr indent="0" lvl="0" marL="0" rtl="0" algn="just">
              <a:spcBef>
                <a:spcPts val="0"/>
              </a:spcBef>
              <a:spcAft>
                <a:spcPts val="0"/>
              </a:spcAft>
              <a:buNone/>
            </a:pPr>
            <a:r>
              <a:rPr lang="id" sz="700">
                <a:solidFill>
                  <a:schemeClr val="dk1"/>
                </a:solidFill>
                <a:latin typeface="Inter"/>
                <a:ea typeface="Inter"/>
                <a:cs typeface="Inter"/>
                <a:sym typeface="Inter"/>
              </a:rPr>
              <a:t>Sensor api dan sensor asap (MQ-2) dipasang secara strategis pada titik-titik krusial di maket untuk akuisisi data anomali lingkungan. Sebagai indikator arah evakuasi di lantai, sistem memanfaatkan Addressable LED Strip WS2812B.</a:t>
            </a:r>
            <a:endParaRPr sz="700">
              <a:solidFill>
                <a:schemeClr val="dk1"/>
              </a:solidFill>
              <a:latin typeface="Inter"/>
              <a:ea typeface="Inter"/>
              <a:cs typeface="Inter"/>
              <a:sym typeface="Inter"/>
            </a:endParaRPr>
          </a:p>
        </p:txBody>
      </p:sp>
      <p:pic>
        <p:nvPicPr>
          <p:cNvPr id="528" name="Google Shape;528;p25"/>
          <p:cNvPicPr preferRelativeResize="0"/>
          <p:nvPr/>
        </p:nvPicPr>
        <p:blipFill>
          <a:blip r:embed="rId9">
            <a:alphaModFix/>
          </a:blip>
          <a:stretch>
            <a:fillRect/>
          </a:stretch>
        </p:blipFill>
        <p:spPr>
          <a:xfrm>
            <a:off x="357750" y="4376975"/>
            <a:ext cx="536242" cy="476650"/>
          </a:xfrm>
          <a:prstGeom prst="rect">
            <a:avLst/>
          </a:prstGeom>
          <a:noFill/>
          <a:ln>
            <a:noFill/>
          </a:ln>
        </p:spPr>
      </p:pic>
      <p:sp>
        <p:nvSpPr>
          <p:cNvPr id="529" name="Google Shape;529;p25"/>
          <p:cNvSpPr txBox="1"/>
          <p:nvPr/>
        </p:nvSpPr>
        <p:spPr>
          <a:xfrm>
            <a:off x="945388" y="4190050"/>
            <a:ext cx="2234100" cy="850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id" sz="800">
                <a:solidFill>
                  <a:schemeClr val="dk1"/>
                </a:solidFill>
                <a:latin typeface="Inter"/>
                <a:ea typeface="Inter"/>
                <a:cs typeface="Inter"/>
                <a:sym typeface="Inter"/>
              </a:rPr>
              <a:t>Aktuator Simulasi MCB </a:t>
            </a:r>
            <a:r>
              <a:rPr b="1" i="1" lang="id" sz="800">
                <a:solidFill>
                  <a:schemeClr val="dk1"/>
                </a:solidFill>
                <a:latin typeface="Inter"/>
                <a:ea typeface="Inter"/>
                <a:cs typeface="Inter"/>
                <a:sym typeface="Inter"/>
              </a:rPr>
              <a:t>Trip</a:t>
            </a:r>
            <a:endParaRPr b="1" i="1" sz="800">
              <a:solidFill>
                <a:schemeClr val="dk1"/>
              </a:solidFill>
              <a:latin typeface="Inter"/>
              <a:ea typeface="Inter"/>
              <a:cs typeface="Inter"/>
              <a:sym typeface="Inter"/>
            </a:endParaRPr>
          </a:p>
          <a:p>
            <a:pPr indent="0" lvl="0" marL="0" rtl="0" algn="just">
              <a:spcBef>
                <a:spcPts val="0"/>
              </a:spcBef>
              <a:spcAft>
                <a:spcPts val="0"/>
              </a:spcAft>
              <a:buNone/>
            </a:pPr>
            <a:r>
              <a:rPr lang="id" sz="700">
                <a:solidFill>
                  <a:schemeClr val="dk1"/>
                </a:solidFill>
                <a:latin typeface="Inter"/>
                <a:ea typeface="Inter"/>
                <a:cs typeface="Inter"/>
                <a:sym typeface="Inter"/>
              </a:rPr>
              <a:t>Modul relay otomatis memutus listrik saat bahaya terdeteksi, sementara sistem evakuasi tetap menyala.</a:t>
            </a:r>
            <a:endParaRPr sz="700">
              <a:solidFill>
                <a:schemeClr val="dk1"/>
              </a:solidFill>
              <a:latin typeface="Inter"/>
              <a:ea typeface="Inter"/>
              <a:cs typeface="Inter"/>
              <a:sym typeface="Inter"/>
            </a:endParaRPr>
          </a:p>
        </p:txBody>
      </p:sp>
      <p:sp>
        <p:nvSpPr>
          <p:cNvPr id="530" name="Google Shape;530;p25"/>
          <p:cNvSpPr txBox="1"/>
          <p:nvPr/>
        </p:nvSpPr>
        <p:spPr>
          <a:xfrm>
            <a:off x="945400" y="1276485"/>
            <a:ext cx="2234100" cy="8505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id" sz="800">
                <a:solidFill>
                  <a:schemeClr val="dk1"/>
                </a:solidFill>
                <a:latin typeface="Inter"/>
                <a:ea typeface="Inter"/>
                <a:cs typeface="Inter"/>
                <a:sym typeface="Inter"/>
              </a:rPr>
              <a:t>Sistem Catu Daya dan Proteksi</a:t>
            </a:r>
            <a:endParaRPr b="1" sz="800">
              <a:solidFill>
                <a:schemeClr val="dk1"/>
              </a:solidFill>
              <a:latin typeface="Inter"/>
              <a:ea typeface="Inter"/>
              <a:cs typeface="Inter"/>
              <a:sym typeface="Inter"/>
            </a:endParaRPr>
          </a:p>
          <a:p>
            <a:pPr indent="0" lvl="0" marL="0" rtl="0" algn="just">
              <a:spcBef>
                <a:spcPts val="0"/>
              </a:spcBef>
              <a:spcAft>
                <a:spcPts val="0"/>
              </a:spcAft>
              <a:buNone/>
            </a:pPr>
            <a:r>
              <a:rPr lang="id" sz="700">
                <a:solidFill>
                  <a:schemeClr val="dk1"/>
                </a:solidFill>
                <a:latin typeface="Inter"/>
                <a:ea typeface="Inter"/>
                <a:cs typeface="Inter"/>
                <a:sym typeface="Inter"/>
              </a:rPr>
              <a:t>Menggunakan adaptor 5V 30A sebagai sumber daya utama, dilengkapi dioda Zener dan resistor untuk menjaga stabilitas tegangan dan keamanan rangkaian.</a:t>
            </a:r>
            <a:endParaRPr sz="700">
              <a:solidFill>
                <a:schemeClr val="dk1"/>
              </a:solidFill>
              <a:latin typeface="Inter"/>
              <a:ea typeface="Inter"/>
              <a:cs typeface="Inter"/>
              <a:sym typeface="Inter"/>
            </a:endParaRPr>
          </a:p>
        </p:txBody>
      </p:sp>
      <p:pic>
        <p:nvPicPr>
          <p:cNvPr id="531" name="Google Shape;531;p25"/>
          <p:cNvPicPr preferRelativeResize="0"/>
          <p:nvPr/>
        </p:nvPicPr>
        <p:blipFill>
          <a:blip r:embed="rId10">
            <a:alphaModFix/>
          </a:blip>
          <a:stretch>
            <a:fillRect/>
          </a:stretch>
        </p:blipFill>
        <p:spPr>
          <a:xfrm>
            <a:off x="332298" y="1472695"/>
            <a:ext cx="673949" cy="505875"/>
          </a:xfrm>
          <a:prstGeom prst="rect">
            <a:avLst/>
          </a:prstGeom>
          <a:noFill/>
          <a:ln>
            <a:noFill/>
          </a:ln>
        </p:spPr>
      </p:pic>
      <p:sp>
        <p:nvSpPr>
          <p:cNvPr id="532" name="Google Shape;532;p25"/>
          <p:cNvSpPr/>
          <p:nvPr/>
        </p:nvSpPr>
        <p:spPr>
          <a:xfrm>
            <a:off x="3848925" y="913567"/>
            <a:ext cx="51708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Perangkat Lunak</a:t>
            </a:r>
            <a:endParaRPr sz="1300">
              <a:solidFill>
                <a:schemeClr val="lt1"/>
              </a:solidFill>
              <a:latin typeface="Inter"/>
              <a:ea typeface="Inter"/>
              <a:cs typeface="Inter"/>
              <a:sym typeface="Inter"/>
            </a:endParaRPr>
          </a:p>
        </p:txBody>
      </p:sp>
      <p:sp>
        <p:nvSpPr>
          <p:cNvPr id="533" name="Google Shape;533;p25"/>
          <p:cNvSpPr/>
          <p:nvPr/>
        </p:nvSpPr>
        <p:spPr>
          <a:xfrm>
            <a:off x="3848925" y="1680028"/>
            <a:ext cx="1656000" cy="1230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000">
                <a:latin typeface="Inter"/>
                <a:ea typeface="Inter"/>
                <a:cs typeface="Inter"/>
                <a:sym typeface="Inter"/>
              </a:rPr>
              <a:t>Sistem memproses data sensor dan algoritma setiap 1 detik untuk menghasilkan respons real-time.</a:t>
            </a:r>
            <a:endParaRPr sz="1000">
              <a:latin typeface="Inter"/>
              <a:ea typeface="Inter"/>
              <a:cs typeface="Inter"/>
              <a:sym typeface="Inter"/>
            </a:endParaRPr>
          </a:p>
        </p:txBody>
      </p:sp>
      <p:sp>
        <p:nvSpPr>
          <p:cNvPr id="534" name="Google Shape;534;p25"/>
          <p:cNvSpPr/>
          <p:nvPr/>
        </p:nvSpPr>
        <p:spPr>
          <a:xfrm>
            <a:off x="3848925" y="1279087"/>
            <a:ext cx="16560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chemeClr val="dk1"/>
                </a:solidFill>
                <a:latin typeface="Inter"/>
                <a:ea typeface="Inter"/>
                <a:cs typeface="Inter"/>
                <a:sym typeface="Inter"/>
              </a:rPr>
              <a:t>Siklus Pemrosesan</a:t>
            </a:r>
            <a:endParaRPr sz="1000">
              <a:solidFill>
                <a:schemeClr val="dk1"/>
              </a:solidFill>
              <a:latin typeface="Inter"/>
              <a:ea typeface="Inter"/>
              <a:cs typeface="Inter"/>
              <a:sym typeface="Inter"/>
            </a:endParaRPr>
          </a:p>
        </p:txBody>
      </p:sp>
      <p:sp>
        <p:nvSpPr>
          <p:cNvPr id="535" name="Google Shape;535;p25"/>
          <p:cNvSpPr/>
          <p:nvPr/>
        </p:nvSpPr>
        <p:spPr>
          <a:xfrm>
            <a:off x="5606313" y="1282660"/>
            <a:ext cx="16560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chemeClr val="dk1"/>
                </a:solidFill>
                <a:latin typeface="Inter"/>
                <a:ea typeface="Inter"/>
                <a:cs typeface="Inter"/>
                <a:sym typeface="Inter"/>
              </a:rPr>
              <a:t>Pemetaan Bahaya</a:t>
            </a:r>
            <a:endParaRPr sz="1100">
              <a:solidFill>
                <a:schemeClr val="dk1"/>
              </a:solidFill>
              <a:latin typeface="Inter"/>
              <a:ea typeface="Inter"/>
              <a:cs typeface="Inter"/>
              <a:sym typeface="Inter"/>
            </a:endParaRPr>
          </a:p>
        </p:txBody>
      </p:sp>
      <p:sp>
        <p:nvSpPr>
          <p:cNvPr id="536" name="Google Shape;536;p25"/>
          <p:cNvSpPr/>
          <p:nvPr/>
        </p:nvSpPr>
        <p:spPr>
          <a:xfrm>
            <a:off x="7363725" y="1273274"/>
            <a:ext cx="16560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chemeClr val="dk1"/>
                </a:solidFill>
                <a:latin typeface="Inter"/>
                <a:ea typeface="Inter"/>
                <a:cs typeface="Inter"/>
                <a:sym typeface="Inter"/>
              </a:rPr>
              <a:t>Sinkronisasi Output</a:t>
            </a:r>
            <a:endParaRPr sz="1100">
              <a:solidFill>
                <a:schemeClr val="dk1"/>
              </a:solidFill>
              <a:latin typeface="Inter"/>
              <a:ea typeface="Inter"/>
              <a:cs typeface="Inter"/>
              <a:sym typeface="Inter"/>
            </a:endParaRPr>
          </a:p>
        </p:txBody>
      </p:sp>
      <p:sp>
        <p:nvSpPr>
          <p:cNvPr id="537" name="Google Shape;537;p25"/>
          <p:cNvSpPr/>
          <p:nvPr/>
        </p:nvSpPr>
        <p:spPr>
          <a:xfrm>
            <a:off x="5606325" y="1681540"/>
            <a:ext cx="1656000" cy="1230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000">
                <a:latin typeface="Inter"/>
                <a:ea typeface="Inter"/>
                <a:cs typeface="Inter"/>
                <a:sym typeface="Inter"/>
              </a:rPr>
              <a:t>Data dari sensor diubah menjadi nilai yang dipetakan ke dalam peta denah bangunan.</a:t>
            </a:r>
            <a:endParaRPr sz="1000">
              <a:latin typeface="Inter"/>
              <a:ea typeface="Inter"/>
              <a:cs typeface="Inter"/>
              <a:sym typeface="Inter"/>
            </a:endParaRPr>
          </a:p>
          <a:p>
            <a:pPr indent="0" lvl="0" marL="0" rtl="0" algn="l">
              <a:spcBef>
                <a:spcPts val="0"/>
              </a:spcBef>
              <a:spcAft>
                <a:spcPts val="0"/>
              </a:spcAft>
              <a:buNone/>
            </a:pPr>
            <a:r>
              <a:t/>
            </a:r>
            <a:endParaRPr sz="800">
              <a:latin typeface="Inter"/>
              <a:ea typeface="Inter"/>
              <a:cs typeface="Inter"/>
              <a:sym typeface="Inter"/>
            </a:endParaRPr>
          </a:p>
        </p:txBody>
      </p:sp>
      <p:sp>
        <p:nvSpPr>
          <p:cNvPr id="538" name="Google Shape;538;p25"/>
          <p:cNvSpPr/>
          <p:nvPr/>
        </p:nvSpPr>
        <p:spPr>
          <a:xfrm>
            <a:off x="3848925" y="3127194"/>
            <a:ext cx="51708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Komunikasi Data</a:t>
            </a:r>
            <a:endParaRPr sz="1300">
              <a:solidFill>
                <a:schemeClr val="lt1"/>
              </a:solidFill>
              <a:latin typeface="Inter"/>
              <a:ea typeface="Inter"/>
              <a:cs typeface="Inter"/>
              <a:sym typeface="Inter"/>
            </a:endParaRPr>
          </a:p>
        </p:txBody>
      </p:sp>
      <p:sp>
        <p:nvSpPr>
          <p:cNvPr id="539" name="Google Shape;539;p25"/>
          <p:cNvSpPr/>
          <p:nvPr/>
        </p:nvSpPr>
        <p:spPr>
          <a:xfrm>
            <a:off x="7363725" y="1671378"/>
            <a:ext cx="1656000" cy="1230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000">
                <a:latin typeface="Inter"/>
                <a:ea typeface="Inter"/>
                <a:cs typeface="Inter"/>
                <a:sym typeface="Inter"/>
              </a:rPr>
              <a:t>Program menyinkronkan perubahan LED strip dan pesan suara untuk mencegah disinformasi saat evakuasi.</a:t>
            </a:r>
            <a:endParaRPr sz="1000">
              <a:latin typeface="Inter"/>
              <a:ea typeface="Inter"/>
              <a:cs typeface="Inter"/>
              <a:sym typeface="Inter"/>
            </a:endParaRPr>
          </a:p>
        </p:txBody>
      </p:sp>
      <p:sp>
        <p:nvSpPr>
          <p:cNvPr id="540" name="Google Shape;540;p25"/>
          <p:cNvSpPr/>
          <p:nvPr/>
        </p:nvSpPr>
        <p:spPr>
          <a:xfrm>
            <a:off x="3848925" y="3839925"/>
            <a:ext cx="2513700" cy="1230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000">
                <a:latin typeface="Inter"/>
                <a:ea typeface="Inter"/>
                <a:cs typeface="Inter"/>
                <a:sym typeface="Inter"/>
              </a:rPr>
              <a:t>Pertukaran data antar modul sepenuhnya dilakukan melalui jalur GPIO mikrokontroler.</a:t>
            </a:r>
            <a:endParaRPr sz="1000">
              <a:latin typeface="Inter"/>
              <a:ea typeface="Inter"/>
              <a:cs typeface="Inter"/>
              <a:sym typeface="Inter"/>
            </a:endParaRPr>
          </a:p>
        </p:txBody>
      </p:sp>
      <p:sp>
        <p:nvSpPr>
          <p:cNvPr id="541" name="Google Shape;541;p25"/>
          <p:cNvSpPr/>
          <p:nvPr/>
        </p:nvSpPr>
        <p:spPr>
          <a:xfrm>
            <a:off x="3848925" y="3457104"/>
            <a:ext cx="25560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chemeClr val="dk1"/>
                </a:solidFill>
                <a:latin typeface="Inter"/>
                <a:ea typeface="Inter"/>
                <a:cs typeface="Inter"/>
                <a:sym typeface="Inter"/>
              </a:rPr>
              <a:t>Komunikasi</a:t>
            </a:r>
            <a:endParaRPr sz="1000">
              <a:solidFill>
                <a:schemeClr val="dk1"/>
              </a:solidFill>
              <a:latin typeface="Inter"/>
              <a:ea typeface="Inter"/>
              <a:cs typeface="Inter"/>
              <a:sym typeface="Inter"/>
            </a:endParaRPr>
          </a:p>
        </p:txBody>
      </p:sp>
      <p:sp>
        <p:nvSpPr>
          <p:cNvPr id="542" name="Google Shape;542;p25"/>
          <p:cNvSpPr/>
          <p:nvPr/>
        </p:nvSpPr>
        <p:spPr>
          <a:xfrm>
            <a:off x="6463725" y="3447815"/>
            <a:ext cx="2556000" cy="2379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chemeClr val="dk1"/>
                </a:solidFill>
                <a:latin typeface="Inter"/>
                <a:ea typeface="Inter"/>
                <a:cs typeface="Inter"/>
                <a:sym typeface="Inter"/>
              </a:rPr>
              <a:t>Desentralisasi Sistem</a:t>
            </a:r>
            <a:endParaRPr sz="1100">
              <a:solidFill>
                <a:schemeClr val="dk1"/>
              </a:solidFill>
              <a:latin typeface="Inter"/>
              <a:ea typeface="Inter"/>
              <a:cs typeface="Inter"/>
              <a:sym typeface="Inter"/>
            </a:endParaRPr>
          </a:p>
        </p:txBody>
      </p:sp>
      <p:sp>
        <p:nvSpPr>
          <p:cNvPr id="543" name="Google Shape;543;p25"/>
          <p:cNvSpPr/>
          <p:nvPr/>
        </p:nvSpPr>
        <p:spPr>
          <a:xfrm>
            <a:off x="6463725" y="3831275"/>
            <a:ext cx="2556000" cy="12300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000">
                <a:latin typeface="Inter"/>
                <a:ea typeface="Inter"/>
                <a:cs typeface="Inter"/>
                <a:sym typeface="Inter"/>
              </a:rPr>
              <a:t>Sirkuit dirancang mandiri tanpa jaringan eksternal agar navigasi tetap berfungsi meskipun infrastruktur utama gedung terputus.</a:t>
            </a:r>
            <a:endParaRPr sz="1000">
              <a:latin typeface="Inter"/>
              <a:ea typeface="Inter"/>
              <a:cs typeface="Inter"/>
              <a:sym typeface="Inter"/>
            </a:endParaRPr>
          </a:p>
        </p:txBody>
      </p:sp>
      <p:sp>
        <p:nvSpPr>
          <p:cNvPr id="544" name="Google Shape;544;p25"/>
          <p:cNvSpPr/>
          <p:nvPr/>
        </p:nvSpPr>
        <p:spPr>
          <a:xfrm>
            <a:off x="285850" y="919150"/>
            <a:ext cx="2973900" cy="2379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Perangkat Keras</a:t>
            </a:r>
            <a:endParaRPr sz="1300">
              <a:solidFill>
                <a:schemeClr val="lt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26"/>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550" name="Google Shape;550;p26"/>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1" name="Google Shape;551;p26"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552" name="Google Shape;552;p26"/>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553" name="Google Shape;553;p26"/>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Rancangan Teknis</a:t>
            </a:r>
            <a:endParaRPr sz="1200">
              <a:solidFill>
                <a:srgbClr val="3A6D8C"/>
              </a:solidFill>
              <a:latin typeface="Inter"/>
              <a:ea typeface="Inter"/>
              <a:cs typeface="Inter"/>
              <a:sym typeface="Inter"/>
            </a:endParaRPr>
          </a:p>
        </p:txBody>
      </p:sp>
      <p:pic>
        <p:nvPicPr>
          <p:cNvPr id="554" name="Google Shape;554;p26"/>
          <p:cNvPicPr preferRelativeResize="0"/>
          <p:nvPr/>
        </p:nvPicPr>
        <p:blipFill>
          <a:blip r:embed="rId4">
            <a:alphaModFix/>
          </a:blip>
          <a:stretch>
            <a:fillRect/>
          </a:stretch>
        </p:blipFill>
        <p:spPr>
          <a:xfrm>
            <a:off x="-1396350" y="2289475"/>
            <a:ext cx="1317900" cy="2854025"/>
          </a:xfrm>
          <a:prstGeom prst="rect">
            <a:avLst/>
          </a:prstGeom>
          <a:noFill/>
          <a:ln>
            <a:noFill/>
          </a:ln>
        </p:spPr>
      </p:pic>
      <p:sp>
        <p:nvSpPr>
          <p:cNvPr id="555" name="Google Shape;555;p26"/>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26"/>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26"/>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26"/>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26"/>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26"/>
          <p:cNvSpPr/>
          <p:nvPr/>
        </p:nvSpPr>
        <p:spPr>
          <a:xfrm>
            <a:off x="189425" y="913575"/>
            <a:ext cx="8830200" cy="354000"/>
          </a:xfrm>
          <a:prstGeom prst="roundRect">
            <a:avLst>
              <a:gd fmla="val 41291"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Kontrol dan Algoritma</a:t>
            </a:r>
            <a:endParaRPr sz="1200">
              <a:solidFill>
                <a:schemeClr val="lt1"/>
              </a:solidFill>
              <a:latin typeface="Inter"/>
              <a:ea typeface="Inter"/>
              <a:cs typeface="Inter"/>
              <a:sym typeface="Inter"/>
            </a:endParaRPr>
          </a:p>
        </p:txBody>
      </p:sp>
      <p:sp>
        <p:nvSpPr>
          <p:cNvPr id="561" name="Google Shape;561;p26"/>
          <p:cNvSpPr/>
          <p:nvPr/>
        </p:nvSpPr>
        <p:spPr>
          <a:xfrm>
            <a:off x="189425" y="1371493"/>
            <a:ext cx="8830200" cy="369300"/>
          </a:xfrm>
          <a:prstGeom prst="roundRect">
            <a:avLst>
              <a:gd fmla="val 41291" name="adj"/>
            </a:avLst>
          </a:prstGeom>
          <a:solidFill>
            <a:srgbClr val="AAC3F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dk1"/>
                </a:solidFill>
                <a:latin typeface="Inter"/>
                <a:ea typeface="Inter"/>
                <a:cs typeface="Inter"/>
                <a:sym typeface="Inter"/>
              </a:rPr>
              <a:t>Menggunakan Algoritma Djikstra</a:t>
            </a:r>
            <a:endParaRPr sz="1200">
              <a:solidFill>
                <a:schemeClr val="dk1"/>
              </a:solidFill>
              <a:latin typeface="Inter"/>
              <a:ea typeface="Inter"/>
              <a:cs typeface="Inter"/>
              <a:sym typeface="Inter"/>
            </a:endParaRPr>
          </a:p>
        </p:txBody>
      </p:sp>
      <p:pic>
        <p:nvPicPr>
          <p:cNvPr id="562" name="Google Shape;562;p26"/>
          <p:cNvPicPr preferRelativeResize="0"/>
          <p:nvPr/>
        </p:nvPicPr>
        <p:blipFill>
          <a:blip r:embed="rId5">
            <a:alphaModFix/>
          </a:blip>
          <a:stretch>
            <a:fillRect/>
          </a:stretch>
        </p:blipFill>
        <p:spPr>
          <a:xfrm>
            <a:off x="70811" y="2561659"/>
            <a:ext cx="2183575" cy="2135183"/>
          </a:xfrm>
          <a:prstGeom prst="rect">
            <a:avLst/>
          </a:prstGeom>
          <a:noFill/>
          <a:ln>
            <a:noFill/>
          </a:ln>
        </p:spPr>
      </p:pic>
      <p:pic>
        <p:nvPicPr>
          <p:cNvPr id="563" name="Google Shape;563;p26"/>
          <p:cNvPicPr preferRelativeResize="0"/>
          <p:nvPr/>
        </p:nvPicPr>
        <p:blipFill rotWithShape="1">
          <a:blip r:embed="rId6">
            <a:alphaModFix/>
          </a:blip>
          <a:srcRect b="10619" l="0" r="0" t="0"/>
          <a:stretch/>
        </p:blipFill>
        <p:spPr>
          <a:xfrm>
            <a:off x="2297126" y="2561666"/>
            <a:ext cx="2183575" cy="2055876"/>
          </a:xfrm>
          <a:prstGeom prst="rect">
            <a:avLst/>
          </a:prstGeom>
          <a:noFill/>
          <a:ln>
            <a:noFill/>
          </a:ln>
        </p:spPr>
      </p:pic>
      <p:sp>
        <p:nvSpPr>
          <p:cNvPr id="564" name="Google Shape;564;p26"/>
          <p:cNvSpPr/>
          <p:nvPr/>
        </p:nvSpPr>
        <p:spPr>
          <a:xfrm>
            <a:off x="4831750" y="1986605"/>
            <a:ext cx="4188000" cy="60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800">
                <a:latin typeface="Inter"/>
                <a:ea typeface="Inter"/>
                <a:cs typeface="Inter"/>
                <a:sym typeface="Inter"/>
              </a:rPr>
              <a:t>Ruangan dipetakan sebagai titik awal, dengan 4 rute evakuasi di Lantai 1 menuju pintu keluar dan 3 rute di Lantai 2 menuju tangga darurat.</a:t>
            </a:r>
            <a:endParaRPr sz="800">
              <a:latin typeface="Inter"/>
              <a:ea typeface="Inter"/>
              <a:cs typeface="Inter"/>
              <a:sym typeface="Inter"/>
            </a:endParaRPr>
          </a:p>
        </p:txBody>
      </p:sp>
      <p:sp>
        <p:nvSpPr>
          <p:cNvPr id="565" name="Google Shape;565;p26"/>
          <p:cNvSpPr/>
          <p:nvPr/>
        </p:nvSpPr>
        <p:spPr>
          <a:xfrm>
            <a:off x="4831750" y="1870409"/>
            <a:ext cx="4188000" cy="1629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rgbClr val="AAC3FB"/>
                </a:solidFill>
                <a:latin typeface="Inter"/>
                <a:ea typeface="Inter"/>
                <a:cs typeface="Inter"/>
                <a:sym typeface="Inter"/>
              </a:rPr>
              <a:t>Pemodelan Teori Graf Berdasarkan Denah</a:t>
            </a:r>
            <a:endParaRPr sz="1000">
              <a:solidFill>
                <a:srgbClr val="AAC3FB"/>
              </a:solidFill>
              <a:latin typeface="Inter"/>
              <a:ea typeface="Inter"/>
              <a:cs typeface="Inter"/>
              <a:sym typeface="Inter"/>
            </a:endParaRPr>
          </a:p>
        </p:txBody>
      </p:sp>
      <p:sp>
        <p:nvSpPr>
          <p:cNvPr id="566" name="Google Shape;566;p26"/>
          <p:cNvSpPr/>
          <p:nvPr/>
        </p:nvSpPr>
        <p:spPr>
          <a:xfrm>
            <a:off x="4831750" y="2826003"/>
            <a:ext cx="4188000" cy="60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800">
                <a:latin typeface="Inter"/>
                <a:ea typeface="Inter"/>
                <a:cs typeface="Inter"/>
                <a:sym typeface="Inter"/>
              </a:rPr>
              <a:t>ESP32 memindai sensor secara terus-menerus menggunakan IC Multiplexer CD74HC4067 untuk mengatasi keterbatasan pin.</a:t>
            </a:r>
            <a:endParaRPr sz="800">
              <a:latin typeface="Inter"/>
              <a:ea typeface="Inter"/>
              <a:cs typeface="Inter"/>
              <a:sym typeface="Inter"/>
            </a:endParaRPr>
          </a:p>
        </p:txBody>
      </p:sp>
      <p:sp>
        <p:nvSpPr>
          <p:cNvPr id="567" name="Google Shape;567;p26"/>
          <p:cNvSpPr/>
          <p:nvPr/>
        </p:nvSpPr>
        <p:spPr>
          <a:xfrm>
            <a:off x="4831750" y="2709807"/>
            <a:ext cx="4188000" cy="1629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i="1" lang="id" sz="1000">
                <a:solidFill>
                  <a:srgbClr val="AAC3FB"/>
                </a:solidFill>
                <a:latin typeface="Inter"/>
                <a:ea typeface="Inter"/>
                <a:cs typeface="Inter"/>
                <a:sym typeface="Inter"/>
              </a:rPr>
              <a:t>Multiplexer Scanning</a:t>
            </a:r>
            <a:endParaRPr i="1" sz="1000">
              <a:solidFill>
                <a:srgbClr val="AAC3FB"/>
              </a:solidFill>
              <a:latin typeface="Inter"/>
              <a:ea typeface="Inter"/>
              <a:cs typeface="Inter"/>
              <a:sym typeface="Inter"/>
            </a:endParaRPr>
          </a:p>
        </p:txBody>
      </p:sp>
      <p:sp>
        <p:nvSpPr>
          <p:cNvPr id="568" name="Google Shape;568;p26"/>
          <p:cNvSpPr/>
          <p:nvPr/>
        </p:nvSpPr>
        <p:spPr>
          <a:xfrm>
            <a:off x="4831750" y="3653785"/>
            <a:ext cx="4188000" cy="60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800">
                <a:latin typeface="Inter"/>
                <a:ea typeface="Inter"/>
                <a:cs typeface="Inter"/>
                <a:sym typeface="Inter"/>
              </a:rPr>
              <a:t>Saat mendeteksi bahaya, ESP32 memberikan bobot tak terhingga sehingga rute tersebut otomatis terblokir dari pilihan jalur aman.</a:t>
            </a:r>
            <a:endParaRPr sz="800">
              <a:latin typeface="Inter"/>
              <a:ea typeface="Inter"/>
              <a:cs typeface="Inter"/>
              <a:sym typeface="Inter"/>
            </a:endParaRPr>
          </a:p>
        </p:txBody>
      </p:sp>
      <p:sp>
        <p:nvSpPr>
          <p:cNvPr id="569" name="Google Shape;569;p26"/>
          <p:cNvSpPr/>
          <p:nvPr/>
        </p:nvSpPr>
        <p:spPr>
          <a:xfrm>
            <a:off x="4831750" y="3537589"/>
            <a:ext cx="4188000" cy="1629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i="1" lang="id" sz="1000">
                <a:solidFill>
                  <a:srgbClr val="AAC3FB"/>
                </a:solidFill>
                <a:latin typeface="Inter"/>
                <a:ea typeface="Inter"/>
                <a:cs typeface="Inter"/>
                <a:sym typeface="Inter"/>
              </a:rPr>
              <a:t>Dynamic Penalty Weighting</a:t>
            </a:r>
            <a:endParaRPr i="1" sz="1000">
              <a:solidFill>
                <a:srgbClr val="AAC3FB"/>
              </a:solidFill>
              <a:latin typeface="Inter"/>
              <a:ea typeface="Inter"/>
              <a:cs typeface="Inter"/>
              <a:sym typeface="Inter"/>
            </a:endParaRPr>
          </a:p>
        </p:txBody>
      </p:sp>
      <p:sp>
        <p:nvSpPr>
          <p:cNvPr id="570" name="Google Shape;570;p26"/>
          <p:cNvSpPr/>
          <p:nvPr/>
        </p:nvSpPr>
        <p:spPr>
          <a:xfrm>
            <a:off x="4831750" y="4477696"/>
            <a:ext cx="4188000" cy="6084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800">
                <a:latin typeface="Inter"/>
                <a:ea typeface="Inter"/>
                <a:cs typeface="Inter"/>
                <a:sym typeface="Inter"/>
              </a:rPr>
              <a:t>Algoritma Dijkstra langsung menghitung ulang rute aman dan seketika menyinkronkan arah LED </a:t>
            </a:r>
            <a:r>
              <a:rPr i="1" lang="id" sz="800">
                <a:latin typeface="Inter"/>
                <a:ea typeface="Inter"/>
                <a:cs typeface="Inter"/>
                <a:sym typeface="Inter"/>
              </a:rPr>
              <a:t>strip </a:t>
            </a:r>
            <a:r>
              <a:rPr lang="id" sz="800">
                <a:latin typeface="Inter"/>
                <a:ea typeface="Inter"/>
                <a:cs typeface="Inter"/>
                <a:sym typeface="Inter"/>
              </a:rPr>
              <a:t>dengan instruksi suara.</a:t>
            </a:r>
            <a:endParaRPr sz="800">
              <a:latin typeface="Inter"/>
              <a:ea typeface="Inter"/>
              <a:cs typeface="Inter"/>
              <a:sym typeface="Inter"/>
            </a:endParaRPr>
          </a:p>
        </p:txBody>
      </p:sp>
      <p:sp>
        <p:nvSpPr>
          <p:cNvPr id="571" name="Google Shape;571;p26"/>
          <p:cNvSpPr/>
          <p:nvPr/>
        </p:nvSpPr>
        <p:spPr>
          <a:xfrm>
            <a:off x="4831750" y="4361499"/>
            <a:ext cx="4188000" cy="1629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000">
                <a:solidFill>
                  <a:srgbClr val="AAC3FB"/>
                </a:solidFill>
                <a:latin typeface="Inter"/>
                <a:ea typeface="Inter"/>
                <a:cs typeface="Inter"/>
                <a:sym typeface="Inter"/>
              </a:rPr>
              <a:t>Kalkulasi Ulang Dijkstra dan Sinkronisasi Output</a:t>
            </a:r>
            <a:endParaRPr sz="1000">
              <a:solidFill>
                <a:srgbClr val="AAC3FB"/>
              </a:solidFill>
              <a:latin typeface="Inter"/>
              <a:ea typeface="Inter"/>
              <a:cs typeface="Inter"/>
              <a:sym typeface="Inter"/>
            </a:endParaRPr>
          </a:p>
        </p:txBody>
      </p:sp>
      <p:cxnSp>
        <p:nvCxnSpPr>
          <p:cNvPr id="572" name="Google Shape;572;p26"/>
          <p:cNvCxnSpPr/>
          <p:nvPr/>
        </p:nvCxnSpPr>
        <p:spPr>
          <a:xfrm>
            <a:off x="4644091" y="1869525"/>
            <a:ext cx="4800" cy="3216600"/>
          </a:xfrm>
          <a:prstGeom prst="straightConnector1">
            <a:avLst/>
          </a:prstGeom>
          <a:noFill/>
          <a:ln cap="flat" cmpd="sng" w="19050">
            <a:solidFill>
              <a:schemeClr val="dk1"/>
            </a:solidFill>
            <a:prstDash val="lgDash"/>
            <a:round/>
            <a:headEnd len="med" w="med" type="none"/>
            <a:tailEnd len="med" w="med" type="none"/>
          </a:ln>
        </p:spPr>
      </p:cxnSp>
      <p:sp>
        <p:nvSpPr>
          <p:cNvPr id="573" name="Google Shape;573;p26"/>
          <p:cNvSpPr/>
          <p:nvPr/>
        </p:nvSpPr>
        <p:spPr>
          <a:xfrm rot="5400000">
            <a:off x="4513729" y="3229714"/>
            <a:ext cx="265500" cy="295500"/>
          </a:xfrm>
          <a:prstGeom prst="ellipse">
            <a:avLst/>
          </a:prstGeom>
          <a:solidFill>
            <a:srgbClr val="04153C"/>
          </a:solidFill>
          <a:ln>
            <a:noFill/>
          </a:ln>
          <a:effectLst>
            <a:outerShdw blurRad="40645" rotWithShape="0" algn="bl" dir="5400000" dist="13548">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p>
        </p:txBody>
      </p:sp>
      <p:sp>
        <p:nvSpPr>
          <p:cNvPr id="574" name="Google Shape;574;p26"/>
          <p:cNvSpPr/>
          <p:nvPr/>
        </p:nvSpPr>
        <p:spPr>
          <a:xfrm rot="5400000">
            <a:off x="4577491" y="3300970"/>
            <a:ext cx="163200" cy="160200"/>
          </a:xfrm>
          <a:prstGeom prst="triangle">
            <a:avLst>
              <a:gd fmla="val 50000" name="adj"/>
            </a:avLst>
          </a:prstGeom>
          <a:solidFill>
            <a:schemeClr val="lt1"/>
          </a:solidFill>
          <a:ln>
            <a:noFill/>
          </a:ln>
          <a:effectLst>
            <a:outerShdw blurRad="13295" rotWithShape="0" algn="bl" dir="5400000" dist="6774">
              <a:srgbClr val="000000">
                <a:alpha val="50000"/>
              </a:srgbClr>
            </a:outerShdw>
          </a:effectLst>
        </p:spPr>
        <p:txBody>
          <a:bodyPr anchorCtr="0" anchor="ctr" bIns="21275" lIns="21275" spcFirstLastPara="1" rIns="21275" wrap="square" tIns="21275">
            <a:noAutofit/>
          </a:bodyPr>
          <a:lstStyle/>
          <a:p>
            <a:pPr indent="0" lvl="0" marL="0" rtl="0" algn="ctr">
              <a:spcBef>
                <a:spcPts val="0"/>
              </a:spcBef>
              <a:spcAft>
                <a:spcPts val="0"/>
              </a:spcAft>
              <a:buNone/>
            </a:pPr>
            <a:r>
              <a:t/>
            </a:r>
            <a:endParaRPr sz="326">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27"/>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580" name="Google Shape;580;p27"/>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1" name="Google Shape;581;p27"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582" name="Google Shape;582;p27"/>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583" name="Google Shape;583;p27"/>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Kompleksitas Masalah</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sp>
        <p:nvSpPr>
          <p:cNvPr id="584" name="Google Shape;584;p27"/>
          <p:cNvSpPr/>
          <p:nvPr/>
        </p:nvSpPr>
        <p:spPr>
          <a:xfrm>
            <a:off x="235275" y="1414715"/>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200">
                <a:latin typeface="Inter"/>
                <a:ea typeface="Inter"/>
                <a:cs typeface="Inter"/>
                <a:sym typeface="Inter"/>
              </a:rPr>
              <a:t>Sistem ini mengimplementasikan konsep Matematika Diskrit (Dijkstra), Sistem Embedded (sinkronisasi komponen), dan Elektronika Dasar (perancangan sirkuit).</a:t>
            </a:r>
            <a:endParaRPr sz="1200">
              <a:latin typeface="Inter"/>
              <a:ea typeface="Inter"/>
              <a:cs typeface="Inter"/>
              <a:sym typeface="Inter"/>
            </a:endParaRPr>
          </a:p>
        </p:txBody>
      </p:sp>
      <p:cxnSp>
        <p:nvCxnSpPr>
          <p:cNvPr id="585" name="Google Shape;585;p27"/>
          <p:cNvCxnSpPr/>
          <p:nvPr/>
        </p:nvCxnSpPr>
        <p:spPr>
          <a:xfrm>
            <a:off x="235286" y="2941500"/>
            <a:ext cx="8615700" cy="0"/>
          </a:xfrm>
          <a:prstGeom prst="straightConnector1">
            <a:avLst/>
          </a:prstGeom>
          <a:noFill/>
          <a:ln cap="flat" cmpd="sng" w="19050">
            <a:solidFill>
              <a:schemeClr val="dk1"/>
            </a:solidFill>
            <a:prstDash val="solid"/>
            <a:round/>
            <a:headEnd len="med" w="med" type="none"/>
            <a:tailEnd len="med" w="med" type="none"/>
          </a:ln>
        </p:spPr>
      </p:cxnSp>
      <p:cxnSp>
        <p:nvCxnSpPr>
          <p:cNvPr id="586" name="Google Shape;586;p27"/>
          <p:cNvCxnSpPr/>
          <p:nvPr/>
        </p:nvCxnSpPr>
        <p:spPr>
          <a:xfrm>
            <a:off x="4569600" y="1150200"/>
            <a:ext cx="4800" cy="3582600"/>
          </a:xfrm>
          <a:prstGeom prst="straightConnector1">
            <a:avLst/>
          </a:prstGeom>
          <a:noFill/>
          <a:ln cap="flat" cmpd="sng" w="19050">
            <a:solidFill>
              <a:schemeClr val="dk1"/>
            </a:solidFill>
            <a:prstDash val="solid"/>
            <a:round/>
            <a:headEnd len="med" w="med" type="none"/>
            <a:tailEnd len="med" w="med" type="none"/>
          </a:ln>
        </p:spPr>
      </p:cxnSp>
      <p:sp>
        <p:nvSpPr>
          <p:cNvPr id="587" name="Google Shape;587;p27"/>
          <p:cNvSpPr/>
          <p:nvPr/>
        </p:nvSpPr>
        <p:spPr>
          <a:xfrm>
            <a:off x="235275" y="1150189"/>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Korelasi dengan Materi Perkuliahan</a:t>
            </a:r>
            <a:endParaRPr sz="1200">
              <a:solidFill>
                <a:srgbClr val="AAC3FB"/>
              </a:solidFill>
              <a:latin typeface="Inter"/>
              <a:ea typeface="Inter"/>
              <a:cs typeface="Inter"/>
              <a:sym typeface="Inter"/>
            </a:endParaRPr>
          </a:p>
        </p:txBody>
      </p:sp>
      <p:sp>
        <p:nvSpPr>
          <p:cNvPr id="588" name="Google Shape;588;p27"/>
          <p:cNvSpPr/>
          <p:nvPr/>
        </p:nvSpPr>
        <p:spPr>
          <a:xfrm>
            <a:off x="235275" y="3329290"/>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304800" lvl="0" marL="457200" rtl="0" algn="just">
              <a:spcBef>
                <a:spcPts val="0"/>
              </a:spcBef>
              <a:spcAft>
                <a:spcPts val="0"/>
              </a:spcAft>
              <a:buSzPts val="1200"/>
              <a:buFont typeface="Inter"/>
              <a:buChar char="●"/>
            </a:pPr>
            <a:r>
              <a:rPr lang="id" sz="1200">
                <a:latin typeface="Inter"/>
                <a:ea typeface="Inter"/>
                <a:cs typeface="Inter"/>
                <a:sym typeface="Inter"/>
              </a:rPr>
              <a:t>Desain 3D (Autodesk Fusion): Kemampuan merancang casing pelindung mikrokontroler yang presisi.</a:t>
            </a:r>
            <a:endParaRPr sz="1200">
              <a:latin typeface="Inter"/>
              <a:ea typeface="Inter"/>
              <a:cs typeface="Inter"/>
              <a:sym typeface="Inter"/>
            </a:endParaRPr>
          </a:p>
          <a:p>
            <a:pPr indent="-304800" lvl="0" marL="457200" rtl="0" algn="just">
              <a:spcBef>
                <a:spcPts val="0"/>
              </a:spcBef>
              <a:spcAft>
                <a:spcPts val="0"/>
              </a:spcAft>
              <a:buSzPts val="1200"/>
              <a:buFont typeface="Inter"/>
              <a:buChar char="●"/>
            </a:pPr>
            <a:r>
              <a:rPr lang="id" sz="1200">
                <a:latin typeface="Inter"/>
                <a:ea typeface="Inter"/>
                <a:cs typeface="Inter"/>
                <a:sym typeface="Inter"/>
              </a:rPr>
              <a:t>Penyolderan PCB Permanen: Keahlian merakit komponen secara kuat dan tahan guncangan (penggunaan protoboard dilarang).</a:t>
            </a:r>
            <a:endParaRPr sz="1200">
              <a:latin typeface="Inter"/>
              <a:ea typeface="Inter"/>
              <a:cs typeface="Inter"/>
              <a:sym typeface="Inter"/>
            </a:endParaRPr>
          </a:p>
        </p:txBody>
      </p:sp>
      <p:sp>
        <p:nvSpPr>
          <p:cNvPr id="589" name="Google Shape;589;p27"/>
          <p:cNvSpPr/>
          <p:nvPr/>
        </p:nvSpPr>
        <p:spPr>
          <a:xfrm>
            <a:off x="235275" y="3064764"/>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Kebutuhan Keterampilan Praktis di Luar Kelas</a:t>
            </a:r>
            <a:endParaRPr sz="1200">
              <a:solidFill>
                <a:srgbClr val="AAC3FB"/>
              </a:solidFill>
              <a:latin typeface="Inter"/>
              <a:ea typeface="Inter"/>
              <a:cs typeface="Inter"/>
              <a:sym typeface="Inter"/>
            </a:endParaRPr>
          </a:p>
        </p:txBody>
      </p:sp>
      <p:sp>
        <p:nvSpPr>
          <p:cNvPr id="590" name="Google Shape;590;p27"/>
          <p:cNvSpPr/>
          <p:nvPr/>
        </p:nvSpPr>
        <p:spPr>
          <a:xfrm>
            <a:off x="4720725" y="1428277"/>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200">
                <a:latin typeface="Inter"/>
                <a:ea typeface="Inter"/>
                <a:cs typeface="Inter"/>
                <a:sym typeface="Inter"/>
              </a:rPr>
              <a:t>Spesifikasi komponen dihitung menggunakan teori graf pada software, serta Hukum Ohm dan perhitungan penurunan tegangan untuk menstabilkan hardware.</a:t>
            </a:r>
            <a:endParaRPr sz="1200">
              <a:latin typeface="Inter"/>
              <a:ea typeface="Inter"/>
              <a:cs typeface="Inter"/>
              <a:sym typeface="Inter"/>
            </a:endParaRPr>
          </a:p>
        </p:txBody>
      </p:sp>
      <p:sp>
        <p:nvSpPr>
          <p:cNvPr id="591" name="Google Shape;591;p27"/>
          <p:cNvSpPr/>
          <p:nvPr/>
        </p:nvSpPr>
        <p:spPr>
          <a:xfrm>
            <a:off x="4720725" y="1163752"/>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Pemodelan Matematis dan Perhitungan Ilmiah</a:t>
            </a:r>
            <a:endParaRPr sz="1200">
              <a:solidFill>
                <a:srgbClr val="AAC3FB"/>
              </a:solidFill>
              <a:latin typeface="Inter"/>
              <a:ea typeface="Inter"/>
              <a:cs typeface="Inter"/>
              <a:sym typeface="Inter"/>
            </a:endParaRPr>
          </a:p>
        </p:txBody>
      </p:sp>
      <p:sp>
        <p:nvSpPr>
          <p:cNvPr id="592" name="Google Shape;592;p27"/>
          <p:cNvSpPr/>
          <p:nvPr/>
        </p:nvSpPr>
        <p:spPr>
          <a:xfrm>
            <a:off x="4720725" y="3329290"/>
            <a:ext cx="4188000" cy="13851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just">
              <a:spcBef>
                <a:spcPts val="0"/>
              </a:spcBef>
              <a:spcAft>
                <a:spcPts val="0"/>
              </a:spcAft>
              <a:buNone/>
            </a:pPr>
            <a:r>
              <a:rPr lang="id" sz="1200">
                <a:latin typeface="Inter"/>
                <a:ea typeface="Inter"/>
                <a:cs typeface="Inter"/>
                <a:sym typeface="Inter"/>
              </a:rPr>
              <a:t>Batasan sistem meliputi waktu respons maksimal 1 detik, biaya perakitan yang ekonomis, serta penggunaan material instalasi yang tahan api, rata, dan tidak licin.</a:t>
            </a:r>
            <a:endParaRPr sz="1200">
              <a:latin typeface="Inter"/>
              <a:ea typeface="Inter"/>
              <a:cs typeface="Inter"/>
              <a:sym typeface="Inter"/>
            </a:endParaRPr>
          </a:p>
        </p:txBody>
      </p:sp>
      <p:sp>
        <p:nvSpPr>
          <p:cNvPr id="593" name="Google Shape;593;p27"/>
          <p:cNvSpPr/>
          <p:nvPr/>
        </p:nvSpPr>
        <p:spPr>
          <a:xfrm>
            <a:off x="4720725" y="3064764"/>
            <a:ext cx="4188000" cy="370800"/>
          </a:xfrm>
          <a:prstGeom prst="roundRect">
            <a:avLst>
              <a:gd fmla="val 41291" name="adj"/>
            </a:avLst>
          </a:prstGeom>
          <a:solidFill>
            <a:srgbClr val="04153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rgbClr val="AAC3FB"/>
                </a:solidFill>
                <a:latin typeface="Inter"/>
                <a:ea typeface="Inter"/>
                <a:cs typeface="Inter"/>
                <a:sym typeface="Inter"/>
              </a:rPr>
              <a:t>Pertimbangan Kendala di Lapangan</a:t>
            </a:r>
            <a:endParaRPr sz="1200">
              <a:solidFill>
                <a:srgbClr val="AAC3FB"/>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28"/>
          <p:cNvSpPr txBox="1"/>
          <p:nvPr/>
        </p:nvSpPr>
        <p:spPr>
          <a:xfrm>
            <a:off x="409025" y="2245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BAB 3</a:t>
            </a:r>
            <a:endParaRPr b="1" i="1" sz="1500">
              <a:solidFill>
                <a:srgbClr val="20124D"/>
              </a:solidFill>
              <a:latin typeface="Inter"/>
              <a:ea typeface="Inter"/>
              <a:cs typeface="Inter"/>
              <a:sym typeface="Inter"/>
            </a:endParaRPr>
          </a:p>
        </p:txBody>
      </p:sp>
      <p:sp>
        <p:nvSpPr>
          <p:cNvPr id="599" name="Google Shape;599;p28"/>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0" name="Google Shape;600;p28"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601" name="Google Shape;601;p28"/>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602" name="Google Shape;602;p28"/>
          <p:cNvSpPr txBox="1"/>
          <p:nvPr/>
        </p:nvSpPr>
        <p:spPr>
          <a:xfrm>
            <a:off x="409013" y="278550"/>
            <a:ext cx="650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sz="1200">
                <a:solidFill>
                  <a:srgbClr val="3A6D8C"/>
                </a:solidFill>
                <a:latin typeface="Inter"/>
                <a:ea typeface="Inter"/>
                <a:cs typeface="Inter"/>
                <a:sym typeface="Inter"/>
              </a:rPr>
              <a:t>Studi kelayakan</a:t>
            </a:r>
            <a:r>
              <a:rPr lang="id" sz="1200">
                <a:solidFill>
                  <a:srgbClr val="3A6D8C"/>
                </a:solidFill>
                <a:latin typeface="Inter"/>
                <a:ea typeface="Inter"/>
                <a:cs typeface="Inter"/>
                <a:sym typeface="Inter"/>
              </a:rPr>
              <a:t> </a:t>
            </a:r>
            <a:endParaRPr sz="1200">
              <a:solidFill>
                <a:srgbClr val="3A6D8C"/>
              </a:solidFill>
              <a:latin typeface="Inter"/>
              <a:ea typeface="Inter"/>
              <a:cs typeface="Inter"/>
              <a:sym typeface="Inter"/>
            </a:endParaRPr>
          </a:p>
        </p:txBody>
      </p:sp>
      <p:sp>
        <p:nvSpPr>
          <p:cNvPr id="603" name="Google Shape;603;p28"/>
          <p:cNvSpPr/>
          <p:nvPr/>
        </p:nvSpPr>
        <p:spPr>
          <a:xfrm>
            <a:off x="234600" y="853616"/>
            <a:ext cx="8674800" cy="881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28"/>
          <p:cNvSpPr/>
          <p:nvPr/>
        </p:nvSpPr>
        <p:spPr>
          <a:xfrm>
            <a:off x="234600" y="1920628"/>
            <a:ext cx="8674800" cy="881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28"/>
          <p:cNvSpPr/>
          <p:nvPr/>
        </p:nvSpPr>
        <p:spPr>
          <a:xfrm>
            <a:off x="234600" y="2987666"/>
            <a:ext cx="8674800" cy="881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28"/>
          <p:cNvSpPr/>
          <p:nvPr/>
        </p:nvSpPr>
        <p:spPr>
          <a:xfrm>
            <a:off x="234600" y="4054691"/>
            <a:ext cx="8674800" cy="881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28"/>
          <p:cNvSpPr/>
          <p:nvPr/>
        </p:nvSpPr>
        <p:spPr>
          <a:xfrm>
            <a:off x="234600" y="858132"/>
            <a:ext cx="1683300" cy="881100"/>
          </a:xfrm>
          <a:prstGeom prst="roundRect">
            <a:avLst>
              <a:gd fmla="val 16667"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Potensi Pengguna &amp; Inklusivitas</a:t>
            </a:r>
            <a:endParaRPr sz="1200">
              <a:solidFill>
                <a:schemeClr val="lt1"/>
              </a:solidFill>
              <a:latin typeface="Inter"/>
              <a:ea typeface="Inter"/>
              <a:cs typeface="Inter"/>
              <a:sym typeface="Inter"/>
            </a:endParaRPr>
          </a:p>
        </p:txBody>
      </p:sp>
      <p:sp>
        <p:nvSpPr>
          <p:cNvPr id="608" name="Google Shape;608;p28"/>
          <p:cNvSpPr/>
          <p:nvPr/>
        </p:nvSpPr>
        <p:spPr>
          <a:xfrm>
            <a:off x="234600" y="1920650"/>
            <a:ext cx="1683300" cy="881100"/>
          </a:xfrm>
          <a:prstGeom prst="roundRect">
            <a:avLst>
              <a:gd fmla="val 16667"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Manfaat Fungsional</a:t>
            </a:r>
            <a:endParaRPr sz="1200">
              <a:solidFill>
                <a:schemeClr val="lt1"/>
              </a:solidFill>
              <a:latin typeface="Inter"/>
              <a:ea typeface="Inter"/>
              <a:cs typeface="Inter"/>
              <a:sym typeface="Inter"/>
            </a:endParaRPr>
          </a:p>
        </p:txBody>
      </p:sp>
      <p:sp>
        <p:nvSpPr>
          <p:cNvPr id="609" name="Google Shape;609;p28"/>
          <p:cNvSpPr/>
          <p:nvPr/>
        </p:nvSpPr>
        <p:spPr>
          <a:xfrm>
            <a:off x="234600" y="2987663"/>
            <a:ext cx="1683300" cy="881100"/>
          </a:xfrm>
          <a:prstGeom prst="roundRect">
            <a:avLst>
              <a:gd fmla="val 16667"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Potensi Pasar &amp; Ekonomi</a:t>
            </a:r>
            <a:endParaRPr sz="1200">
              <a:solidFill>
                <a:schemeClr val="lt1"/>
              </a:solidFill>
              <a:latin typeface="Inter"/>
              <a:ea typeface="Inter"/>
              <a:cs typeface="Inter"/>
              <a:sym typeface="Inter"/>
            </a:endParaRPr>
          </a:p>
        </p:txBody>
      </p:sp>
      <p:sp>
        <p:nvSpPr>
          <p:cNvPr id="610" name="Google Shape;610;p28"/>
          <p:cNvSpPr/>
          <p:nvPr/>
        </p:nvSpPr>
        <p:spPr>
          <a:xfrm>
            <a:off x="234600" y="4054700"/>
            <a:ext cx="1683300" cy="881100"/>
          </a:xfrm>
          <a:prstGeom prst="roundRect">
            <a:avLst>
              <a:gd fmla="val 16667" name="adj"/>
            </a:avLst>
          </a:prstGeom>
          <a:gradFill>
            <a:gsLst>
              <a:gs pos="0">
                <a:srgbClr val="04153C"/>
              </a:gs>
              <a:gs pos="56000">
                <a:srgbClr val="4B6EBE"/>
              </a:gs>
              <a:gs pos="100000">
                <a:srgbClr val="B3E4B3"/>
              </a:gs>
            </a:gsLst>
            <a:lin ang="2700006" scaled="0"/>
          </a:gra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id" sz="1200">
                <a:solidFill>
                  <a:schemeClr val="lt1"/>
                </a:solidFill>
                <a:latin typeface="Inter"/>
                <a:ea typeface="Inter"/>
                <a:cs typeface="Inter"/>
                <a:sym typeface="Inter"/>
              </a:rPr>
              <a:t>Skalabilitas &amp; Produksi Massal</a:t>
            </a:r>
            <a:endParaRPr sz="1200">
              <a:solidFill>
                <a:schemeClr val="lt1"/>
              </a:solidFill>
              <a:latin typeface="Inter"/>
              <a:ea typeface="Inter"/>
              <a:cs typeface="Inter"/>
              <a:sym typeface="Inter"/>
            </a:endParaRPr>
          </a:p>
        </p:txBody>
      </p:sp>
      <p:sp>
        <p:nvSpPr>
          <p:cNvPr id="611" name="Google Shape;611;p28"/>
          <p:cNvSpPr txBox="1"/>
          <p:nvPr/>
        </p:nvSpPr>
        <p:spPr>
          <a:xfrm>
            <a:off x="2006025" y="865900"/>
            <a:ext cx="6801600" cy="8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12" name="Google Shape;612;p28"/>
          <p:cNvSpPr txBox="1"/>
          <p:nvPr/>
        </p:nvSpPr>
        <p:spPr>
          <a:xfrm>
            <a:off x="2006025" y="2987663"/>
            <a:ext cx="6801600" cy="881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id" sz="1200">
                <a:solidFill>
                  <a:schemeClr val="dk1"/>
                </a:solidFill>
                <a:latin typeface="Inter"/>
                <a:ea typeface="Inter"/>
                <a:cs typeface="Inter"/>
                <a:sym typeface="Inter"/>
              </a:rPr>
              <a:t>Arsitektur sistem mandiri memotong biaya operasional dan instalasi sehingga jauh lebih ekonomis dibandingkan solusi komersial.</a:t>
            </a:r>
            <a:endParaRPr sz="1200">
              <a:solidFill>
                <a:schemeClr val="dk2"/>
              </a:solidFill>
              <a:latin typeface="Inter"/>
              <a:ea typeface="Inter"/>
              <a:cs typeface="Inter"/>
              <a:sym typeface="Inter"/>
            </a:endParaRPr>
          </a:p>
        </p:txBody>
      </p:sp>
      <p:sp>
        <p:nvSpPr>
          <p:cNvPr id="613" name="Google Shape;613;p28"/>
          <p:cNvSpPr txBox="1"/>
          <p:nvPr/>
        </p:nvSpPr>
        <p:spPr>
          <a:xfrm>
            <a:off x="2006025" y="843725"/>
            <a:ext cx="6801600" cy="881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id" sz="1200">
                <a:solidFill>
                  <a:schemeClr val="dk1"/>
                </a:solidFill>
                <a:latin typeface="Inter"/>
                <a:ea typeface="Inter"/>
                <a:cs typeface="Inter"/>
                <a:sym typeface="Inter"/>
              </a:rPr>
              <a:t>Ditargetkan untuk fasilitas publik dan pendidikan, perpaduan panduan navigasi visual dan audio menjadikan sistem ini inklusif bagi semua kalangan, termasuk penyandang disabilitas.</a:t>
            </a:r>
            <a:endParaRPr sz="1200">
              <a:solidFill>
                <a:schemeClr val="dk2"/>
              </a:solidFill>
              <a:latin typeface="Inter"/>
              <a:ea typeface="Inter"/>
              <a:cs typeface="Inter"/>
              <a:sym typeface="Inter"/>
            </a:endParaRPr>
          </a:p>
        </p:txBody>
      </p:sp>
      <p:sp>
        <p:nvSpPr>
          <p:cNvPr id="614" name="Google Shape;614;p28"/>
          <p:cNvSpPr txBox="1"/>
          <p:nvPr/>
        </p:nvSpPr>
        <p:spPr>
          <a:xfrm>
            <a:off x="2006025" y="1926775"/>
            <a:ext cx="6801600" cy="881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id" sz="1200">
                <a:solidFill>
                  <a:schemeClr val="dk1"/>
                </a:solidFill>
                <a:latin typeface="Inter"/>
                <a:ea typeface="Inter"/>
                <a:cs typeface="Inter"/>
                <a:sym typeface="Inter"/>
              </a:rPr>
              <a:t>Mempercepat evakuasi dan mencegah kepanikan dengan memberikan rute alternatif yang aman dari bahaya.</a:t>
            </a:r>
            <a:endParaRPr sz="1200">
              <a:solidFill>
                <a:schemeClr val="dk2"/>
              </a:solidFill>
              <a:latin typeface="Inter"/>
              <a:ea typeface="Inter"/>
              <a:cs typeface="Inter"/>
              <a:sym typeface="Inter"/>
            </a:endParaRPr>
          </a:p>
        </p:txBody>
      </p:sp>
      <p:sp>
        <p:nvSpPr>
          <p:cNvPr id="615" name="Google Shape;615;p28"/>
          <p:cNvSpPr txBox="1"/>
          <p:nvPr/>
        </p:nvSpPr>
        <p:spPr>
          <a:xfrm>
            <a:off x="2006025" y="4048563"/>
            <a:ext cx="6801600" cy="8811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id" sz="1200">
                <a:solidFill>
                  <a:schemeClr val="dk1"/>
                </a:solidFill>
                <a:latin typeface="Inter"/>
                <a:ea typeface="Inter"/>
                <a:cs typeface="Inter"/>
                <a:sym typeface="Inter"/>
              </a:rPr>
              <a:t>Sistem layak diproduksi massal karena desainnya yang modular dan komponennya mudah didapatkan di pasaran.</a:t>
            </a:r>
            <a:endParaRPr sz="1200">
              <a:solidFill>
                <a:schemeClr val="dk2"/>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29"/>
          <p:cNvSpPr txBox="1"/>
          <p:nvPr/>
        </p:nvSpPr>
        <p:spPr>
          <a:xfrm>
            <a:off x="409025" y="76700"/>
            <a:ext cx="1637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id" sz="1500">
                <a:solidFill>
                  <a:srgbClr val="20124D"/>
                </a:solidFill>
                <a:latin typeface="Inter"/>
                <a:ea typeface="Inter"/>
                <a:cs typeface="Inter"/>
                <a:sym typeface="Inter"/>
              </a:rPr>
              <a:t>Referensi</a:t>
            </a:r>
            <a:endParaRPr b="1" i="1" sz="1500">
              <a:solidFill>
                <a:srgbClr val="20124D"/>
              </a:solidFill>
              <a:latin typeface="Inter"/>
              <a:ea typeface="Inter"/>
              <a:cs typeface="Inter"/>
              <a:sym typeface="Inter"/>
            </a:endParaRPr>
          </a:p>
        </p:txBody>
      </p:sp>
      <p:sp>
        <p:nvSpPr>
          <p:cNvPr id="621" name="Google Shape;621;p29"/>
          <p:cNvSpPr/>
          <p:nvPr/>
        </p:nvSpPr>
        <p:spPr>
          <a:xfrm>
            <a:off x="7293375" y="-79050"/>
            <a:ext cx="1514100" cy="726900"/>
          </a:xfrm>
          <a:prstGeom prst="roundRect">
            <a:avLst>
              <a:gd fmla="val 16667" name="adj"/>
            </a:avLst>
          </a:prstGeom>
          <a:solidFill>
            <a:srgbClr val="FFFFFF"/>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2" name="Google Shape;622;p29" title="logo elektro.png"/>
          <p:cNvPicPr preferRelativeResize="0"/>
          <p:nvPr/>
        </p:nvPicPr>
        <p:blipFill>
          <a:blip r:embed="rId3">
            <a:alphaModFix/>
          </a:blip>
          <a:stretch>
            <a:fillRect/>
          </a:stretch>
        </p:blipFill>
        <p:spPr>
          <a:xfrm>
            <a:off x="7293379" y="9898"/>
            <a:ext cx="1514048" cy="638064"/>
          </a:xfrm>
          <a:prstGeom prst="rect">
            <a:avLst/>
          </a:prstGeom>
          <a:noFill/>
          <a:ln>
            <a:noFill/>
          </a:ln>
        </p:spPr>
      </p:pic>
      <p:sp>
        <p:nvSpPr>
          <p:cNvPr id="623" name="Google Shape;623;p29"/>
          <p:cNvSpPr/>
          <p:nvPr/>
        </p:nvSpPr>
        <p:spPr>
          <a:xfrm>
            <a:off x="189425" y="-34600"/>
            <a:ext cx="219600" cy="638100"/>
          </a:xfrm>
          <a:prstGeom prst="rect">
            <a:avLst/>
          </a:prstGeom>
          <a:gradFill>
            <a:gsLst>
              <a:gs pos="0">
                <a:srgbClr val="04153C"/>
              </a:gs>
              <a:gs pos="50000">
                <a:srgbClr val="3A6D8C"/>
              </a:gs>
              <a:gs pos="100000">
                <a:srgbClr val="AAC3FB"/>
              </a:gs>
            </a:gsLst>
            <a:lin ang="5400012" scaled="0"/>
          </a:gradFill>
          <a:ln>
            <a:noFill/>
          </a:ln>
          <a:effectLst>
            <a:outerShdw blurRad="57150" rotWithShape="0" algn="bl" dir="5400000" dist="19050">
              <a:srgbClr val="000000">
                <a:alpha val="50000"/>
              </a:srgbClr>
            </a:outerShdw>
          </a:effectLst>
        </p:spPr>
        <p:txBody>
          <a:bodyPr anchorCtr="0" anchor="ctr" bIns="164150" lIns="164150" spcFirstLastPara="1" rIns="164150" wrap="square" tIns="164150">
            <a:noAutofit/>
          </a:bodyPr>
          <a:lstStyle/>
          <a:p>
            <a:pPr indent="0" lvl="0" marL="0" rtl="0" algn="ctr">
              <a:spcBef>
                <a:spcPts val="0"/>
              </a:spcBef>
              <a:spcAft>
                <a:spcPts val="0"/>
              </a:spcAft>
              <a:buNone/>
            </a:pPr>
            <a:r>
              <a:t/>
            </a:r>
            <a:endParaRPr sz="2500">
              <a:solidFill>
                <a:srgbClr val="8A71B1"/>
              </a:solidFill>
              <a:latin typeface="Helvetica Neue"/>
              <a:ea typeface="Helvetica Neue"/>
              <a:cs typeface="Helvetica Neue"/>
              <a:sym typeface="Helvetica Neue"/>
            </a:endParaRPr>
          </a:p>
        </p:txBody>
      </p:sp>
      <p:sp>
        <p:nvSpPr>
          <p:cNvPr id="624" name="Google Shape;624;p29"/>
          <p:cNvSpPr txBox="1"/>
          <p:nvPr/>
        </p:nvSpPr>
        <p:spPr>
          <a:xfrm>
            <a:off x="189425" y="918600"/>
            <a:ext cx="8618100" cy="33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id" sz="1100">
                <a:solidFill>
                  <a:schemeClr val="dk1"/>
                </a:solidFill>
                <a:latin typeface="Inter"/>
                <a:ea typeface="Inter"/>
                <a:cs typeface="Inter"/>
                <a:sym typeface="Inter"/>
              </a:rPr>
              <a:t>[1] J. Wang, C. Li, and J. Li, "Dijkstra Algorithm Based Building Evacuation Recognition Computing and IoT System Design and Implementation," in </a:t>
            </a:r>
            <a:r>
              <a:rPr i="1" lang="id" sz="1100">
                <a:solidFill>
                  <a:schemeClr val="dk1"/>
                </a:solidFill>
                <a:latin typeface="Inter"/>
                <a:ea typeface="Inter"/>
                <a:cs typeface="Inter"/>
                <a:sym typeface="Inter"/>
              </a:rPr>
              <a:t>2019 IEEE 13th International Conference on Anti-counterfeiting, Security, and Identification (ASID)</a:t>
            </a:r>
            <a:r>
              <a:rPr lang="id" sz="1100">
                <a:solidFill>
                  <a:schemeClr val="dk1"/>
                </a:solidFill>
                <a:latin typeface="Inter"/>
                <a:ea typeface="Inter"/>
                <a:cs typeface="Inter"/>
                <a:sym typeface="Inter"/>
              </a:rPr>
              <a:t>, Xiamen, China, 2019, pp. 229-233, doi: 10.1109/ICASID.2019.8925068.</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id" sz="1100">
                <a:solidFill>
                  <a:schemeClr val="dk1"/>
                </a:solidFill>
                <a:latin typeface="Inter"/>
                <a:ea typeface="Inter"/>
                <a:cs typeface="Inter"/>
                <a:sym typeface="Inter"/>
              </a:rPr>
              <a:t>[2] H. Jiang, "Mobile Fire Evacuation System for Large Public Buildings Based on Artificial Intelligence and IoT," </a:t>
            </a:r>
            <a:r>
              <a:rPr i="1" lang="id" sz="1100">
                <a:solidFill>
                  <a:schemeClr val="dk1"/>
                </a:solidFill>
                <a:latin typeface="Inter"/>
                <a:ea typeface="Inter"/>
                <a:cs typeface="Inter"/>
                <a:sym typeface="Inter"/>
              </a:rPr>
              <a:t>IEEE Access</a:t>
            </a:r>
            <a:r>
              <a:rPr lang="id" sz="1100">
                <a:solidFill>
                  <a:schemeClr val="dk1"/>
                </a:solidFill>
                <a:latin typeface="Inter"/>
                <a:ea typeface="Inter"/>
                <a:cs typeface="Inter"/>
                <a:sym typeface="Inter"/>
              </a:rPr>
              <a:t>, vol. 7, pp. 64101-64109, 2019, doi: 10.1109/ACCESS.2019.2915241.</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id" sz="1100">
                <a:solidFill>
                  <a:schemeClr val="dk1"/>
                </a:solidFill>
                <a:latin typeface="Inter"/>
                <a:ea typeface="Inter"/>
                <a:cs typeface="Inter"/>
                <a:sym typeface="Inter"/>
              </a:rPr>
              <a:t>[3] V. Tiwari, et al., "An Intelligent Indoor Emergency Evacuation System Using IoT-Enabled WSNs for Smart Buildings," </a:t>
            </a:r>
            <a:r>
              <a:rPr i="1" lang="id" sz="1100">
                <a:solidFill>
                  <a:schemeClr val="dk1"/>
                </a:solidFill>
                <a:latin typeface="Inter"/>
                <a:ea typeface="Inter"/>
                <a:cs typeface="Inter"/>
                <a:sym typeface="Inter"/>
              </a:rPr>
              <a:t>IEEE Internet of Things Journal</a:t>
            </a:r>
            <a:r>
              <a:rPr lang="id" sz="1100">
                <a:solidFill>
                  <a:schemeClr val="dk1"/>
                </a:solidFill>
                <a:latin typeface="Inter"/>
                <a:ea typeface="Inter"/>
                <a:cs typeface="Inter"/>
                <a:sym typeface="Inter"/>
              </a:rPr>
              <a:t>, vol. 11, no. 5, pp. 1-12, March 2024, doi: 10.1109/JIOT.2023.10269132.</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id" sz="1100">
                <a:solidFill>
                  <a:schemeClr val="dk1"/>
                </a:solidFill>
                <a:latin typeface="Inter"/>
                <a:ea typeface="Inter"/>
                <a:cs typeface="Inter"/>
                <a:sym typeface="Inter"/>
              </a:rPr>
              <a:t>[4] P. Wang, et al., "Dijkstra Algorithm Based Building Evacuation Edge Computing and IoT System Design and Implementation," in </a:t>
            </a:r>
            <a:r>
              <a:rPr i="1" lang="id" sz="1100">
                <a:solidFill>
                  <a:schemeClr val="dk1"/>
                </a:solidFill>
                <a:latin typeface="Inter"/>
                <a:ea typeface="Inter"/>
                <a:cs typeface="Inter"/>
                <a:sym typeface="Inter"/>
              </a:rPr>
              <a:t>2021 IEEE International Conference on Anti-counterfeiting, Security, and Identification (ASID)</a:t>
            </a:r>
            <a:r>
              <a:rPr lang="id" sz="1100">
                <a:solidFill>
                  <a:schemeClr val="dk1"/>
                </a:solidFill>
                <a:latin typeface="Inter"/>
                <a:ea typeface="Inter"/>
                <a:cs typeface="Inter"/>
                <a:sym typeface="Inter"/>
              </a:rPr>
              <a:t>, Xiamen, China, 2021, doi: 10.1109/ASID.2021.9687040.</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rPr lang="id" sz="1100">
                <a:solidFill>
                  <a:schemeClr val="dk1"/>
                </a:solidFill>
                <a:latin typeface="Inter"/>
                <a:ea typeface="Inter"/>
                <a:cs typeface="Inter"/>
                <a:sym typeface="Inter"/>
              </a:rPr>
              <a:t>[5] M. B. E. Firdaus, et al., "Design and Development of a Gas Leak and Fire Detection System Using the Internet of Things (IoT)," in </a:t>
            </a:r>
            <a:r>
              <a:rPr i="1" lang="id" sz="1100">
                <a:solidFill>
                  <a:schemeClr val="dk1"/>
                </a:solidFill>
                <a:latin typeface="Inter"/>
                <a:ea typeface="Inter"/>
                <a:cs typeface="Inter"/>
                <a:sym typeface="Inter"/>
              </a:rPr>
              <a:t>2025 IEEE International Conference on Smart Internet of Things (ICSINTESA)</a:t>
            </a:r>
            <a:r>
              <a:rPr lang="id" sz="1100">
                <a:solidFill>
                  <a:schemeClr val="dk1"/>
                </a:solidFill>
                <a:latin typeface="Inter"/>
                <a:ea typeface="Inter"/>
                <a:cs typeface="Inter"/>
                <a:sym typeface="Inter"/>
              </a:rPr>
              <a:t>, 2025, pp. 103-107, doi: 10.1109/icsintesa68165.2025.11413647.</a:t>
            </a:r>
            <a:endParaRPr sz="1100">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0"/>
          <p:cNvSpPr/>
          <p:nvPr/>
        </p:nvSpPr>
        <p:spPr>
          <a:xfrm>
            <a:off x="0" y="2074"/>
            <a:ext cx="9144000" cy="5141400"/>
          </a:xfrm>
          <a:prstGeom prst="rect">
            <a:avLst/>
          </a:prstGeom>
          <a:gradFill>
            <a:gsLst>
              <a:gs pos="0">
                <a:srgbClr val="04153C"/>
              </a:gs>
              <a:gs pos="50000">
                <a:srgbClr val="3A6D8C"/>
              </a:gs>
              <a:gs pos="100000">
                <a:srgbClr val="AAC3FB"/>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bikin gambar floor proximity emergency escape path marking di gedung perusahaan, gambarnya landscape" id="630" name="Google Shape;630;p30"/>
          <p:cNvPicPr preferRelativeResize="0"/>
          <p:nvPr/>
        </p:nvPicPr>
        <p:blipFill rotWithShape="1">
          <a:blip r:embed="rId3">
            <a:alphaModFix amt="26000"/>
          </a:blip>
          <a:srcRect b="12204" l="0" r="0" t="0"/>
          <a:stretch/>
        </p:blipFill>
        <p:spPr>
          <a:xfrm>
            <a:off x="0" y="0"/>
            <a:ext cx="9144000" cy="5141911"/>
          </a:xfrm>
          <a:prstGeom prst="rect">
            <a:avLst/>
          </a:prstGeom>
          <a:noFill/>
          <a:ln>
            <a:noFill/>
          </a:ln>
        </p:spPr>
      </p:pic>
      <p:sp>
        <p:nvSpPr>
          <p:cNvPr id="631" name="Google Shape;631;p30"/>
          <p:cNvSpPr txBox="1"/>
          <p:nvPr/>
        </p:nvSpPr>
        <p:spPr>
          <a:xfrm>
            <a:off x="138150" y="1263743"/>
            <a:ext cx="8867700" cy="26160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i="1" lang="id" sz="6100">
                <a:solidFill>
                  <a:srgbClr val="FFFFFF"/>
                </a:solidFill>
                <a:latin typeface="Inter Black"/>
                <a:ea typeface="Inter Black"/>
                <a:cs typeface="Inter Black"/>
                <a:sym typeface="Inter Black"/>
              </a:rPr>
              <a:t>Terima Kasih</a:t>
            </a:r>
            <a:endParaRPr i="1" sz="6100" u="sng">
              <a:solidFill>
                <a:srgbClr val="FFFFFF"/>
              </a:solidFill>
              <a:latin typeface="Inter Black"/>
              <a:ea typeface="Inter Black"/>
              <a:cs typeface="Inter Black"/>
              <a:sym typeface="Inter Black"/>
            </a:endParaRPr>
          </a:p>
        </p:txBody>
      </p:sp>
      <p:pic>
        <p:nvPicPr>
          <p:cNvPr id="632" name="Google Shape;632;p30"/>
          <p:cNvPicPr preferRelativeResize="0"/>
          <p:nvPr/>
        </p:nvPicPr>
        <p:blipFill>
          <a:blip r:embed="rId4">
            <a:alphaModFix/>
          </a:blip>
          <a:stretch>
            <a:fillRect/>
          </a:stretch>
        </p:blipFill>
        <p:spPr>
          <a:xfrm>
            <a:off x="-1396350" y="2289475"/>
            <a:ext cx="1317900" cy="2854025"/>
          </a:xfrm>
          <a:prstGeom prst="rect">
            <a:avLst/>
          </a:prstGeom>
          <a:noFill/>
          <a:ln>
            <a:noFill/>
          </a:ln>
        </p:spPr>
      </p:pic>
      <p:sp>
        <p:nvSpPr>
          <p:cNvPr id="633" name="Google Shape;633;p30"/>
          <p:cNvSpPr/>
          <p:nvPr/>
        </p:nvSpPr>
        <p:spPr>
          <a:xfrm>
            <a:off x="-1375503" y="467386"/>
            <a:ext cx="1297200" cy="354000"/>
          </a:xfrm>
          <a:prstGeom prst="rect">
            <a:avLst/>
          </a:prstGeom>
          <a:solidFill>
            <a:srgbClr val="1F356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30"/>
          <p:cNvSpPr/>
          <p:nvPr/>
        </p:nvSpPr>
        <p:spPr>
          <a:xfrm>
            <a:off x="-1375503" y="934763"/>
            <a:ext cx="1297200" cy="354000"/>
          </a:xfrm>
          <a:prstGeom prst="rect">
            <a:avLst/>
          </a:prstGeom>
          <a:solidFill>
            <a:srgbClr val="4B6E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30"/>
          <p:cNvSpPr/>
          <p:nvPr/>
        </p:nvSpPr>
        <p:spPr>
          <a:xfrm>
            <a:off x="-1396350" y="1869518"/>
            <a:ext cx="1297200" cy="354000"/>
          </a:xfrm>
          <a:prstGeom prst="rect">
            <a:avLst/>
          </a:prstGeom>
          <a:solidFill>
            <a:srgbClr val="AAC3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30"/>
          <p:cNvSpPr/>
          <p:nvPr/>
        </p:nvSpPr>
        <p:spPr>
          <a:xfrm>
            <a:off x="-1396350" y="1402137"/>
            <a:ext cx="1297200" cy="354000"/>
          </a:xfrm>
          <a:prstGeom prst="rect">
            <a:avLst/>
          </a:prstGeom>
          <a:solidFill>
            <a:srgbClr val="63BEC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30"/>
          <p:cNvSpPr/>
          <p:nvPr/>
        </p:nvSpPr>
        <p:spPr>
          <a:xfrm>
            <a:off x="-1375500" y="0"/>
            <a:ext cx="1279800" cy="354000"/>
          </a:xfrm>
          <a:prstGeom prst="rect">
            <a:avLst/>
          </a:prstGeom>
          <a:solidFill>
            <a:srgbClr val="04153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